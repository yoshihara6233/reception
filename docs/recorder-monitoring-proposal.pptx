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スケール別 月額コスト（円）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Vercel</c:v>
                </c:pt>
              </c:strCache>
            </c:strRef>
          </c:tx>
          <c:spPr>
            <a:solidFill>
              <a:srgbClr val="0F0F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100店舗</c:v>
                  </c:pt>
                  <c:pt idx="1">
                    <c:v>1,000店舗</c:v>
                  </c:pt>
                  <c:pt idx="2">
                    <c:v>10,000店舗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9300</c:v>
                </c:pt>
                <c:pt idx="1">
                  <c:v>46500</c:v>
                </c:pt>
                <c:pt idx="2">
                  <c:v>150000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Supabase</c:v>
                </c:pt>
              </c:strCache>
            </c:strRef>
          </c:tx>
          <c:spPr>
            <a:solidFill>
              <a:srgbClr val="2C4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100店舗</c:v>
                  </c:pt>
                  <c:pt idx="1">
                    <c:v>1,000店舗</c:v>
                  </c:pt>
                  <c:pt idx="2">
                    <c:v>10,000店舗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3875</c:v>
                </c:pt>
                <c:pt idx="1">
                  <c:v>92800</c:v>
                </c:pt>
                <c:pt idx="2">
                  <c:v>220000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LiveKit Cloud</c:v>
                </c:pt>
              </c:strCache>
            </c:strRef>
          </c:tx>
          <c:spPr>
            <a:solidFill>
              <a:srgbClr val="6A90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100店舗</c:v>
                  </c:pt>
                  <c:pt idx="1">
                    <c:v>1,000店舗</c:v>
                  </c:pt>
                  <c:pt idx="2">
                    <c:v>10,000店舗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15500</c:v>
                </c:pt>
                <c:pt idx="1">
                  <c:v>46500</c:v>
                </c:pt>
                <c:pt idx="2">
                  <c:v>107000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9B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100店舗</c:v>
                  </c:pt>
                  <c:pt idx="1">
                    <c:v>1,000店舗</c:v>
                  </c:pt>
                  <c:pt idx="2">
                    <c:v>10,000店舗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4500</c:v>
                </c:pt>
                <c:pt idx="1">
                  <c:v>23100</c:v>
                </c:pt>
                <c:pt idx="2">
                  <c:v>101500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投資家・社内向けピッチ · 2026/05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i-PRO / UNIVIEW RECORDER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spc="-100" kern="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レコーダ統合</a:t>
            </a:r>
            <a:endParaRPr lang="en-US" sz="5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800" b="1" spc="-100" kern="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監視システム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本部一元監視プラットフォーム　社内新事業企画案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40480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 10,000 店舗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840480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1日2時間以内監視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840480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オンデマンド方式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840480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 PWA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　次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61872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1426464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353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事業背景・課題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728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多拠点監視の非効率と改善機会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2267712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ソリューション概要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オンデマンド方式・3つの設計原則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443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3108960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主要機能・システム構成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52728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11機能要件 / クラウドアーキテクチャ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85616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856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3950208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2728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スマートフォン対応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52728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PWA化・レスポンシブUI設計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261872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2618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0" y="1426464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353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セキュリティ設計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Vault暗号化・MFA・RLS・監査ログ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103120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1031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0" y="2267712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コスト・TCO試算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96128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スケール別月額・5年総所有コスト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944368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9443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0" y="3108960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開発計画・体制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96128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フェーズ・工数・マイルストーン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785616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7856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0" y="3950208"/>
            <a:ext cx="4572" cy="420624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開発スケジュール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96128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2026年7月〜2027年3月 ガントチャート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/ 事業背景・課題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40233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1115568"/>
          </a:xfrm>
          <a:prstGeom prst="rect">
            <a:avLst/>
          </a:prstGeom>
          <a:solidFill>
            <a:srgbClr val="A3332B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155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多拠点監視の非効率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42646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数千店舗のカメラを個別確認するには多大な人的コストが必要。本部から一元管理する仕組みがない。現地に行かなければ確認できないケースも多い。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67712"/>
            <a:ext cx="54864" cy="1115568"/>
          </a:xfrm>
          <a:prstGeom prst="rect">
            <a:avLst/>
          </a:prstGeom>
          <a:solidFill>
            <a:srgbClr val="A3332B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常時配信のコスト問題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68833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従来型の24時間ライブ配信では、誰も見ていない時間もクラウド帯域・SFUの課金が発生。10,000店舗規模では許容できないコスト水準になる。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29584"/>
            <a:ext cx="54864" cy="1115568"/>
          </a:xfrm>
          <a:prstGeom prst="rect">
            <a:avLst/>
          </a:prstGeom>
          <a:solidFill>
            <a:srgbClr val="A3332B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393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スマートフォン非対応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95020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外出中のエリアマネージャが担当店舗映像をモバイルで即確認できない。異常検知から対応開始までのリードタイムが長くなる。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14800" cy="3767328"/>
          </a:xfrm>
          <a:prstGeom prst="rect">
            <a:avLst/>
          </a:prstGeom>
          <a:solidFill>
            <a:srgbClr val="0E1013"/>
          </a:solidFill>
          <a:ln w="12700">
            <a:solidFill>
              <a:srgbClr val="0E10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解決のアプローチ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5087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オンデマンド方式により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クラウドコスト 95%以上削減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2402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最大10,000店舗を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本部から一元監視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9718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スマホPWA対応で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いつでも・どこでも確認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SRE 1名で 10,000店舗運用を実現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4453128"/>
            <a:ext cx="4114800" cy="27432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453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視聴中の店舗のみアクティブ → コスト最適化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/ ソリューション概要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10,000店舗規模を成立させる 3つの設計原則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25880"/>
            <a:ext cx="2788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25880"/>
            <a:ext cx="2788920" cy="36576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" y="1783080"/>
            <a:ext cx="2459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2395728"/>
            <a:ext cx="2459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16分割JPEG / 単一ライブ / VOD すべて視聴開始時にのみ生成。誰も見ていない店舗は完全待機（CPU・帯域・課金とも最小）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4224528"/>
            <a:ext cx="2459736" cy="25603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22452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コスト削減 95%以上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325880"/>
            <a:ext cx="2788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25880"/>
            <a:ext cx="2788920" cy="36576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2459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本部≪店舗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トラフィック非対称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395728"/>
            <a:ext cx="2459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大量の店舗データを集中処理せず、視聴中の店舗（常時数十程度）のみがアクティブに稼働する構成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4224528"/>
            <a:ext cx="2459736" cy="25603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422452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同時視聴 最大50ストリーム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1325880"/>
            <a:ext cx="2788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325880"/>
            <a:ext cx="2788920" cy="36576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73368" y="1783080"/>
            <a:ext cx="2459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マネージド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全振り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3368" y="2395728"/>
            <a:ext cx="2459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Vercel + Supabase + LiveKit Cloud でインフラ管理不要。SRE 1名での10,000店舗運用を目標とする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73368" y="4224528"/>
            <a:ext cx="2459736" cy="25603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22452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SRE 1名で10,000店舗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システム構成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6517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2651760" cy="32004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現地エッジサーバ（店舗）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📹  i-PRO / Uniview NVR（RTSP）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🎞️  ffmpeg xstack（16分割合成）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📡  エッジAgent Node.js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 状態機械: Idle / Grid / Live / VOD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⬆️  HTTPS 443のみ（ポート開放不要）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🔃  OTA 自動更新（カナリア配信）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🔋  systemd 自動復旧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9232" y="256032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HTTPS/WSS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35808" y="2807208"/>
            <a:ext cx="594360" cy="0"/>
          </a:xfrm>
          <a:prstGeom prst="line">
            <a:avLst/>
          </a:prstGeom>
          <a:noFill/>
          <a:ln w="12700">
            <a:solidFill>
              <a:srgbClr val="2C4A7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0" y="1005840"/>
            <a:ext cx="51663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1005840"/>
            <a:ext cx="5166360" cy="32004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005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クラウド（Vercel / Supabase / LiveKit / Cloudflare）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1426464"/>
            <a:ext cx="4892040" cy="53035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149961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Vercel Pro/Enterprise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170078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14 UI · API Routes · Edge Functions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2029968"/>
            <a:ext cx="4892040" cy="53035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21031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⚡ Supabase Team/Enterprise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230428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 · Auth · Storage · Realtime WSS（10,000接続）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2633472"/>
            <a:ext cx="4892040" cy="53035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7066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📹 LiveKit Cloud Scale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290779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WebRTC SFU · TURN · WHIP Ingress（マルチリージョン）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3236976"/>
            <a:ext cx="4892040" cy="53035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331012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🔶 Cloudflare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86200" y="351129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CDN · WAF · DDoS防御（地図タイルキャッシュも兼用）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760" y="3840480"/>
            <a:ext cx="4892040" cy="53035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9136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Better Stack / Sentry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86200" y="411480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ログ集約 · APM · アラート・エラー監視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7274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本部監視オペレータ / エリアマネージャ / 店舗管理者 / システム管理者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主要機能一覧（全11機能）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0058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" y="118872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8872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1556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地図検索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3898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OSM上10,000店舗クラスタ表示・検索・ステータス色分け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01168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32688" y="219456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219456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1214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16分割表示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9572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オンデマンドでエッジが16分割JPEG合成（1〜2秒更新）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01752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2688" y="320040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320040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127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単一カメラライブ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WebRTC(LiveKit)低遅延ライブ。目標遅延1〜3秒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402336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2688" y="420624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420624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1330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VOD再生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40740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録画への日時指定再生（早送り/巻き戻し/シーク）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64408" y="100584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74136" y="10058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77056" y="118872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77056" y="118872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5928" y="111556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マルチテナント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95928" y="13898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テナント/エリア/店舗単位のアクセス制御・RLS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64408" y="201168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74136" y="201168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77056" y="219456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77056" y="219456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95928" y="21214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エッジ管理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95928" y="239572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10,000台の死活監視・遠隔再起動・ファーム更新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64408" y="301752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74136" y="301752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77056" y="320040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77056" y="320040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95928" y="3127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レコーダ管理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95928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i-PRO/Uniview登録・CSV一括投入対応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64408" y="402336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374136" y="402336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77056" y="420624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77056" y="420624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95928" y="41330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995928" y="440740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 Auth・MFA(TOTP)・SSO対応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08776" y="100584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18504" y="10058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F-09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21424" y="118872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21424" y="118872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0296" y="111556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操作ログ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940296" y="13898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視聴・操作の全ログ（監査証跡1年保持）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08776" y="201168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318504" y="201168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21424" y="219456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21424" y="219456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0296" y="21214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セッション制御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940296" y="239572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アイドル自動切断・同時上限・日次2h制限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08776" y="3017520"/>
            <a:ext cx="28163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318504" y="301752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21424" y="3200400"/>
            <a:ext cx="4572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21424" y="3200400"/>
            <a:ext cx="4572" cy="53035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40296" y="3127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940296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店舗別・オペレータ別モニタリング実績月次レポート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On-Demand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オンデマンド方式の動作モデル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0299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2029968" cy="36576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（待機）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4630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コマンド待受のみ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RTSP・ffmpeg 停止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267712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26771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≒ 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2523744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2374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課金: ほぼゼロ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50008" y="19202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96312" y="1005840"/>
            <a:ext cx="20299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1005840"/>
            <a:ext cx="2029968" cy="36576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0058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Grid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（16分割）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14630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16ch RTSP→ffmpeg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→JPEG 毎秒PUT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2267712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26771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10〜25%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2523744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52374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課金: Storage I/O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19202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72584" y="1005840"/>
            <a:ext cx="20299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2584" y="1005840"/>
            <a:ext cx="2029968" cy="36576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10058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（ライブ）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14630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RTSP→go2rtc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→LiveKit Ingress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82312" y="2267712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226771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5〜10%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82312" y="2523744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252374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課金: LiveKit従量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02552" y="19202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48856" y="1005840"/>
            <a:ext cx="20299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005840"/>
            <a:ext cx="2029968" cy="36576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10058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VOD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（録画再生）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58584" y="14630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ReplayURL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→LiveKit Ingress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58584" y="2267712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226771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5〜10%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58584" y="2523744"/>
            <a:ext cx="1810512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252374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課金: LiveKit従量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767328"/>
            <a:ext cx="8503920" cy="987552"/>
          </a:xfrm>
          <a:prstGeom prst="rect">
            <a:avLst/>
          </a:prstGeom>
          <a:solidFill>
            <a:srgbClr val="0E1013"/>
          </a:solidFill>
          <a:ln w="12700">
            <a:solidFill>
              <a:srgbClr val="0E10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8587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コスト効果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4114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オンデマンド方式により </a:t>
            </a:r>
            <a:pPr indent="0" marL="0">
              <a:buNone/>
            </a:pPr>
            <a:r>
              <a:rPr lang="en-US" sz="13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クラウドコストを常時配信比 95%以上削減</a:t>
            </a:r>
            <a:pPr indent="0" marL="0">
              <a:buNone/>
            </a:pPr>
            <a:r>
              <a:rPr lang="en-US" sz="13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10,000店舗時の1店舗あたり月額 </a:t>
            </a:r>
            <a:pPr indent="0" marL="0">
              <a:buNone/>
            </a:pPr>
            <a:r>
              <a:rPr lang="en-US" sz="20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2920" y="45171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平均モニタリング 1日2時間 × 30オペレータ = 月間約1,320ストリーム時間のみ課金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ON-DEMAND MODEL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PWA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/ スマートフォン対応（PWA）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87552"/>
            <a:ext cx="4251960" cy="749808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332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採用方針: レスポンシブ PWA 方式（ネイティブアプリ不要）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既存Next.js WebアプリをPWA化。ストア審査なしに即日リリース・即日更新が可能。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251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2688" y="19019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App Manifest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167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ホーム画面追加・スプラッシュ・スタンドアロン表示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4251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6334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 Worker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898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オフライン対応・キャッシュ戦略（Cache First / Network First）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4251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337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33649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Push 通知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6301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エッジオフライン・復旧・エラーをリアルタイム通知（VAPID）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023360"/>
            <a:ext cx="4251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" y="40965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レスポンシブUI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361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3列 → スマホ 1列 + ボトムナビ（5タブ）自動切替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9875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 機能マトリクス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298448"/>
            <a:ext cx="4069080" cy="256032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98448"/>
            <a:ext cx="1399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1298448"/>
            <a:ext cx="4754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0840" y="1298448"/>
            <a:ext cx="4846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PWA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51192" y="1298448"/>
            <a:ext cx="157276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581912"/>
            <a:ext cx="4069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581912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地図検索(OSM)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1581912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1581912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51192" y="1581912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タッチ・ピンチ対応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1929384"/>
            <a:ext cx="4069080" cy="329184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929384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16分割表示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9632" y="1929384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4×4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1929384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2×2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51192" y="1929384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全画面スクロール対応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2276856"/>
            <a:ext cx="4069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276856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単一ライブ(WebRTC)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9632" y="2276856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2276856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51192" y="2276856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Chrome/Safari対応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624328"/>
            <a:ext cx="4069080" cy="329184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624328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VOD録画再生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99632" y="2624328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20840" y="2624328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51192" y="2624328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タイムラインUI最適化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0" y="2971800"/>
            <a:ext cx="4069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971800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プッシュ通知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99632" y="2971800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20840" y="2971800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51192" y="2971800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iOS 16.4+対応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54880" y="3319272"/>
            <a:ext cx="4069080" cy="329184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319272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ホーム画面追加(A2HS)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99632" y="3319272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20840" y="3319272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251192" y="3319272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manifest.json設定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54880" y="3666744"/>
            <a:ext cx="4069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666744"/>
            <a:ext cx="13990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オフライン動作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99632" y="3666744"/>
            <a:ext cx="4754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20840" y="3666744"/>
            <a:ext cx="4846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51192" y="3666744"/>
            <a:ext cx="15727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SW静的キャッシュ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セキュリティ設計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4572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7276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7276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664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認証情報暗号化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" y="204825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レコーダ認証情報はSupabase Vault暗号化保存。平文でAPIレスポンスに含めない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7004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" y="2761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MFA必須 + RLS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" y="314553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本部ユーザはMFA(TOTP)必須。Supabase RLSによる行レベルアクセス制御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6732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1832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エッジ認証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" y="424281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device_token(JWT)30日ローテーション。全通信TLS、映像SRTP(WebRTC標準)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57276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57276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22392" y="1664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セッション制御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28616" y="204825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アイドル5分自動切断、同時セッション上限、日次最大2時間制限（F-10）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67004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67004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22392" y="2761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28616" y="314553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live_sessionsテーブルに1年保持。CSVエクスポート・オペレータ別集計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767328"/>
            <a:ext cx="4160520" cy="987552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767328"/>
            <a:ext cx="54864" cy="987552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22392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NW要件最小化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28616" y="424281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店舗側ポート開放不要。アウトバウンドHTTPS 443のみで設計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/ ランニングコスト試算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20040" y="987552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806440" y="987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1店舗あたり月額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1280160"/>
            <a:ext cx="30175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¥33,175/月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¥332/店舗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06440" y="2377440"/>
            <a:ext cx="30175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1,000店舗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¥208,900/月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¥209/店舗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806440" y="3474720"/>
            <a:ext cx="3017520" cy="987552"/>
          </a:xfrm>
          <a:prstGeom prst="rect">
            <a:avLst/>
          </a:prstGeom>
          <a:solidFill>
            <a:srgbClr val="0F0F10"/>
          </a:solidFill>
          <a:ln w="9525">
            <a:solidFill>
              <a:srgbClr val="0F0F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566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¥578,500/月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¥58/店舗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806440" y="4572000"/>
            <a:ext cx="3017520" cy="25603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常時配信比 95%以上コスト削減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5-Year TCO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/ 5年トータルコスト（10,000店舗 TCO）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38862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1960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960120"/>
            <a:ext cx="16002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2〜5年目（年額）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960120"/>
            <a:ext cx="1280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5年合計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280160"/>
            <a:ext cx="3886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初期費用（機材＋設置＋自動化）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1280160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¥689,000,000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280160"/>
            <a:ext cx="1600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1280160"/>
            <a:ext cx="12801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¥689,000,000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773936"/>
            <a:ext cx="8503920" cy="475488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773936"/>
            <a:ext cx="3886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開発費（120人日 × ¥80,000）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773936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¥9,600,000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773936"/>
            <a:ext cx="1600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¥3,000,000/年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773936"/>
            <a:ext cx="12801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¥21,600,000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267712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67712"/>
            <a:ext cx="3886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クラウド月額（¥578,500 × 12）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2267712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¥6,942,000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¥6,942,000/年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267712"/>
            <a:ext cx="12801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¥34,710,000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761488"/>
            <a:ext cx="8503920" cy="475488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61488"/>
            <a:ext cx="3886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LTE月額（10%, ¥3.5M × 12）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51960" y="2761488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¥42,000,000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761488"/>
            <a:ext cx="1600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¥42,000,000/年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761488"/>
            <a:ext cx="12801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¥210,000,000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255264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55264"/>
            <a:ext cx="3886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エッジ機材更新引当（5年で20%）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3255264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255264"/>
            <a:ext cx="16002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¥21,600,000/年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3255264"/>
            <a:ext cx="12801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¥86,400,000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767328"/>
            <a:ext cx="8503920" cy="365760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67328"/>
            <a:ext cx="38862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5年TCO合計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51960" y="3767328"/>
            <a:ext cx="1645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¥747,542,000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767328"/>
            <a:ext cx="16002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3767328"/>
            <a:ext cx="12801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¥1,041,710,000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4251960"/>
            <a:ext cx="8503920" cy="56692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 5年TCO換算: </a:t>
            </a:r>
            <a:pPr indent="0" marL="0">
              <a:buNone/>
            </a:pPr>
            <a:r>
              <a:rPr lang="en-US" sz="16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¥104,171 / 店舗</a:t>
            </a:r>
            <a:pPr indent="0" marL="0">
              <a:buNone/>
            </a:pPr>
            <a:r>
              <a:rPr lang="en-US" sz="12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OEM化・量産割引により </a:t>
            </a:r>
            <a:pPr indent="0" marL="0">
              <a:buNone/>
            </a:pPr>
            <a:r>
              <a:rPr lang="en-US" sz="12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30〜40%圧縮余地あり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5-YEAR TCO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/ 開発計画・体制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開発フェーズ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1005840" cy="329184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Ph.0-1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53312" y="1307592"/>
            <a:ext cx="100584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1261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基盤・DB・RLS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2618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11人日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682496"/>
            <a:ext cx="1005840" cy="329184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824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Ph.2-3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53312" y="1728216"/>
            <a:ext cx="155448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16824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エッジAgent・Realtime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6824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17人日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103120"/>
            <a:ext cx="1005840" cy="32918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Ph.4-5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53312" y="2148840"/>
            <a:ext cx="155448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2103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本部UI・16分割表示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103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17人日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23744"/>
            <a:ext cx="1005840" cy="32918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23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53312" y="2569464"/>
            <a:ext cx="100584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9888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LiveKit連携（単一ライブ）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11人日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44368"/>
            <a:ext cx="100584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Ph.7-8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53312" y="2990088"/>
            <a:ext cx="155448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9888" y="2944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VOD再生（Uniview / i-PRO）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17人日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364992"/>
            <a:ext cx="1005840" cy="329184"/>
          </a:xfrm>
          <a:prstGeom prst="rect">
            <a:avLst/>
          </a:prstGeom>
          <a:solidFill>
            <a:srgbClr val="5B5B5F"/>
          </a:solidFill>
          <a:ln w="12700">
            <a:solidFill>
              <a:srgbClr val="5B5B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64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Ph.9-10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53312" y="3410712"/>
            <a:ext cx="118872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89888" y="3364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セッション制御・エッジ運用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3364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13人日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85616"/>
            <a:ext cx="1005840" cy="329184"/>
          </a:xfrm>
          <a:prstGeom prst="rect">
            <a:avLst/>
          </a:prstGeom>
          <a:solidFill>
            <a:srgbClr val="5B5B5F"/>
          </a:solidFill>
          <a:ln w="12700">
            <a:solidFill>
              <a:srgbClr val="5B5B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856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Ph.11-12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53312" y="3831336"/>
            <a:ext cx="1737360" cy="237744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89888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負荷試験・結合テスト・受入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37856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19人日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206240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06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Ph.M1-5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53312" y="4251960"/>
            <a:ext cx="2743200" cy="237744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89888" y="42062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スマホ対応（PWA）追加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4206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30人日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4700016"/>
            <a:ext cx="5029200" cy="18288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700016"/>
            <a:ext cx="5029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合計: 150人日（PC版120 + スマホ対応30）　約5か月・3名体制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7784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開発体制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577840" y="1261872"/>
            <a:ext cx="3246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77840" y="1261872"/>
            <a:ext cx="54864" cy="60350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05856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テックリード × 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046720" y="1353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全期間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77840" y="1956816"/>
            <a:ext cx="3246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77840" y="1956816"/>
            <a:ext cx="54864" cy="60350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05856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フロントエンドエンジニア × 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46720" y="2048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Ph.4〜9中心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2651760"/>
            <a:ext cx="3246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577840" y="2651760"/>
            <a:ext cx="54864" cy="60350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05856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バックエンド・エッジ × 1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046720" y="2743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Ph.0〜10中心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3346704"/>
            <a:ext cx="3246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577840" y="3346704"/>
            <a:ext cx="54864" cy="60350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05856" y="3438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SRE / インフラ × 0.5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046720" y="34381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Ph.0, 10〜12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77840" y="4041648"/>
            <a:ext cx="3246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577840" y="4041648"/>
            <a:ext cx="54864" cy="60350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05856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 × 0.3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046720" y="4133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全期間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/ 主要リスクと対策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87552"/>
            <a:ext cx="932688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リスクレベル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98448" y="987552"/>
            <a:ext cx="309067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34840" y="987552"/>
            <a:ext cx="4343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289304"/>
            <a:ext cx="8503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444752"/>
            <a:ext cx="749808" cy="237744"/>
          </a:xfrm>
          <a:prstGeom prst="rect">
            <a:avLst/>
          </a:prstGeom>
          <a:solidFill>
            <a:srgbClr val="A3332B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4447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1289304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10,000エッジ常時WSS接続のスケール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70832" y="1289304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Realtimeシャーディング / Cloudflare Durable Objectsへの置換も視野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892808"/>
            <a:ext cx="8503920" cy="566928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048256"/>
            <a:ext cx="749808" cy="237744"/>
          </a:xfrm>
          <a:prstGeom prst="rect">
            <a:avLst/>
          </a:prstGeom>
          <a:solidFill>
            <a:srgbClr val="A3332B"/>
          </a:solidFill>
          <a:ln w="12700">
            <a:solidFill>
              <a:srgbClr val="A33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048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1892808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i-PRO NVR RTSP/ONVIF仕様差異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70832" y="1892808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2で実機検証・ベンダ問合せ。カメラ直結+エッジ録画フォールバック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496312"/>
            <a:ext cx="8503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651760"/>
            <a:ext cx="749808" cy="237744"/>
          </a:xfrm>
          <a:prstGeom prst="rect">
            <a:avLst/>
          </a:prstGeom>
          <a:solidFill>
            <a:srgbClr val="B5761A"/>
          </a:solidFill>
          <a:ln w="12700">
            <a:solidFill>
              <a:srgbClr val="B576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6517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34440" y="2496312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16ch同時RTSPのCPU不足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0832" y="2496312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サブストリーム利用・JPEG解像度抑制・N100→N305へ機材アップグレード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099816"/>
            <a:ext cx="8503920" cy="566928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255264"/>
            <a:ext cx="749808" cy="237744"/>
          </a:xfrm>
          <a:prstGeom prst="rect">
            <a:avLst/>
          </a:prstGeom>
          <a:solidFill>
            <a:srgbClr val="B5761A"/>
          </a:solidFill>
          <a:ln w="12700">
            <a:solidFill>
              <a:srgbClr val="B576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552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34440" y="3099816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店舗NWアウトバウンド制限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70832" y="3099816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443のみで設計・プロキシ対応・LTEバックアップSIM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858768"/>
            <a:ext cx="749808" cy="237744"/>
          </a:xfrm>
          <a:prstGeom prst="rect">
            <a:avLst/>
          </a:prstGeom>
          <a:solidFill>
            <a:srgbClr val="B5761A"/>
          </a:solidFill>
          <a:ln w="12700">
            <a:solidFill>
              <a:srgbClr val="B576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8587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3444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セッション上限超えアクセス集中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70832" y="3703320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F-10セッション制御厳格化・テナント単位上限・自動切断ポリシ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06824"/>
            <a:ext cx="8503920" cy="566928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4462272"/>
            <a:ext cx="749808" cy="237744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4622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34440" y="4306824"/>
            <a:ext cx="31089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レコーダ認証情報漏洩リスク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70832" y="4306824"/>
            <a:ext cx="43434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Vault暗号化+RLS+監査ログ+最小権限+脆弱性診断年1回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/ 段階展開ロードマップ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87552"/>
            <a:ext cx="2029968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87552"/>
            <a:ext cx="2029968" cy="365760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8755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3店舗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0624" y="2176272"/>
            <a:ext cx="1828800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1ヶ月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実機疎通・UX検証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50008" y="233172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87168" y="987552"/>
            <a:ext cx="2029968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987552"/>
            <a:ext cx="2029968" cy="365760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98755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87752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587752" y="2176272"/>
            <a:ext cx="1828800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2ヶ月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87752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運用課題の洗い出し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17136" y="233172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54296" y="987552"/>
            <a:ext cx="2029968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987552"/>
            <a:ext cx="2029968" cy="36576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98755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1,000店舗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754880" y="2176272"/>
            <a:ext cx="1828800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4ヶ月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スケーリング検証・コスト実測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84264" y="233172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21424" y="987552"/>
            <a:ext cx="2029968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21424" y="987552"/>
            <a:ext cx="2029968" cy="36576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98755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22008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922008" y="2176272"/>
            <a:ext cx="1828800" cy="219456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12ヶ月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22008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本展開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開発完了 → 2026年Q4　▶ パイロット → 2027年Q1　▶ 100店舗 → 2027年Q2　▶ 1,000店舗 → 2027年Q4　▶ 10,000店舗 → 2028年Q4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Schedule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/ 開発スケジュール　2026年7月 〜 2027年3月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960120"/>
            <a:ext cx="4450080" cy="164592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960120"/>
            <a:ext cx="445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36080" y="960120"/>
            <a:ext cx="2225040" cy="164592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6080" y="960120"/>
            <a:ext cx="222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2768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768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6936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936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1104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104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272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272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94400" y="1124712"/>
            <a:ext cx="741680" cy="182880"/>
          </a:xfrm>
          <a:prstGeom prst="rect">
            <a:avLst/>
          </a:prstGeom>
          <a:solidFill>
            <a:srgbClr val="2A2A2C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440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36080" y="1124712"/>
            <a:ext cx="741680" cy="182880"/>
          </a:xfrm>
          <a:prstGeom prst="rect">
            <a:avLst/>
          </a:prstGeom>
          <a:solidFill>
            <a:srgbClr val="2C4A7E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608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77760" y="1124712"/>
            <a:ext cx="741680" cy="182880"/>
          </a:xfrm>
          <a:prstGeom prst="rect">
            <a:avLst/>
          </a:prstGeom>
          <a:solidFill>
            <a:srgbClr val="2C4A7E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776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19440" y="1124712"/>
            <a:ext cx="741680" cy="182880"/>
          </a:xfrm>
          <a:prstGeom prst="rect">
            <a:avLst/>
          </a:prstGeom>
          <a:solidFill>
            <a:srgbClr val="2C4A7E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9440" y="1124712"/>
            <a:ext cx="74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" y="1335024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1335024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Ph.0-1  基盤・DB・RLS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2768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6936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104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272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9440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3608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776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9440" y="133502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1380744"/>
            <a:ext cx="556260" cy="2423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1668780"/>
            <a:ext cx="214884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1668780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Ph.2-3  エッジAgent・Realtime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2768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6936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1104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272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9440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608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7776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19440" y="1668780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6840" y="1714500"/>
            <a:ext cx="927100" cy="242316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" y="2002536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2002536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Ph.4-5  本部UI・16分割表示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2768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6936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1104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5272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9440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3608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7776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19440" y="2002536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98520" y="2048256"/>
            <a:ext cx="927100" cy="24231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36292"/>
            <a:ext cx="214884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" y="2336292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Ph.6    LiveKit 単一ライブ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2768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6936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1104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25272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9440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3608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7776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19440" y="2336292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40200" y="2382012"/>
            <a:ext cx="741680" cy="24231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440" y="2670048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7160" y="2670048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Ph.7-8  VOD再生（両VMS対応）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2768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6936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1104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5272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9440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3608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7776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19440" y="2670048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96460" y="2715768"/>
            <a:ext cx="927100" cy="2423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440" y="3003804"/>
            <a:ext cx="214884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7160" y="3003804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Ph.9-10 セッション制御・OTA運用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28600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2768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6936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51104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5272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99440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3608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7776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19440" y="3003804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438140" y="3049524"/>
            <a:ext cx="741680" cy="242316"/>
          </a:xfrm>
          <a:prstGeom prst="rect">
            <a:avLst/>
          </a:prstGeom>
          <a:solidFill>
            <a:srgbClr val="5B5B5F"/>
          </a:solidFill>
          <a:ln w="12700">
            <a:solidFill>
              <a:srgbClr val="5B5B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" y="3337560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7160" y="3337560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Ph.11   負荷試験（10,000エッジ）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28600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2768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76936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51104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5272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9440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3608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7776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19440" y="3337560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994400" y="3383280"/>
            <a:ext cx="556260" cy="242316"/>
          </a:xfrm>
          <a:prstGeom prst="rect">
            <a:avLst/>
          </a:prstGeom>
          <a:solidFill>
            <a:srgbClr val="5B5B5F"/>
          </a:solidFill>
          <a:ln w="12700">
            <a:solidFill>
              <a:srgbClr val="5B5B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3671316"/>
            <a:ext cx="214884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37160" y="3671316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Ph.12   結合テスト・受入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228600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02768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76936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1104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5272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99440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3608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7776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219440" y="3671316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65240" y="3717036"/>
            <a:ext cx="556260" cy="2423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1440" y="4005072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37160" y="4005072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M1-5    スマホ対応 PWA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228600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02768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76936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1104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25272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9440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3608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47776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219440" y="4005072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50660" y="4050792"/>
            <a:ext cx="1112520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440" y="4338828"/>
            <a:ext cx="214884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37160" y="4338828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Phase A  パイロット（3店舗）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28600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02768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76936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1104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5272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99440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73608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7776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19440" y="4338828"/>
            <a:ext cx="741680" cy="33375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06920" y="4384548"/>
            <a:ext cx="741680" cy="242316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440" y="4672584"/>
            <a:ext cx="214884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37160" y="4672584"/>
            <a:ext cx="2103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Phase B  100店舗展開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228600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2768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6936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1104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5272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99440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73608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47776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219440" y="4672584"/>
            <a:ext cx="74168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48600" y="4718304"/>
            <a:ext cx="964184" cy="242316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736080" y="1335024"/>
            <a:ext cx="0" cy="3671316"/>
          </a:xfrm>
          <a:prstGeom prst="line">
            <a:avLst/>
          </a:prstGeom>
          <a:noFill/>
          <a:ln w="12700">
            <a:solidFill>
              <a:srgbClr val="A3332B"/>
            </a:solidFill>
            <a:prstDash val="dash"/>
          </a:ln>
        </p:spPr>
      </p:sp>
      <p:sp>
        <p:nvSpPr>
          <p:cNvPr id="163" name="Text 161"/>
          <p:cNvSpPr/>
          <p:nvPr/>
        </p:nvSpPr>
        <p:spPr>
          <a:xfrm>
            <a:off x="6260592" y="137160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33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開発完了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i-PRO / UNIVIEW RECORDER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現場に、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を。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8138160" cy="4572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最大10,000店舗・160,000カメラを本部から一元監視するスケーラブルなプラットフォーム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オンデマンド方式によりクラウドコストを常時配信比 95%以上削減（1店舗 ¥58/月）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Vercel + Supabase + LiveKit のマネージド構成で SRE 1名による10,000店舗運用を実現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レスポンシブ PWA 対応でネイティブアプリ不要・ストア審査なしの即日リリースが可能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70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2026年7月開発スタート、2027年3月パイロット〜100店舗展開へ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645152"/>
            <a:ext cx="8229600" cy="2926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次のステップ: パイロット計画の立案 → 社内承認 → 2026年7月 開発着手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レコーダ統合監視システム 社内新事業企画案</dc:title>
  <dc:subject>PptxGenJS Presentation</dc:subject>
  <dc:creator>Intereco</dc:creator>
  <cp:lastModifiedBy>Intereco</cp:lastModifiedBy>
  <cp:revision>1</cp:revision>
  <dcterms:created xsi:type="dcterms:W3CDTF">2026-05-26T21:03:49Z</dcterms:created>
  <dcterms:modified xsi:type="dcterms:W3CDTF">2026-05-26T21:03:49Z</dcterms:modified>
</cp:coreProperties>
</file>