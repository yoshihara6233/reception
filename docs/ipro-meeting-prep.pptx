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AA7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MEETING PREPARATION — INTERNAL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i-PRO 技術面談 準備資料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カメラ・レコーダーからの映像取得の整理と質問・確認事項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Recorder Monitor（店舗レコーダー遠隔監視サービス）の i-PRO 連携実装を整理し、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B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面談で確認したい事項を優先度つきでまとめる。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面談相手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i-PRO 技術責任者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204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当社実績機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WJ-NU101 / NU100（実機）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控える案件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 × 100 店舗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154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1540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2026-07-31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B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面談の目的（3 つ）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075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実装の答え合わせ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05672" y="12710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§4・質問 B 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1600200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NU101/NU100 実機に CGI・ONVIF で映像取得を実装し本番稼働中。実機挙動から逆算した理解が多く、正式仕様との差分を潰したい。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109167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514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24414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 店舗案件の技術裏付け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05672" y="24780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質問 A 群（最優先）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98448" y="280720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WJ-NU101 が全店に入る大型リプレイス案件が進行中。検査クリップの常時切り出し（1 店舗 1 日 200 回 × 100 店舗）が製品想定内か、負荷・寿命・ライフサイクルを確認。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57016"/>
            <a:ext cx="1109167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36484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正式な技術情報ルートの確立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05672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質問 C 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98448" y="4014216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CGI 仕様書の正式入手、技術問い合わせ窓口、パートナープログラムの有無。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6EFE2"/>
          </a:solidFill>
          <a:ln w="12700">
            <a:solidFill>
              <a:srgbClr val="B576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01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面談で出さない情報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367528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顧客名・現行サービスの事業者名・受注前提の金額は出さない。案件は「NU101 を全店導入済みの 100 店舗チェーンのリプレイス検討」とだけ伝える。競業避止に関わる旧来経緯にも触れない。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当社サービスの概要（先方への説明・1 分）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Recorder Monitor とは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9057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店舗の既設レコーダー・カメラをそのままクラウド監視化するサービス。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店舗にエッジ端末を 1 台設置。店舗から外向きの接続のみで動作（ポート開放・VPN 不要）。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i-PRO 機とはエッジ端末が LAN 内で通信。クラウドから直接レコーダーへはアクセスしない。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35331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提供機能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05956" y="1783080"/>
            <a:ext cx="49057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全店ライブ表示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録画再生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死活監視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BCP（発災前後の自動取得）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巡回点検レポート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警報連携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手荷物検査（検査時刻の録画クリップをクラウド証跡化）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4EAF3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通信構成（i-PRO 機から見た当社）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 / NVR（LAN）</a:t>
            </a:r>
            <a:pPr indent="0" marL="0">
              <a:buNone/>
            </a:pPr>
            <a:r>
              <a:rPr lang="en-US" sz="13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⇄　</a:t>
            </a:r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エッジ端末（LAN 内・CGI / ONVIF / RTSP）</a:t>
            </a:r>
            <a:pPr indent="0" marL="0">
              <a:buNone/>
            </a:pPr>
            <a:r>
              <a:rPr lang="en-US" sz="13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→　</a:t>
            </a:r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クラウド（外向き HTTPS のみ）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認証は HTTP Digest（MD5）、ONVIF は WS-Security UsernameToken（機器時刻とのずれを補正して送信）。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映像取得の整理 — 機能 × 取得経路（1/2）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 LAN 内・エッジ端末からの呼び出し。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489204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5788152"/>
              </a:tblGrid>
              <a:tr h="12230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使用 API（i-PRO 側）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当社実装の要点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ライブ監視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（グリッド / 単画面・低 fps JPEG）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NVR: push.cgi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(COMP=JPEG, multipart MJPEG)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カメラ直: ONVIF GetSnapshotUri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push.cgi はカメラごとに 1 本だけ開いて常時受信し最新フレームをキャッシュ（毎回 START/STOP するとセッション枯渇で 204）。事前に hdrctl.cgi?SCREEN=1X。UID は NVR 1 台 = 1 つを全カメラで共有し、status.cgi を 60 秒間隔で keepalive。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高画質ライブ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（H.264 HLS）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カメラ直: ONVIF GetProfiles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GetStreamUri → RTSP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RTSP URL は静的に組まず ONVIF で取得（NU 配下カメラは rtsp://&lt;ip&gt;/ONVIF/MediaInput?profile=… の動的形式）。go2rtc 経由で HLS 配信。H.265 はエッジで H.264 に変換。NVR 経由の高画質ライブは未使用。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録画再生（VOD）・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検査クリップ切り出し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NVR: dlogin.cgi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httpdl.cgi (KIND=MP4)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logout.cgi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時刻は UTC・分単位（秒 00 固定）。同一分内の短い窓は空応答になるため、開始切り捨て・終了切り上げの分丸めを実装。X-RecData-Satus（0=正常 / 1=録画なし / 2=コーデック / 3=ビジー）で判定、複数パートは連結。VOD 用 UID は都度取得・都度 logout（ライブ用と分離）。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映像取得の整理 — 機能 × 取得経路（2/2）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5788152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使用 API（i-PRO 側）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当社実装の要点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過去時刻の静止画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（BCP 8 枚・発報前タイムライン）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NVR: httpdl.cgi（VOD と同じ）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対象時刻 −1 秒〜 +10 秒の窓 MP4 を取得し ffmpeg で先頭フレームを JPEG 化（窓が短いと GOP が不完全で demux 不可のため広めに取る）。録画から引けない場合はライブの現フレームで代替。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現在時刻の静止画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（巡回点検・発報後・死活監視）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カメラ直: ONVIF GetSnapshotUri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（JPEG プロファイル優先）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RTSP セッションを消費しないため、NVR がメインストリームを占有していても取得できる。ONVIF 非対応機のみ RTSP キーフレーム切り出し（ffmpeg・TCP）にフォールバック。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発報（センサー・接点入力）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の受信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カメラ / NVR の独自 HTTP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アラーム通知（通知先＝エッジ）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補助: ONVIF PullPoint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エッジが LAN 内で HTTP 受け口を立て、i-PRO 側のアラーム通知先に設定。通知がタイムアウトしないよう即 200 応答 → 非同期処理。動体検知ではなく接点 / 通知のみを使用。ONVIF PullPoint も実装・検証済み。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録画期間・構成の確認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NVR: recordedtime.cgi（UID 不要）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4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as_getinfo.cgi?FILE=2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録画期間の裏取りと接続カメラ CH の確認に使用。表示はローカル時刻（httpdl の UTC 入力と混在する点に注意して実装）。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 実機で確認済みの機器側前提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 のみ・自己署名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 番は閉。Digest realm は「Network disk recorder」。自己署名証明書を許容して接続。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123444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37160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NVR は RTSP 閉・ONVIF 非提供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05956" y="17830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RTSP(554) は閉、/onvif/device_service は 404。→ 録画取得は CGI（httpdl.cgi）一択。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カメラは標準 ONVIF / RTSP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配下カメラは ONVIF で成立（カメラごとに認証情報が異なるケースあり）。コーデックは H.264 / H.265 の混在。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7356" y="292608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306324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ハイブリッド構成で運用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05956" y="347472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ライブ・静止画 = カメラ直 ONVIF、録画 = NVR の httpdl.cgi。この分担が当社の標準構成。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実機総当たりで得た知見。dlogin / httpdl / recordedtime / push / hdrctl / status 系のみ有効で、NX 系 CGI（getsysteminfo・snapshot.cgi・playback 等）は 404 だった。→ Q1 で機種別対応表の有無を確認する。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実機で判明した固有仕様と回避策（1/2）— 答え合わせ用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892040"/>
        </p:xfrm>
        <a:graphic>
          <a:graphicData uri="http://schemas.openxmlformats.org/drawingml/2006/table">
            <a:tbl>
              <a:tblPr/>
              <a:tblGrid>
                <a:gridCol w="4206240"/>
                <a:gridCol w="5056632"/>
                <a:gridCol w="182880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事象（実機で確認）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当社の理解・回避策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httpdl.cgi の STARTTIME/ENDTIME は UTC。一方 recordedtime.cgi の録画期間表示はローカル (JST)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JST で送ると +9h ずれて「録画なし (Satus:1)」。UTC 変換を実装して解決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Q7 仕様として正か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時刻指定は分単位（秒 00 固定）。同一分内の短い窓は空応答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開始切り捨て / 終了切り上げの分丸め＋最短 1 分保証を実装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Q8 秒単位対応の予定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push.cgi を短時間に START/STOP 連打するとセッション飽和 → 以後 START が 204（空応答）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カメラごとに 1 本を開きっぱなしにする永続ストリーム方式で解決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Q11 204 の条件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UID 寿命 90 秒・同時最大 16・同一カメラ 2 本不可・ライブと再生は同一 UID 不可・コマンド間隔 3 秒目安（CGI 資料 V15R1）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ライブは NVR 1 台 = 1 UID を全カメラで共有（60 秒 keepalive）、VOD は都度 UID。503/401 は UID 破棄 → 再取得。3 秒間隔は未実装だが実運用で問題なし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Q3 制約の正確な単位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NU101 では NX 系 CGI（getsysteminfo・snapshot.cgi・playback 等）が軒並み 404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NX/NU 共通とされる CGI 資料に対し、NU の実装範囲が異なると理解（実機総当たりで判明）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 機種別対応表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実機で判明した固有仕様と回避策（2/2）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892040"/>
        </p:xfrm>
        <a:graphic>
          <a:graphicData uri="http://schemas.openxmlformats.org/drawingml/2006/table">
            <a:tbl>
              <a:tblPr/>
              <a:tblGrid>
                <a:gridCol w="4206240"/>
                <a:gridCol w="5056632"/>
                <a:gridCol w="182880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事象（実機で確認）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当社の理解・回避策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snapshot.cgi?time=（過去時刻指定）は FW v3+ のみ有効。旧 FW は黙って最新フレームを返す（判別不能）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time 付き 200 を暫定的に「過去フレーム」とみなすしかない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Q12 判別方法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カメラ CGI 直叩きで Accept ヘッダを付けると 400 Bad Request になる機種がある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Accept を付けない、または get_randomnum → &amp;Randomnum= 付与で回避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Q13 正式仕様か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録画 MP4 は moov アトムが末尾（ストリーミング処理不可）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一時ファイルに書いてから ffmpeg に渡す方式で解決。標準的な MP4 なので remux は不要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Q9 MP4 生成方式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NVR がカメラのメイン H.264/H.265 RTSP を占有 → 外部からの RTSP SETUP が 503 になりがち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静止画は ONVIF GetSnapshotUri（RTSP 非消費）を最優先にして回避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7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Q14 同時接続の考え方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応答ヘッダの綴りが X-RecData-Satus（Status ではない）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原文ママでパース対応済み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5B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実機での事前実測（2026-08-01・WJ-NU101 + カメラ2台）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「教えてください」ではなく「実測ではこうでした。この理解で正しいですか」と確認する。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3977640"/>
        </p:xfrm>
        <a:graphic>
          <a:graphicData uri="http://schemas.openxmlformats.org/drawingml/2006/table">
            <a:tbl>
              <a:tblPr/>
              <a:tblGrid>
                <a:gridCol w="3749040"/>
                <a:gridCol w="6245352"/>
                <a:gridCol w="1097280"/>
              </a:tblGrid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試験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実測結果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関連Q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常用負荷: 2分クリップ×50回（72秒間隔）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50/50 成功・ビジー0・中央値 4.6 秒・計 0.88 GB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録画整合性（負荷中の欠落）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抜き取り 6 点すべて正常・録画への影響なし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Q2-①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並列度（2/3/4 並列）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同時 2 本まで成功。3 本目から即時 Satus=3（ビジー）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Q2-③④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コマンド間隔（ゼロ間隔10連続）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10/10 成功・劣化なし（3秒間隔は実効強制でない）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UID 上限（logout せず連続取得）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 本すべて取得成功（「最大16」は dlogin 数には非適用）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KIND=MP4 の生成方式（ffprobe 解析）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H.265/H.264 ともコーデックそのまま＝無劣化詰め替え・26 倍速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窓長・秒粒度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59分OK / 61分は HTTP 500 / 秒≠00 指定が実質有効（未文書）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カメラ CGI Accept 400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WV-U1132A / WV-SW158 とも再現せず（全 200）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Q13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カメラ RTSP 同時接続（NVR録画中）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H.265 メイン 4 本同時成功（上限未到達）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Q14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0F1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死活監視の外部取得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HDD容量/残量・CH別カメラ接続・CH別録画状態を CGI で取得可。SNMPなし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4EAF3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設計指針（確定）: 1日200回運用は余裕（NVR占有 計約33分/日）／ httpdl は NVR 1台あたり並列2に制限／死活監視は既存CGIポーリングで実装可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質問・確認事項の全体像（17 問）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A333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2356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3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最優先・6 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2356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 店舗案件の成立に直結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29961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 の CGI 実装範囲 / httpdl 常用の可否 / セッション制約 / ライフサイクル / 死活監視 / アラーム通知仕様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7784" y="123444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6384" y="14630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C4A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9638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6464" y="1463040"/>
            <a:ext cx="2356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仕様確認・8 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36464" y="1783080"/>
            <a:ext cx="2356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当社実装の答え合わせ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6384" y="2240280"/>
            <a:ext cx="29961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時刻系 / 時刻粒度 / MP4 生成方式 / ONVIF 方針 / push.cgi / snapshot time / Accept 400 / RTSP 同時接続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6928" y="123444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5528" y="14630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F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552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5608" y="1463040"/>
            <a:ext cx="2356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関係構築・3 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5608" y="1783080"/>
            <a:ext cx="2356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今後の技術ルート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5528" y="2240280"/>
            <a:ext cx="29961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技術資料の正式入手ルート / 今後の API 方向性 / 機器調達・保守の相談先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持ち帰りたい成果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12064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Q1（NU101 の CGI 実装範囲）と Q2（httpdl 常用の可否）に確度の高い回答、または回答してくれる窓口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技術問い合わせの継続ルート（担当者名・連絡先）／ できれば NU シリーズ向け最新技術資料の入手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最優先 — 100 店舗案件に直結（1/2）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3502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35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316736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WJ-NU101 の CGI 実装範囲を機種別に示す正式資料はあるか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72768" y="1737360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「i-PRO NVR CGI-IF(NXNU) V15R1」を参照して実装したが、NU101 実機では dlogin / httpdl / recordedtime / push / hdrctl / status 系のみ有効で、NX 系で使える getsysteminfo / snapshot.cgi / playback 等は 404 だった。NU シリーズの対応 CGI 一覧（機種 × CGI の対応表）、より新しい版の資料はあるか。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90672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906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3072384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httpdl.cgi の常用（クリップ切り出しの高頻度利用）は製品想定内か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493008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店舗 1 日 200 回 × 2 カメラ × 100 店舗の頻度で数分単位のクリップを切り出す運用を計画。実測では 50 回連続すべて成功・録画欠落なし・同時 3 本目から Satus=3。→ この使い方と負荷で長期運用して問題ないか。並列 2 が仕様上の上限か。残る未知は HDD 寿命への長期影響。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846320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8463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4828032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セッション制約の正確な単位（当社運用の妥当性確認）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5248656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「UID 同時最大 16・同一カメラ 2 本不可・ライブと再生は同一 UID 不可・コマンド間隔 3 秒目安」の制約単位は UID か TCP 接続かカメラか。当社はライブ＝NVR 1 台 1 UID を全カメラ共有（keepalive 60 秒）、再生＝都度別 UID で安定運用しているが、これは想定された正しい使い方か。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最優先 — 100 店舗案件に直結（2/2）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3502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35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316736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WJ-NU101 の製品ライフサイクル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72768" y="1737360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販売終了・修理 / サポート終了時期、ファームウェア（特にセキュリティ修正）の提供方針。既設 100 台を今後 5 年程度使い続ける前提で、リスクと後継機種（リプレイス時の互換性）を確認したい。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90672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906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3072384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NVR 死活監視・HDD 健全性を外部から取る公式手段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493008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当社は NVR / カメラの死活監視を標準機能として提供している。NU101 で ①機器状態・エラー状態の取得 CGI ②HDD の S.M.A.R.T / 劣化状態の外部取得 ③障害発生時の能動通知（メール・HTTP 通知・SNMP trap）は何が使えるか。（現行の顧客運用では NVR 故障の検知手段がなく、ここを商品価値にしたい）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110916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846320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F5E4E2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8463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4828032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 HTTP アラーム通知の正式仕様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5248656"/>
            <a:ext cx="9765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 / NVR のアラーム通知先を当社エッジ端末に向けて発報連携している。通知のリトライ有無・タイムアウト・同報数の上限・HTTPS(TLS) 対応の正式仕様を確認したい。（当社は通知を取りこぼさないよう即 200 応答で受けている）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仕様の答え合わせ（時間があれば順に）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98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時刻系の確認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STARTTIME/ENDTIME=UTC・recordedtime=ローカルの理解の確認。NTP 推奨設定。機器時刻と実時刻のオフセットを外部から取得する手段。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77356" y="1188720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0236" y="1298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4596" y="1280160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httpdl.cgi の時刻粒度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0236" y="1609344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分単位（秒 00 固定）の仕様確認。秒単位指定の対応予定。≤1 時間制約・複数パート分割の条件。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578608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KIND=MP4 の生成方式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2907792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コンテナ詰め替え（無劣化）かトランスコードか。JPEG 録画が取れない（Satus=2）ことの確認。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77356" y="2487168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0236" y="2596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54596" y="2578608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ONVIF 対応方針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60236" y="2907792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 は ONVIF サーバ非提供（Profile-G なし）で正しいか。NX 系の Profile-G 対応機種。カメラ直 ONVIF ＋ NVR 録画のハイブリッドは想定内か。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785616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953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877056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push.cgi の挙動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COMP=JPEG の解像度・fps は何で決まるか。INTERNETMODE=ON の意味。START が 204 を返す条件。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77356" y="3785616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0236" y="38953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54596" y="3877056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snapshot.cgi の time パラメータ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60236" y="4206240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FW v3+ のみ有効・旧 FW は最新フレームを返す、の確認。対応可否を機械的に判別する方法。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937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5175504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 ヘッダ 400 問題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" y="5504688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 付きで 400 になる機種の件。CSRF 対策等の正式仕様か。対象機種と正しい回避方法。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77356" y="5084064"/>
            <a:ext cx="53629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0236" y="51937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4596" y="5175504"/>
            <a:ext cx="4402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 RTSP の同時接続数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60236" y="5504688"/>
            <a:ext cx="49971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NVR 占有中の外部 RTSP SETUP 503。プロファイル別の接続枠の考え方（JPEG 系は別枠か）。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今後・関係構築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3502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35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316736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技術情報の正式ルート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72768" y="1737360"/>
            <a:ext cx="9765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CGI / API 仕様書の正式入手方法（開発パートナー登録・NDA）。実装で詰まった際の技術問い合わせ窓口。i-PRO のパートナー / インテグレータープログラムへの参加条件。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9806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2779776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 API 方向性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200400"/>
            <a:ext cx="9765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新機種・新 FW での外部連携 API の方向性（REST API? ONVIF Profile-G/M?）。AI カメラの解析メタデータ（人物・車両検知等）を外部システムから利用する公式手段。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26110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261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4242816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機器調達・保守の相談先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663440"/>
            <a:ext cx="9765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 店舗規模での機器保守（先出しセンドバック等）や、当社経由での機器提案を行う場合の販売ルートの相談先。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4A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31089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当日の準備・持ち物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6295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990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362456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 §3・§4 を提示できる形で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61872" y="1764792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当社実装の透明性を見せると技術者同士の話が早い。印刷 or 画面共有。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7356" y="1234440"/>
            <a:ext cx="536295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8524" y="13990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8524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0588" y="1362456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NU101 実機の挙動ログ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0588" y="1764792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404 になった CGI 一覧・X-RecData-Satus の実例。求められたらその場で提示。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536295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862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2825496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参照資料名の控え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61872" y="3227832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「i-PRO NVR CGI-IF(NXNU) V15R1jp」。版の新旧を先方に確認する。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7356" y="2697480"/>
            <a:ext cx="536295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8524" y="2862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C4A7E"/>
          </a:solidFill>
          <a:ln/>
        </p:spPr>
      </p:sp>
      <p:sp>
        <p:nvSpPr>
          <p:cNvPr id="22" name="Text 20"/>
          <p:cNvSpPr/>
          <p:nvPr/>
        </p:nvSpPr>
        <p:spPr>
          <a:xfrm>
            <a:off x="6478524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0588" y="2825496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本番デモ環境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90588" y="3227832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intereco-monitor 本番でライブ・録画再生・BCP をその場で見せられる準備。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5F0E9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面談のゴール（再掲）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4956048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Q1（NU101 の CGI 実装範囲）と Q2（httpdl 常用の可否）に確度の高い回答、または回答してくれる窓口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技術問い合わせの継続ルート（担当者名・連絡先）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0F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できれば: NU シリーズ向け最新技術資料の入手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Genesis Edge — internal use 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2026-07-31T21:12:03Z</dcterms:created>
  <dcterms:modified xsi:type="dcterms:W3CDTF">2026-07-31T21:12:03Z</dcterms:modified>
</cp:coreProperties>
</file>