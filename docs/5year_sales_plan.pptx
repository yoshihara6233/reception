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期末店舗数</c:v>
                </c:pt>
              </c:strCache>
            </c:strRef>
          </c:tx>
          <c:spPr>
            <a:solidFill>
              <a:srgbClr val="2C4A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C4A7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2026年度</c:v>
                  </c:pt>
                  <c:pt idx="1">
                    <c:v>2027年度</c:v>
                  </c:pt>
                  <c:pt idx="2">
                    <c:v>2028年度</c:v>
                  </c:pt>
                  <c:pt idx="3">
                    <c:v>2029年度</c:v>
                  </c:pt>
                  <c:pt idx="4">
                    <c:v>2030年度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100</c:v>
                </c:pt>
                <c:pt idx="2">
                  <c:v>1000</c:v>
                </c:pt>
                <c:pt idx="3">
                  <c:v>3000</c:v>
                </c:pt>
                <c:pt idx="4">
                  <c:v>10000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2C4A7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A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00"/>
          <c:min val="0"/>
        </c:scaling>
        <c:delete val="0"/>
        <c:axPos val="l"/>
        <c:majorGridlines>
          <c:spPr>
            <a:ln w="6350" cap="flat">
              <a:solidFill>
                <a:srgbClr val="D6CFC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B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年間売上（百万円）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D948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2026年度
(6か月)</c:v>
                  </c:pt>
                  <c:pt idx="1">
                    <c:v>2027年度</c:v>
                  </c:pt>
                  <c:pt idx="2">
                    <c:v>2028年度</c:v>
                  </c:pt>
                  <c:pt idx="3">
                    <c:v>2029年度</c:v>
                  </c:pt>
                  <c:pt idx="4">
                    <c:v>2030年度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0.03</c:v>
                </c:pt>
                <c:pt idx="1">
                  <c:v>2</c:v>
                </c:pt>
                <c:pt idx="2">
                  <c:v>21.1</c:v>
                </c:pt>
                <c:pt idx="3">
                  <c:v>76.8</c:v>
                </c:pt>
                <c:pt idx="4">
                  <c:v>249.6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D948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A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CFC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B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累計売上（百万円）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2026年度</c:v>
                  </c:pt>
                  <c:pt idx="1">
                    <c:v>2027年度</c:v>
                  </c:pt>
                  <c:pt idx="2">
                    <c:v>2028年度</c:v>
                  </c:pt>
                  <c:pt idx="3">
                    <c:v>2029年度</c:v>
                  </c:pt>
                  <c:pt idx="4">
                    <c:v>2030年度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0.03</c:v>
                </c:pt>
                <c:pt idx="1">
                  <c:v>2</c:v>
                </c:pt>
                <c:pt idx="2">
                  <c:v>23.1</c:v>
                </c:pt>
                <c:pt idx="3">
                  <c:v>99.9</c:v>
                </c:pt>
                <c:pt idx="4">
                  <c:v>349.5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5B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5B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7F5F1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期末店舗数（店）</c:v>
                </c:pt>
              </c:strCache>
            </c:strRef>
          </c:tx>
          <c:spPr>
            <a:solidFill>
              <a:srgbClr val="2C4A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Sheet1!$A$2:$A$19</c:f>
              <c:multiLvlStrCache>
                <c:ptCount val="18"/>
                <c:lvl>
                  <c:pt idx="0">
                    <c:v>26Q3</c:v>
                  </c:pt>
                  <c:pt idx="1">
                    <c:v>26Q4</c:v>
                  </c:pt>
                  <c:pt idx="2">
                    <c:v>27Q1</c:v>
                  </c:pt>
                  <c:pt idx="3">
                    <c:v>27Q2</c:v>
                  </c:pt>
                  <c:pt idx="4">
                    <c:v>27Q3</c:v>
                  </c:pt>
                  <c:pt idx="5">
                    <c:v>27Q4</c:v>
                  </c:pt>
                  <c:pt idx="6">
                    <c:v>28Q1</c:v>
                  </c:pt>
                  <c:pt idx="7">
                    <c:v>28Q2</c:v>
                  </c:pt>
                  <c:pt idx="8">
                    <c:v>28Q3</c:v>
                  </c:pt>
                  <c:pt idx="9">
                    <c:v>28Q4</c:v>
                  </c:pt>
                  <c:pt idx="10">
                    <c:v>29Q1</c:v>
                  </c:pt>
                  <c:pt idx="11">
                    <c:v>29Q2</c:v>
                  </c:pt>
                  <c:pt idx="12">
                    <c:v>29Q3</c:v>
                  </c:pt>
                  <c:pt idx="13">
                    <c:v>29Q4</c:v>
                  </c:pt>
                  <c:pt idx="14">
                    <c:v>30Q1</c:v>
                  </c:pt>
                  <c:pt idx="15">
                    <c:v>30Q2</c:v>
                  </c:pt>
                  <c:pt idx="16">
                    <c:v>30Q3</c:v>
                  </c:pt>
                  <c:pt idx="17">
                    <c:v>30Q4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3</c:v>
                </c:pt>
                <c:pt idx="1">
                  <c:v>3</c:v>
                </c:pt>
                <c:pt idx="2">
                  <c:v>10</c:v>
                </c:pt>
                <c:pt idx="3">
                  <c:v>30</c:v>
                </c:pt>
                <c:pt idx="4">
                  <c:v>60</c:v>
                </c:pt>
                <c:pt idx="5">
                  <c:v>100</c:v>
                </c:pt>
                <c:pt idx="6">
                  <c:v>200</c:v>
                </c:pt>
                <c:pt idx="7">
                  <c:v>400</c:v>
                </c:pt>
                <c:pt idx="8">
                  <c:v>700</c:v>
                </c:pt>
                <c:pt idx="9">
                  <c:v>1000</c:v>
                </c:pt>
                <c:pt idx="10">
                  <c:v>1500</c:v>
                </c:pt>
                <c:pt idx="11">
                  <c:v>2000</c:v>
                </c:pt>
                <c:pt idx="12">
                  <c:v>2500</c:v>
                </c:pt>
                <c:pt idx="13">
                  <c:v>3000</c:v>
                </c:pt>
                <c:pt idx="14">
                  <c:v>5000</c:v>
                </c:pt>
                <c:pt idx="15">
                  <c:v>7000</c:v>
                </c:pt>
                <c:pt idx="16">
                  <c:v>8500</c:v>
                </c:pt>
                <c:pt idx="17">
                  <c:v>10000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A2A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CFC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5B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28016" cy="128016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265176"/>
            <a:ext cx="64008" cy="64008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インタレコ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社内企画資料 · 2026/05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INTERECO SALES STRATEGY 2026–2030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spc="-100" kern="0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レコーダ統合監視システム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spc="-100" kern="0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５か年販売計画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02920" y="32004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1店舗あたり月額 ¥3,200　｜　5年後 目標 10,000店舗　｜　2026年7月事業開始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657600"/>
            <a:ext cx="8138160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3767328"/>
            <a:ext cx="19202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767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月額課金 SaaS型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3767328"/>
            <a:ext cx="19202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3767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オンデマンド方式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3767328"/>
            <a:ext cx="19202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3767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10,000店舗対応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3767328"/>
            <a:ext cx="19202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3767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 PWA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4818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09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0" y="4818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28016" cy="128016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265176"/>
            <a:ext cx="64008" cy="64008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インタレコ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エグゼクティブ サマリー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8138160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97280"/>
            <a:ext cx="2788920" cy="1783080"/>
          </a:xfrm>
          <a:prstGeom prst="rect">
            <a:avLst/>
          </a:prstGeom>
          <a:solidFill>
            <a:srgbClr val="EFEBE3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07008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F0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10,000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20040" y="204825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0040" y="242316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2030年度末 目標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097280"/>
            <a:ext cx="2788920" cy="1783080"/>
          </a:xfrm>
          <a:prstGeom prst="rect">
            <a:avLst/>
          </a:prstGeom>
          <a:solidFill>
            <a:srgbClr val="E4EAF3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207008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¥384M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3246120" y="204825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C4A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/年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46120" y="242316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5年後 ARR（年間売上）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1097280"/>
            <a:ext cx="2788920" cy="1783080"/>
          </a:xfrm>
          <a:prstGeom prst="rect">
            <a:avLst/>
          </a:prstGeom>
          <a:solidFill>
            <a:srgbClr val="E3EFE6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207008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F7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¥350M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6172200" y="204825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7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累計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172200" y="242316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5か年 累計売上合計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035808"/>
            <a:ext cx="8503920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154680"/>
            <a:ext cx="54864" cy="402336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1821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事業モデル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993392" y="3182112"/>
            <a:ext cx="6812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1店舗あたり月額 ¥3,200 の月次課金型 SaaS。初期費用・導入コスト別途。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685032"/>
            <a:ext cx="54864" cy="402336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7124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成長シナリオ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993392" y="3712464"/>
            <a:ext cx="6812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2026年7月パイロット3店舗からスタートし、2030年末に10,000店舗（前年比233%増）を達成する計画。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4215384"/>
            <a:ext cx="54864" cy="402336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42428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収益性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993392" y="4242816"/>
            <a:ext cx="6812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店舗数スケールとともに1店舗あたりクラウドコストは逓減。10,000店舗時の粗利率は70%以上を想定。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" y="4818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0" y="4818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EXECUTIVE SUMMARY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28016" cy="128016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265176"/>
            <a:ext cx="64008" cy="64008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インタレコ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Revenue Model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 / 事業モデル・料金体系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8138160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05840"/>
            <a:ext cx="4069080" cy="1645920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15568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6A9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¥3,200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320040" y="2029968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A8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 1店舗 / 月（税抜）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" y="237744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年額換算: ¥38,400 / 店舗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005840"/>
            <a:ext cx="4251960" cy="274320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005840"/>
            <a:ext cx="11887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店舗数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806440" y="1005840"/>
            <a:ext cx="14173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月次売上（円）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269480" y="1005840"/>
            <a:ext cx="155448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年間売上（円）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0" y="1307592"/>
            <a:ext cx="42519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307592"/>
            <a:ext cx="1188720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3店舗（パイロット）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06440" y="1307592"/>
            <a:ext cx="1417320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¥9,600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69480" y="1307592"/>
            <a:ext cx="1554480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¥115,200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1929384"/>
            <a:ext cx="4251960" cy="58521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1929384"/>
            <a:ext cx="1188720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100店舗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06440" y="1929384"/>
            <a:ext cx="1417320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¥320,000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69480" y="1929384"/>
            <a:ext cx="1554480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¥3,840,000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2551176"/>
            <a:ext cx="42519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2551176"/>
            <a:ext cx="1188720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1,000店舗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06440" y="2551176"/>
            <a:ext cx="1417320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¥3,200,000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69480" y="2551176"/>
            <a:ext cx="1554480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¥38,400,000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3172968"/>
            <a:ext cx="4251960" cy="58521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3172968"/>
            <a:ext cx="1188720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3,000店舗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06440" y="3172968"/>
            <a:ext cx="1417320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¥9,600,000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69480" y="3172968"/>
            <a:ext cx="1554480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¥115,200,000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3794760"/>
            <a:ext cx="4251960" cy="585216"/>
          </a:xfrm>
          <a:prstGeom prst="rect">
            <a:avLst/>
          </a:prstGeom>
          <a:solidFill>
            <a:srgbClr val="E4EAF3"/>
          </a:solidFill>
          <a:ln w="19050">
            <a:solidFill>
              <a:srgbClr val="B8C4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3794760"/>
            <a:ext cx="1188720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A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10,000店舗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06440" y="3794760"/>
            <a:ext cx="1417320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¥32,000,000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69480" y="3794760"/>
            <a:ext cx="1554480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¥384,000,000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2743200"/>
            <a:ext cx="4069080" cy="2011680"/>
          </a:xfrm>
          <a:prstGeom prst="rect">
            <a:avLst/>
          </a:prstGeom>
          <a:solidFill>
            <a:srgbClr val="EFEBE3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283464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4A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料金体系 詳細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314553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月次課金　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261872" y="3145536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毎月末締め翌月払い。初期費用（機材・設置）は別途契約。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352958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解約　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261872" y="3529584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月単位の解約可。違約金なし（6か月以上継続推奨）。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391363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割引　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261872" y="3913632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100店舗以上: 5%、1,000店舗以上: 10%の大口割引を検討中。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42976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課金対象　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261872" y="4297680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アクティブ店舗（エッジ設置済み・通信確立済み）を課金単位とする。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20040" y="4818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09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486400" y="4818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MODEL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28016" cy="128016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265176"/>
            <a:ext cx="64008" cy="64008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インタレコ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Store Growth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 / ５か年 店舗展開計画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8138160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320040" y="987552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715000" y="987552"/>
            <a:ext cx="3108960" cy="274320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15000" y="987552"/>
            <a:ext cx="38404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年度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144768" y="987552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期末店舗数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876288" y="987552"/>
            <a:ext cx="46634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純増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388352" y="987552"/>
            <a:ext cx="143560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展開フェーズ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715000" y="1289304"/>
            <a:ext cx="3108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0" y="1289304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FY26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144768" y="1289304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876288" y="1289304"/>
            <a:ext cx="466344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388352" y="1289304"/>
            <a:ext cx="1435608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A パイロット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715000" y="1956816"/>
            <a:ext cx="3108960" cy="621792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15000" y="1956816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FY27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144768" y="1956816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876288" y="1956816"/>
            <a:ext cx="466344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+97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388352" y="1956816"/>
            <a:ext cx="1435608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B 本格導入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715000" y="2624328"/>
            <a:ext cx="3108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15000" y="2624328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FY28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144768" y="2624328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1,000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876288" y="2624328"/>
            <a:ext cx="466344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+900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388352" y="2624328"/>
            <a:ext cx="1435608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C スケール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715000" y="3291840"/>
            <a:ext cx="3108960" cy="621792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715000" y="3291840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FY29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144768" y="3291840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3,000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876288" y="3291840"/>
            <a:ext cx="466344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+2,000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388352" y="3291840"/>
            <a:ext cx="1435608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D 前半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715000" y="3959352"/>
            <a:ext cx="3108960" cy="621792"/>
          </a:xfrm>
          <a:prstGeom prst="rect">
            <a:avLst/>
          </a:prstGeom>
          <a:solidFill>
            <a:srgbClr val="E4EAF3"/>
          </a:solidFill>
          <a:ln w="9525">
            <a:solidFill>
              <a:srgbClr val="B8C4D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715000" y="3959352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FY30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144768" y="3959352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10,000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876288" y="3959352"/>
            <a:ext cx="466344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F7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+7,000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7388352" y="3959352"/>
            <a:ext cx="1435608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D 完了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320040" y="4818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09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486400" y="4818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 GROWTH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28016" cy="128016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265176"/>
            <a:ext cx="64008" cy="64008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インタレコ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Revenue Plan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 / ５か年 売上計画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8138160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320040" y="987552"/>
          <a:ext cx="530352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320040" y="4005072"/>
          <a:ext cx="530352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5715000" y="987552"/>
            <a:ext cx="3108960" cy="347472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715000" y="987552"/>
            <a:ext cx="594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年度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355080" y="987552"/>
            <a:ext cx="4572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平均店舗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858000" y="987552"/>
            <a:ext cx="5029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年間（M）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7406640" y="987552"/>
            <a:ext cx="48463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累計（M）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7936992" y="987552"/>
            <a:ext cx="88696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ARR（M）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5715000" y="1362456"/>
            <a:ext cx="3108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715000" y="1362456"/>
            <a:ext cx="594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2026年度（下半期）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6355080" y="1362456"/>
            <a:ext cx="4572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6858000" y="1362456"/>
            <a:ext cx="5029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0.03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7406640" y="1362456"/>
            <a:ext cx="48463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0.03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7936992" y="1362456"/>
            <a:ext cx="88696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5715000" y="1947672"/>
            <a:ext cx="3108960" cy="548640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715000" y="1947672"/>
            <a:ext cx="594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2027年度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6355080" y="1947672"/>
            <a:ext cx="4572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51.5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858000" y="1947672"/>
            <a:ext cx="5029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7406640" y="1947672"/>
            <a:ext cx="48463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7936992" y="1947672"/>
            <a:ext cx="88696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3.8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5715000" y="2532888"/>
            <a:ext cx="3108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715000" y="2532888"/>
            <a:ext cx="594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2028年度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55080" y="2532888"/>
            <a:ext cx="4572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550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6858000" y="2532888"/>
            <a:ext cx="5029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21.1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7406640" y="2532888"/>
            <a:ext cx="48463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23.1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7936992" y="2532888"/>
            <a:ext cx="88696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38.4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5715000" y="3118104"/>
            <a:ext cx="3108960" cy="548640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715000" y="3118104"/>
            <a:ext cx="594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2029年度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6355080" y="3118104"/>
            <a:ext cx="4572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2,000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6858000" y="3118104"/>
            <a:ext cx="5029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76.8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7406640" y="3118104"/>
            <a:ext cx="48463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99.9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7936992" y="3118104"/>
            <a:ext cx="88696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115.2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5715000" y="3703320"/>
            <a:ext cx="3108960" cy="548640"/>
          </a:xfrm>
          <a:prstGeom prst="rect">
            <a:avLst/>
          </a:prstGeom>
          <a:solidFill>
            <a:srgbClr val="E4EAF3"/>
          </a:solidFill>
          <a:ln w="9525">
            <a:solidFill>
              <a:srgbClr val="B8C4DA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715000" y="3703320"/>
            <a:ext cx="594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C4A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2030年度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6355080" y="3703320"/>
            <a:ext cx="4572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6,500</a:t>
            </a:r>
            <a:endParaRPr lang="en-US" sz="950" dirty="0"/>
          </a:p>
        </p:txBody>
      </p:sp>
      <p:sp>
        <p:nvSpPr>
          <p:cNvPr id="43" name="Text 39"/>
          <p:cNvSpPr/>
          <p:nvPr/>
        </p:nvSpPr>
        <p:spPr>
          <a:xfrm>
            <a:off x="6858000" y="3703320"/>
            <a:ext cx="5029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249.6</a:t>
            </a:r>
            <a:endParaRPr lang="en-US" sz="950" dirty="0"/>
          </a:p>
        </p:txBody>
      </p:sp>
      <p:sp>
        <p:nvSpPr>
          <p:cNvPr id="44" name="Text 40"/>
          <p:cNvSpPr/>
          <p:nvPr/>
        </p:nvSpPr>
        <p:spPr>
          <a:xfrm>
            <a:off x="7406640" y="3703320"/>
            <a:ext cx="48463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349.5</a:t>
            </a:r>
            <a:endParaRPr lang="en-US" sz="950" dirty="0"/>
          </a:p>
        </p:txBody>
      </p:sp>
      <p:sp>
        <p:nvSpPr>
          <p:cNvPr id="45" name="Text 41"/>
          <p:cNvSpPr/>
          <p:nvPr/>
        </p:nvSpPr>
        <p:spPr>
          <a:xfrm>
            <a:off x="7936992" y="3703320"/>
            <a:ext cx="88696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384.0</a:t>
            </a:r>
            <a:endParaRPr lang="en-US" sz="950" dirty="0"/>
          </a:p>
        </p:txBody>
      </p:sp>
      <p:sp>
        <p:nvSpPr>
          <p:cNvPr id="46" name="Shape 42"/>
          <p:cNvSpPr/>
          <p:nvPr/>
        </p:nvSpPr>
        <p:spPr>
          <a:xfrm>
            <a:off x="5715000" y="4315968"/>
            <a:ext cx="3108960" cy="475488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715000" y="431596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9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5か年 累計売上  ¥349.5M　｜　最終ARR  ¥384M/年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320040" y="4818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09</a:t>
            </a:r>
            <a:endParaRPr lang="en-US" sz="900" dirty="0"/>
          </a:p>
        </p:txBody>
      </p:sp>
      <p:sp>
        <p:nvSpPr>
          <p:cNvPr id="49" name="Text 45"/>
          <p:cNvSpPr/>
          <p:nvPr/>
        </p:nvSpPr>
        <p:spPr>
          <a:xfrm>
            <a:off x="5486400" y="4818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PLAN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28016" cy="128016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265176"/>
            <a:ext cx="64008" cy="64008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インタレコ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Quarterly Roadmap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 / 四半期別 展開ロードマップ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8138160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320040" y="987552"/>
          <a:ext cx="85039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320040" y="4206240"/>
            <a:ext cx="8503920" cy="219456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2062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年度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011680" y="42062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店舗数推移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20040" y="4453128"/>
            <a:ext cx="1664208" cy="237744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445312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2026年度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20040" y="4572000"/>
            <a:ext cx="16642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→ 3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2020824" y="4453128"/>
            <a:ext cx="1664208" cy="237744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020824" y="445312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2027年度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020824" y="4572000"/>
            <a:ext cx="16642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→ 100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3721608" y="4453128"/>
            <a:ext cx="166420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21608" y="445312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2028年度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721608" y="4572000"/>
            <a:ext cx="16642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→ 1,000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422392" y="4453128"/>
            <a:ext cx="1664208" cy="237744"/>
          </a:xfrm>
          <a:prstGeom prst="rect">
            <a:avLst/>
          </a:prstGeom>
          <a:solidFill>
            <a:srgbClr val="2F7A4F"/>
          </a:solidFill>
          <a:ln w="12700">
            <a:solidFill>
              <a:srgbClr val="2F7A4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22392" y="445312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2029年度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422392" y="4572000"/>
            <a:ext cx="16642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1,500 → 3,000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7123176" y="4453128"/>
            <a:ext cx="1664208" cy="237744"/>
          </a:xfrm>
          <a:prstGeom prst="rect">
            <a:avLst/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23176" y="445312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2030年度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123176" y="4572000"/>
            <a:ext cx="16642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5,000 → 10,000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20040" y="4818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09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486400" y="4818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QUARTERLY ROADMAP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28016" cy="128016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265176"/>
            <a:ext cx="64008" cy="64008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インタレコ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Phase KPIs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 / フェーズ別 KPI・マイルストーン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8138160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05840"/>
            <a:ext cx="2029968" cy="3749040"/>
          </a:xfrm>
          <a:prstGeom prst="rect">
            <a:avLst/>
          </a:prstGeom>
          <a:solidFill>
            <a:srgbClr val="E3EFE6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05840"/>
            <a:ext cx="2029968" cy="384048"/>
          </a:xfrm>
          <a:prstGeom prst="rect">
            <a:avLst/>
          </a:prstGeom>
          <a:solidFill>
            <a:srgbClr val="2F7A4F"/>
          </a:solidFill>
          <a:ln w="12700">
            <a:solidFill>
              <a:srgbClr val="2F7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00584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1444752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パイロット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171907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2026年7月〜12月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1956816"/>
            <a:ext cx="1847088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029968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店舗数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21284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7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3店舗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1480" y="254203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年間売上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371600" y="2542032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1480" y="272491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¥0.03M/期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371600" y="272491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7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2999232"/>
            <a:ext cx="1847088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30632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実機疎通・RTSP確認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29768" y="3465576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UX検証・フィードバック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29768" y="386791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運用課題の洗い出し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29768" y="427024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次フェーズ導入先の選定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496312" y="1005840"/>
            <a:ext cx="2029968" cy="3749040"/>
          </a:xfrm>
          <a:prstGeom prst="rect">
            <a:avLst/>
          </a:prstGeom>
          <a:solidFill>
            <a:srgbClr val="E4EAF3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96312" y="1005840"/>
            <a:ext cx="2029968" cy="384048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96312" y="100584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587752" y="1444752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4A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本格導入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587752" y="171907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2027年1月〜12月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87752" y="1956816"/>
            <a:ext cx="1847088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87752" y="2029968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店舗数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587752" y="221284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100店舗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587752" y="254203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年間売上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547872" y="2542032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587752" y="272491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¥2.0M/年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547872" y="272491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¥3.8M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587752" y="2999232"/>
            <a:ext cx="1847088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06040" y="30632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導入プロセスの標準化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606040" y="3465576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CS/サポート体制構築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606040" y="386791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初期解約率 &lt; 5%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606040" y="427024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MRR ¥320万達成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72584" y="1005840"/>
            <a:ext cx="2029968" cy="3749040"/>
          </a:xfrm>
          <a:prstGeom prst="rect">
            <a:avLst/>
          </a:prstGeom>
          <a:solidFill>
            <a:srgbClr val="E0F2FE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72584" y="1005840"/>
            <a:ext cx="2029968" cy="3840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72584" y="100584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764024" y="1444752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スケールアップ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764024" y="171907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2028年1月〜12月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64024" y="1956816"/>
            <a:ext cx="1847088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64024" y="2029968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店舗数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764024" y="221284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1,000店舗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764024" y="254203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年間売上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724144" y="2542032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764024" y="272491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¥21.1M/年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724144" y="272491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¥38.4M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764024" y="2999232"/>
            <a:ext cx="1847088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82312" y="30632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10,000エッジ対応アーキ検証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782312" y="3465576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大口チェーン3社以上契約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782312" y="386791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粗利率 60%以上達成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782312" y="427024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自動更新・OTA安定運用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848856" y="1005840"/>
            <a:ext cx="2029968" cy="3749040"/>
          </a:xfrm>
          <a:prstGeom prst="rect">
            <a:avLst/>
          </a:prstGeom>
          <a:solidFill>
            <a:srgbClr val="EFEBE3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848856" y="1005840"/>
            <a:ext cx="2029968" cy="384048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48856" y="100584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6940296" y="1444752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全国展開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6940296" y="171907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2029年〜2030年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940296" y="1956816"/>
            <a:ext cx="1847088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40296" y="2029968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店舗数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940296" y="221284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10,000店舗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940296" y="254203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年間売上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900416" y="2542032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940296" y="272491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¥326.4M/期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7900416" y="272491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0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¥384M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6940296" y="2999232"/>
            <a:ext cx="1847088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958584" y="30632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全国大手流通チェーン対応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6958584" y="3465576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SRE 1名 / 10,000店舗運用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6958584" y="386791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解約率 &lt; 2%/年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6958584" y="427024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ARR ¥384M 達成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320040" y="4818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09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5486400" y="4818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KPIs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28016" cy="128016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265176"/>
            <a:ext cx="64008" cy="64008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インタレコ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Assumptions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/ 前提条件・感度分析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8138160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87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主要前提条件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316736"/>
            <a:ext cx="50292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1673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月額単価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10512" y="131673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¥3,200 / 店舗 / 月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131673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インタレコ設定価格（税抜）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682496"/>
            <a:ext cx="5029200" cy="347472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68249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事業開始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10512" y="16824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2026年7月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168249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パイロット3店舗からスタート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048256"/>
            <a:ext cx="50292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04825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2026年度計上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10512" y="204825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6か月（7月〜12月）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66160" y="204825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下半期のみ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414016"/>
            <a:ext cx="5029200" cy="347472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24140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2027年末目標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10512" y="24140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100店舗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66160" y="2414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家電量販・倉庫・衣料チェーン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779776"/>
            <a:ext cx="50292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277977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2028年末目標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10512" y="27797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1,000店舗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66160" y="277977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C 本格スケール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3145536"/>
            <a:ext cx="5029200" cy="347472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314553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2029年末目標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10512" y="314553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3,000店舗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66160" y="314553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D 前半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3511296"/>
            <a:ext cx="50292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351129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2030年末目標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810512" y="35112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10,000店舗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66160" y="351129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D 完了 — 目標達成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3877056"/>
            <a:ext cx="5029200" cy="347472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" y="387705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平均稼働店舗数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810512" y="387705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(期初＋期末) / 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566160" y="387705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各年度の期中平均を使用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" y="4242816"/>
            <a:ext cx="50292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" y="42428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年間売上計算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810512" y="42428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平均店舗 × ¥3,200 × 12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566160" y="42428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下半期は×6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669280" y="9875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4A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感度分析（店舗数 × 月額 → ARR）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669280" y="1316736"/>
            <a:ext cx="3154680" cy="274320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69280" y="1316736"/>
            <a:ext cx="9601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店舗数 \ 月額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656832" y="1316736"/>
            <a:ext cx="71323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7F5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¥2,800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379208" y="1316736"/>
            <a:ext cx="71323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7F5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¥3,200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101584" y="1316736"/>
            <a:ext cx="71323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7F5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¥3,600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669280" y="1618488"/>
            <a:ext cx="31546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69280" y="1618488"/>
            <a:ext cx="9601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0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5,000店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656832" y="1618488"/>
            <a:ext cx="7132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¥168M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379208" y="1618488"/>
            <a:ext cx="7132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¥192M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101584" y="1618488"/>
            <a:ext cx="7132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¥216M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669280" y="2148840"/>
            <a:ext cx="3154680" cy="502920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9280" y="2148840"/>
            <a:ext cx="9601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0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7,000店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656832" y="2148840"/>
            <a:ext cx="7132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¥235M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379208" y="2148840"/>
            <a:ext cx="7132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¥269M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101584" y="2148840"/>
            <a:ext cx="7132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¥302M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669280" y="2679192"/>
            <a:ext cx="31546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69280" y="2679192"/>
            <a:ext cx="9601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0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10,000店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656832" y="2679192"/>
            <a:ext cx="7132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¥336M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379208" y="2734056"/>
            <a:ext cx="713232" cy="393192"/>
          </a:xfrm>
          <a:prstGeom prst="rect">
            <a:avLst/>
          </a:prstGeom>
          <a:solidFill>
            <a:srgbClr val="E4EAF3"/>
          </a:solidFill>
          <a:ln w="12700">
            <a:solidFill>
              <a:srgbClr val="B8C4D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79208" y="2679192"/>
            <a:ext cx="7132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¥384M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101584" y="2679192"/>
            <a:ext cx="7132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¥432M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669280" y="3209544"/>
            <a:ext cx="3154680" cy="502920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69280" y="3209544"/>
            <a:ext cx="9601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0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15,000店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656832" y="3209544"/>
            <a:ext cx="7132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¥504M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7379208" y="3209544"/>
            <a:ext cx="7132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¥576M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101584" y="3209544"/>
            <a:ext cx="7132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¥648M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5669280" y="374904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ベースケース（¥3,200 × 10,000店）= ARR ¥384M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320040" y="4818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09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486400" y="4818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ASSUMPTIONS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28016" cy="128016"/>
          </a:xfrm>
          <a:prstGeom prst="rect">
            <a:avLst/>
          </a:prstGeom>
          <a:solidFill>
            <a:srgbClr val="E8E6E0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265176"/>
            <a:ext cx="64008" cy="64008"/>
          </a:xfrm>
          <a:prstGeom prst="rect">
            <a:avLst/>
          </a:prstGeom>
          <a:solidFill>
            <a:srgbClr val="6A90C8"/>
          </a:solidFill>
          <a:ln w="12700">
            <a:solidFill>
              <a:srgbClr val="6A90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6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インタレコ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 Plan · 2026–2030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A9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PLAN SUMMARY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86384"/>
            <a:ext cx="8229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E8E6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10,000店舗、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E8E6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¥384M ARR へ。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502920" y="2359152"/>
            <a:ext cx="8138160" cy="4572"/>
          </a:xfrm>
          <a:prstGeom prst="rect">
            <a:avLst/>
          </a:prstGeom>
          <a:solidFill>
            <a:srgbClr val="2A2F38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487168"/>
            <a:ext cx="2057400" cy="1325880"/>
          </a:xfrm>
          <a:prstGeom prst="rect">
            <a:avLst/>
          </a:prstGeom>
          <a:solidFill>
            <a:srgbClr val="14171C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532888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A9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¥3,200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0040" y="317296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A9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/店/月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" y="343814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固定月額単価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14600" y="2487168"/>
            <a:ext cx="2057400" cy="1325880"/>
          </a:xfrm>
          <a:prstGeom prst="rect">
            <a:avLst/>
          </a:prstGeom>
          <a:solidFill>
            <a:srgbClr val="14171C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2532888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E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10,000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514600" y="317296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6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14600" y="343814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2030年度 目標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2487168"/>
            <a:ext cx="2057400" cy="1325880"/>
          </a:xfrm>
          <a:prstGeom prst="rect">
            <a:avLst/>
          </a:prstGeom>
          <a:solidFill>
            <a:srgbClr val="14171C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532888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A9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¥384M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709160" y="317296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A9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/年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343814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最終ARR（年間売上）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03720" y="2487168"/>
            <a:ext cx="2057400" cy="1325880"/>
          </a:xfrm>
          <a:prstGeom prst="rect">
            <a:avLst/>
          </a:prstGeom>
          <a:solidFill>
            <a:srgbClr val="14171C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2532888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E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¥350M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903720" y="317296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6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累計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03720" y="343814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5か年 累計売上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39319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8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2026年7月パイロット（3店舗）からスタートし、段階的に全国 10,000店舗へ展開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41330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8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月額 ¥3,200 × 10,000店舗 = 月次 ¥32,000,000 / 年間 ARR ¥384,000,000 を達成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33425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8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オンデマンド方式により1店舗あたりクラウドコスト ¥58/月 — 高粗利モデルを実現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4572000"/>
            <a:ext cx="8229600" cy="219456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5720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次のステップ: 社内承認 → パイロット先確定 → 2026年7月 開発着手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0040" y="4818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09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0" y="4818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レコーダ統合監視システム ５か年販売計画</dc:title>
  <dc:subject>PptxGenJS Presentation</dc:subject>
  <dc:creator>Intereco</dc:creator>
  <cp:lastModifiedBy>Intereco</cp:lastModifiedBy>
  <cp:revision>1</cp:revision>
  <dcterms:created xsi:type="dcterms:W3CDTF">2026-05-26T23:29:37Z</dcterms:created>
  <dcterms:modified xsi:type="dcterms:W3CDTF">2026-05-26T23:29:37Z</dcterms:modified>
</cp:coreProperties>
</file>