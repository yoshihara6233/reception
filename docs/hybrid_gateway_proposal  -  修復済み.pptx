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0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2C4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8E6E0"/>
                </a:solidFill>
              </a:rPr>
              <a:t>2,500店舗 映像集約システム — ハイブリッドゲートウェイ方式 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A90C8"/>
                </a:solidFill>
              </a:rPr>
              <a:t>Raspberry Pi 5 + ffmpeg xstack + SRT Cloud Relay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228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A8AE"/>
                </a:solidFill>
              </a:rPr>
              <a:t>2026年5月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749808"/>
            <a:ext cx="12188952" cy="12700"/>
          </a:xfrm>
          <a:prstGeom prst="rect">
            <a:avLst/>
          </a:prstGeom>
          <a:solidFill>
            <a:srgbClr val="2A2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92" y="822960"/>
            <a:ext cx="54864" cy="256032"/>
          </a:xfrm>
          <a:prstGeom prst="rect">
            <a:avLst/>
          </a:prstGeom>
          <a:solidFill>
            <a:srgbClr val="6A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813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90C8"/>
                </a:solidFill>
              </a:rPr>
              <a:t>■ システムアーキテクチャ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1097280"/>
            <a:ext cx="7498079" cy="2103120"/>
          </a:xfrm>
          <a:prstGeom prst="rect">
            <a:avLst/>
          </a:prstGeom>
          <a:solidFill>
            <a:srgbClr val="1C2028"/>
          </a:solidFill>
          <a:ln w="9525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9184" y="1417320"/>
            <a:ext cx="1280160" cy="1417320"/>
          </a:xfrm>
          <a:prstGeom prst="rect">
            <a:avLst/>
          </a:prstGeom>
          <a:solidFill>
            <a:srgbClr val="14171C"/>
          </a:solidFill>
          <a:ln w="1524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9184" y="1472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6E0"/>
                </a:solidFill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6E0"/>
                </a:solidFill>
              </a:rPr>
              <a:t>カメラ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" y="2130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A8AE"/>
                </a:solidFill>
              </a:rPr>
              <a:t>×16台
RTSP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0116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90C8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92224" y="1417320"/>
            <a:ext cx="1280160" cy="1417320"/>
          </a:xfrm>
          <a:prstGeom prst="rect">
            <a:avLst/>
          </a:prstGeom>
          <a:solidFill>
            <a:srgbClr val="14171C"/>
          </a:solidFill>
          <a:ln w="1524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792224" y="1472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6E0"/>
                </a:solidFill>
              </a:rPr>
              <a:t>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4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6E0"/>
                </a:solidFill>
              </a:rPr>
              <a:t>レコーダー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" y="2130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A8AE"/>
                </a:solidFill>
              </a:rPr>
              <a:t>i-PRO
Uniview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0116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90C8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55264" y="1417320"/>
            <a:ext cx="1280160" cy="1417320"/>
          </a:xfrm>
          <a:prstGeom prst="rect">
            <a:avLst/>
          </a:prstGeom>
          <a:solidFill>
            <a:srgbClr val="14171C"/>
          </a:solidFill>
          <a:ln w="15240">
            <a:solidFill>
              <a:srgbClr val="2F7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55264" y="1472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6E0"/>
                </a:solidFill>
              </a:rP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6E0"/>
                </a:solidFill>
              </a:rPr>
              <a:t>ゲートウェイ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55264" y="2130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A8AE"/>
                </a:solidFill>
              </a:rPr>
              <a:t>Raspberry Pi 5
+ffmpeg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0116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90C8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18304" y="1417320"/>
            <a:ext cx="1280160" cy="1417320"/>
          </a:xfrm>
          <a:prstGeom prst="rect">
            <a:avLst/>
          </a:prstGeom>
          <a:solidFill>
            <a:srgbClr val="14171C"/>
          </a:solidFill>
          <a:ln w="15240">
            <a:solidFill>
              <a:srgbClr val="6A9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18304" y="1472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6E0"/>
                </a:solidFill>
              </a:rPr>
              <a:t>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6E0"/>
                </a:solidFill>
              </a:rPr>
              <a:t>クラウド中継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2130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A8AE"/>
                </a:solidFill>
              </a:rPr>
              <a:t>SRT Relay
(AWS/CF)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011680"/>
            <a:ext cx="164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A90C8"/>
                </a:solidFill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1417320"/>
            <a:ext cx="1280160" cy="1417320"/>
          </a:xfrm>
          <a:prstGeom prst="rect">
            <a:avLst/>
          </a:prstGeom>
          <a:solidFill>
            <a:srgbClr val="14171C"/>
          </a:solidFill>
          <a:ln w="1524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147218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8E6E0"/>
                </a:solidFill>
              </a:rPr>
              <a:t>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18745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8E6E0"/>
                </a:solidFill>
              </a:rPr>
              <a:t>本部ビューアー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1344" y="213055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8A8AE"/>
                </a:solidFill>
              </a:rPr>
              <a:t>16分割ライブ
&lt; 4秒遅延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2606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5761A"/>
                </a:solidFill>
              </a:rPr>
              <a:t>RTSP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90672" y="2606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5761A"/>
                </a:solidFill>
              </a:rPr>
              <a:t>RTSP×16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2606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5761A"/>
                </a:solidFill>
              </a:rPr>
              <a:t>SRT
1〜2Mbps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16752" y="2606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5761A"/>
                </a:solidFill>
              </a:rPr>
              <a:t>SRT/HLS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1179576"/>
            <a:ext cx="1188720" cy="20116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0" y="1188720"/>
            <a:ext cx="11704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7F5F1"/>
                </a:solidFill>
              </a:rPr>
              <a:t>xstack 16ch合成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4592" y="3364992"/>
            <a:ext cx="54864" cy="256032"/>
          </a:xfrm>
          <a:prstGeom prst="rect">
            <a:avLst/>
          </a:prstGeom>
          <a:solidFill>
            <a:srgbClr val="6A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3558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90C8"/>
                </a:solidFill>
              </a:rPr>
              <a:t>■ 主要仕様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64592" y="3639312"/>
            <a:ext cx="2331720" cy="685800"/>
          </a:xfrm>
          <a:prstGeom prst="rect">
            <a:avLst/>
          </a:prstGeom>
          <a:solidFill>
            <a:srgbClr val="1C2028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74320" y="3675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⏱  遅延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840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90C8"/>
                </a:solidFill>
              </a:rPr>
              <a:t>2〜4秒 (SRT)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0965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A8AE"/>
                </a:solidFill>
              </a:rPr>
              <a:t>end-to-end
カメラ → 本部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87752" y="3639312"/>
            <a:ext cx="2331720" cy="685800"/>
          </a:xfrm>
          <a:prstGeom prst="rect">
            <a:avLst/>
          </a:prstGeom>
          <a:solidFill>
            <a:srgbClr val="1C2028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697480" y="3675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📶  帯域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97480" y="3840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90C8"/>
                </a:solidFill>
              </a:rPr>
              <a:t>1〜2 Mbps / 店舗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97480" y="40965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A8AE"/>
                </a:solidFill>
              </a:rPr>
              <a:t>H.265 合成
1ストリーム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10912" y="3639312"/>
            <a:ext cx="2331720" cy="685800"/>
          </a:xfrm>
          <a:prstGeom prst="rect">
            <a:avLst/>
          </a:prstGeom>
          <a:solidFill>
            <a:srgbClr val="1C2028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120640" y="367588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💰  HWコスト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40" y="38404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A90C8"/>
                </a:solidFill>
              </a:rPr>
              <a:t>約 2,500万円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20640" y="4096512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A8AE"/>
                </a:solidFill>
              </a:rPr>
              <a:t>Pi5 × 2,500台
各1万円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822960"/>
            <a:ext cx="54864" cy="256032"/>
          </a:xfrm>
          <a:prstGeom prst="rect">
            <a:avLst/>
          </a:prstGeom>
          <a:solidFill>
            <a:srgbClr val="6A9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27848" y="81381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A90C8"/>
                </a:solidFill>
              </a:rPr>
              <a:t>■ 構成要素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8120" y="1097280"/>
            <a:ext cx="4160520" cy="566928"/>
          </a:xfrm>
          <a:prstGeom prst="rect">
            <a:avLst/>
          </a:prstGeom>
          <a:solidFill>
            <a:srgbClr val="14171C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27848" y="1133856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6E0"/>
                </a:solidFill>
              </a:rPr>
              <a:t>🔧 ゲートウェイ端末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27848" y="1335024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Raspberry Pi 5 (4GB) + 公式ファンケース
≈ 11,000円 / 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18120" y="1719072"/>
            <a:ext cx="4160520" cy="566928"/>
          </a:xfrm>
          <a:prstGeom prst="rect">
            <a:avLst/>
          </a:prstGeom>
          <a:solidFill>
            <a:srgbClr val="14171C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927848" y="1755648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6E0"/>
                </a:solidFill>
              </a:rPr>
              <a:t>📦 ソフトウェア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27848" y="1956816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ffmpeg xstack (16ch合成・H.265)
SRT送信 (低遅延・パケットロス耐性)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818120" y="2340864"/>
            <a:ext cx="4160520" cy="566928"/>
          </a:xfrm>
          <a:prstGeom prst="rect">
            <a:avLst/>
          </a:prstGeom>
          <a:solidFill>
            <a:srgbClr val="14171C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27848" y="237744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6E0"/>
                </a:solidFill>
              </a:rPr>
              <a:t>☁  クラウド中継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27848" y="2578608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AWS Kinesis Video Streams
または Cloudflare Stream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2962656"/>
            <a:ext cx="4160520" cy="566928"/>
          </a:xfrm>
          <a:prstGeom prst="rect">
            <a:avLst/>
          </a:prstGeom>
          <a:solidFill>
            <a:srgbClr val="14171C"/>
          </a:solidFill>
          <a:ln w="6350">
            <a:solidFill>
              <a:srgbClr val="2A2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927848" y="2999232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E6E0"/>
                </a:solidFill>
              </a:rPr>
              <a:t>🖥 本部ビューアー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27848" y="3200400"/>
            <a:ext cx="4023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8A8AE"/>
                </a:solidFill>
              </a:rPr>
              <a:t>Webブラウザ / HLS/WebRTC
既存PCで閲覧可能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18120" y="3657600"/>
            <a:ext cx="54864" cy="25603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927848" y="36484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A4F"/>
                </a:solidFill>
              </a:rPr>
              <a:t>■ 開発フェーズ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18120" y="3931920"/>
            <a:ext cx="548640" cy="457200"/>
          </a:xfrm>
          <a:prstGeom prst="rect">
            <a:avLst/>
          </a:prstGeom>
          <a:solidFill>
            <a:srgbClr val="2C4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818120" y="395935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E6E0"/>
                </a:solidFill>
              </a:rPr>
              <a:t>Phase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18120" y="4169664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90C8"/>
                </a:solidFill>
              </a:rPr>
              <a:t>1〜2ヶ月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39912" y="4023360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PoC：RTSP接続・16ch合成・SRT遅延測定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818120" y="4443984"/>
            <a:ext cx="548640" cy="457200"/>
          </a:xfrm>
          <a:prstGeom prst="rect">
            <a:avLst/>
          </a:prstGeom>
          <a:solidFill>
            <a:srgbClr val="2C4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818120" y="44714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E6E0"/>
                </a:solidFill>
              </a:rPr>
              <a:t>Phase 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18120" y="468172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90C8"/>
                </a:solidFill>
              </a:rPr>
              <a:t>3〜4ヶ月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39912" y="4535424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パイロット50店舗 + クラウド中継構築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818120" y="4956048"/>
            <a:ext cx="548640" cy="457200"/>
          </a:xfrm>
          <a:prstGeom prst="rect">
            <a:avLst/>
          </a:prstGeom>
          <a:solidFill>
            <a:srgbClr val="2C4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18120" y="49834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8E6E0"/>
                </a:solidFill>
              </a:rPr>
              <a:t>Phase 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818120" y="519379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A90C8"/>
                </a:solidFill>
              </a:rPr>
              <a:t>5〜7ヶ月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39912" y="5047488"/>
            <a:ext cx="3502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2,500店舗展開・MDM・障害自動復旧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0" y="6382512"/>
            <a:ext cx="54864" cy="475488"/>
          </a:xfrm>
          <a:prstGeom prst="rect">
            <a:avLst/>
          </a:prstGeom>
          <a:solidFill>
            <a:srgbClr val="B57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82880" y="64373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761A"/>
                </a:solidFill>
              </a:rPr>
              <a:t>📌 Next Step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194560" y="64373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① 代表機種でRTSP接続確認 (ffprobe)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2120" y="64373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② Pi5 で16ch合成PoC → CPU負荷・遅延実測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69680" y="6437376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8E6E0"/>
                </a:solidFill>
              </a:rPr>
              <a:t>③ ネットワーク部門に各店舗 VPN帯域 (1〜2Mbps) 確認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267</Words>
  <Application>Microsoft Macintosh PowerPoint</Application>
  <PresentationFormat>ユーザー設定</PresentationFormat>
  <Paragraphs>61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吉原 淳二</cp:lastModifiedBy>
  <cp:revision>2</cp:revision>
  <dcterms:created xsi:type="dcterms:W3CDTF">2013-01-27T09:14:16Z</dcterms:created>
  <dcterms:modified xsi:type="dcterms:W3CDTF">2026-05-30T21:33:40Z</dcterms:modified>
  <cp:category/>
</cp:coreProperties>
</file>