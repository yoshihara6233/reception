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期末店舗数</c:v>
                </c:pt>
              </c:strCache>
            </c:strRef>
          </c:tx>
          <c:spPr>
            <a:solidFill>
              <a:srgbClr val="2C4A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C4A7E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2026年度</c:v>
                </c:pt>
                <c:pt idx="1">
                  <c:v>2027年度</c:v>
                </c:pt>
                <c:pt idx="2">
                  <c:v>2028年度</c:v>
                </c:pt>
                <c:pt idx="3">
                  <c:v>2029年度</c:v>
                </c:pt>
                <c:pt idx="4">
                  <c:v>2030年度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100</c:v>
                </c:pt>
                <c:pt idx="2">
                  <c:v>1000</c:v>
                </c:pt>
                <c:pt idx="3">
                  <c:v>3000</c:v>
                </c:pt>
                <c:pt idx="4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21-BB45-8A48-38941617D7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"/>
          <c:min val="0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年間売上（百万円）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D9488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2026年度
(6か月)</c:v>
                </c:pt>
                <c:pt idx="1">
                  <c:v>2027年度</c:v>
                </c:pt>
                <c:pt idx="2">
                  <c:v>2028年度</c:v>
                </c:pt>
                <c:pt idx="3">
                  <c:v>2029年度</c:v>
                </c:pt>
                <c:pt idx="4">
                  <c:v>2030年度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1</c:v>
                </c:pt>
                <c:pt idx="2">
                  <c:v>10.6</c:v>
                </c:pt>
                <c:pt idx="3">
                  <c:v>38.4</c:v>
                </c:pt>
                <c:pt idx="4">
                  <c:v>124.8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0-EF4D-8C1A-CB76D7B2D8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累計売上（百万円）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2026年度</c:v>
                </c:pt>
                <c:pt idx="1">
                  <c:v>2027年度</c:v>
                </c:pt>
                <c:pt idx="2">
                  <c:v>2028年度</c:v>
                </c:pt>
                <c:pt idx="3">
                  <c:v>2029年度</c:v>
                </c:pt>
                <c:pt idx="4">
                  <c:v>2030年度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1</c:v>
                </c:pt>
                <c:pt idx="2">
                  <c:v>11.6</c:v>
                </c:pt>
                <c:pt idx="3">
                  <c:v>50</c:v>
                </c:pt>
                <c:pt idx="4">
                  <c:v>174.8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70-D249-9F05-3D889805B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5F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期末店舗数（店）</c:v>
                </c:pt>
              </c:strCache>
            </c:strRef>
          </c:tx>
          <c:spPr>
            <a:solidFill>
              <a:srgbClr val="2C4A7E"/>
            </a:solidFill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26Q3</c:v>
                </c:pt>
                <c:pt idx="1">
                  <c:v>26Q4</c:v>
                </c:pt>
                <c:pt idx="2">
                  <c:v>27Q1</c:v>
                </c:pt>
                <c:pt idx="3">
                  <c:v>27Q2</c:v>
                </c:pt>
                <c:pt idx="4">
                  <c:v>27Q3</c:v>
                </c:pt>
                <c:pt idx="5">
                  <c:v>27Q4</c:v>
                </c:pt>
                <c:pt idx="6">
                  <c:v>28Q1</c:v>
                </c:pt>
                <c:pt idx="7">
                  <c:v>28Q2</c:v>
                </c:pt>
                <c:pt idx="8">
                  <c:v>28Q3</c:v>
                </c:pt>
                <c:pt idx="9">
                  <c:v>28Q4</c:v>
                </c:pt>
                <c:pt idx="10">
                  <c:v>29Q1</c:v>
                </c:pt>
                <c:pt idx="11">
                  <c:v>29Q2</c:v>
                </c:pt>
                <c:pt idx="12">
                  <c:v>29Q3</c:v>
                </c:pt>
                <c:pt idx="13">
                  <c:v>29Q4</c:v>
                </c:pt>
                <c:pt idx="14">
                  <c:v>30Q1</c:v>
                </c:pt>
                <c:pt idx="15">
                  <c:v>30Q2</c:v>
                </c:pt>
                <c:pt idx="16">
                  <c:v>30Q3</c:v>
                </c:pt>
                <c:pt idx="17">
                  <c:v>30Q4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</c:v>
                </c:pt>
                <c:pt idx="1">
                  <c:v>3</c:v>
                </c:pt>
                <c:pt idx="2">
                  <c:v>10</c:v>
                </c:pt>
                <c:pt idx="3">
                  <c:v>30</c:v>
                </c:pt>
                <c:pt idx="4">
                  <c:v>60</c:v>
                </c:pt>
                <c:pt idx="5">
                  <c:v>100</c:v>
                </c:pt>
                <c:pt idx="6">
                  <c:v>200</c:v>
                </c:pt>
                <c:pt idx="7">
                  <c:v>400</c:v>
                </c:pt>
                <c:pt idx="8">
                  <c:v>700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5000</c:v>
                </c:pt>
                <c:pt idx="15">
                  <c:v>7000</c:v>
                </c:pt>
                <c:pt idx="16">
                  <c:v>8500</c:v>
                </c:pt>
                <c:pt idx="17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50-8946-AD0B-91313AB669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A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1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社内企画資料 · 2026/05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C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INTERECO SALES STRATEGY 2026–2030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kern="0" spc="-1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レコーダ統合監視システム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kern="0" spc="-1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５か年販売計画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1店舗あたり月額 ¥1,600　｜　5年後 目標 10,000店舗　｜　2026年7月事業開始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0292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月額課金 SaaS型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60604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オンデマンド方式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10,000店舗対応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767328"/>
            <a:ext cx="1920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122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 PWA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 サマリー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788920" cy="178308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2030年度末 目標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88920" cy="1783080"/>
          </a:xfrm>
          <a:prstGeom prst="rect">
            <a:avLst/>
          </a:prstGeom>
          <a:solidFill>
            <a:srgbClr val="E4EAF3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¥192M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5年後 ARR（年間売上）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788920" cy="1783080"/>
          </a:xfrm>
          <a:prstGeom prst="rect">
            <a:avLst/>
          </a:prstGeom>
          <a:solidFill>
            <a:srgbClr val="E3EFE6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72200" y="120700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¥175M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04825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累計売上合計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850392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75488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事業モデル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93392" y="318211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1店舗あたり月額 ¥1,600 の月次課金型 SaaS。初期費用・導入コスト別途。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85032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75488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成長シナリオ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93392" y="371246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2026年7月パイロット3店舗からスタートし、2030年末に10,000店舗（前年比233%増）を達成する計画。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215384"/>
            <a:ext cx="54864" cy="40233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5488" y="4242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93392" y="4242816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店舗数スケールとともに1店舗あたりクラウドコストは逓減。10,000店舗時の粗利率は70%以上を想定。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Revenue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/ 事業モデル・料金体系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069080" cy="16459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¥1,600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1店舗 / 月（税抜）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年額換算: ¥19,200 / 店舗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5196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005840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06440" y="1005840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月次売上（円）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6948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年間売上（円）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307592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1307592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3店舗（パイロット）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307592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¥4,800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1307592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¥57,600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9384"/>
            <a:ext cx="4251960" cy="58521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1929384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1929384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¥160,000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1929384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¥1,920,000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551176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572000" y="2551176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1,000店舗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551176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¥1,600,000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2551176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¥19,200,000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172968"/>
            <a:ext cx="4251960" cy="585216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572000" y="3172968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3,000店舗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172968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¥4,800,000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172968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¥57,600,000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794760"/>
            <a:ext cx="4251960" cy="585216"/>
          </a:xfrm>
          <a:prstGeom prst="rect">
            <a:avLst/>
          </a:prstGeom>
          <a:solidFill>
            <a:srgbClr val="E4EAF3"/>
          </a:solidFill>
          <a:ln w="19050">
            <a:solidFill>
              <a:srgbClr val="B8C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794760"/>
            <a:ext cx="11887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794760"/>
            <a:ext cx="141732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¥16,000,000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3794760"/>
            <a:ext cx="15544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¥192,000,000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743200"/>
            <a:ext cx="4069080" cy="201168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2834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料金体系 詳細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145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月次課金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61872" y="3145536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毎月末締め翌月払い。初期費用（機材・設置）は別途契約。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5295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61872" y="35295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月単位の解約可。違約金なし（6か月以上継続推奨）。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9136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割引　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61872" y="3913632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100店舗以上: 5%、1,000店舗以上: 10%の大口割引を検討中。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297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課金対象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61872" y="429768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アクティブ店舗（エッジ設置済み・通信確立済み）を課金単位とする。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Store Growth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/ ５か年 店舗展開計画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87552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715000" y="987552"/>
            <a:ext cx="310896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715000" y="987552"/>
            <a:ext cx="3840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44768" y="987552"/>
            <a:ext cx="685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期末店舗数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76288" y="987552"/>
            <a:ext cx="46634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純増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88352" y="987552"/>
            <a:ext cx="143560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展開フェーズ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0" y="1289304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715000" y="128930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128930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76288" y="1289304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88352" y="1289304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A パイロット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15000" y="1956816"/>
            <a:ext cx="3108960" cy="62179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5715000" y="195681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44768" y="195681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76288" y="1956816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88352" y="1956816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B 本格導入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15000" y="2624328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5715000" y="262432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44768" y="262432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76288" y="2624328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88352" y="2624328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C スケール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15000" y="3291840"/>
            <a:ext cx="3108960" cy="62179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5715000" y="32918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FY29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44768" y="32918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76288" y="3291840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+2,000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88352" y="3291840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前半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715000" y="3959352"/>
            <a:ext cx="3108960" cy="621792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/>
          <p:nvPr/>
        </p:nvSpPr>
        <p:spPr>
          <a:xfrm>
            <a:off x="5715000" y="39593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44768" y="395935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876288" y="3959352"/>
            <a:ext cx="466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+7,000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388352" y="3959352"/>
            <a:ext cx="143560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完了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GROWTH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Revenue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/ ５か年 売上計画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87552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320040" y="4005072"/>
          <a:ext cx="530352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715000" y="987552"/>
            <a:ext cx="3108960" cy="347472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5715000" y="987552"/>
            <a:ext cx="594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355080" y="987552"/>
            <a:ext cx="4572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平均店舗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858000" y="987552"/>
            <a:ext cx="502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年間（M）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406640" y="987552"/>
            <a:ext cx="48463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累計（M）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936992" y="987552"/>
            <a:ext cx="8869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ARR（M）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715000" y="1362456"/>
            <a:ext cx="3108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/>
          <p:nvPr/>
        </p:nvSpPr>
        <p:spPr>
          <a:xfrm>
            <a:off x="5715000" y="1362456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2026年度（下半期）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355080" y="1362456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858000" y="1362456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06640" y="1362456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36992" y="1362456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715000" y="1947672"/>
            <a:ext cx="3108960" cy="54864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5715000" y="1947672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2027年度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355080" y="1947672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51.5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858000" y="1947672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406640" y="1947672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936992" y="1947672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715000" y="2532888"/>
            <a:ext cx="3108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/>
          <p:cNvSpPr/>
          <p:nvPr/>
        </p:nvSpPr>
        <p:spPr>
          <a:xfrm>
            <a:off x="5715000" y="2532888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55080" y="2532888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858000" y="2532888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10.6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406640" y="2532888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11.6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936992" y="2532888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19.2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715000" y="3118104"/>
            <a:ext cx="3108960" cy="54864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1"/>
          <p:cNvSpPr/>
          <p:nvPr/>
        </p:nvSpPr>
        <p:spPr>
          <a:xfrm>
            <a:off x="5715000" y="3118104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2029年度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35508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858000" y="3118104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38.4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406640" y="3118104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50.0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7936992" y="3118104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57.6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715000" y="3703320"/>
            <a:ext cx="3108960" cy="548640"/>
          </a:xfrm>
          <a:prstGeom prst="rect">
            <a:avLst/>
          </a:prstGeom>
          <a:solidFill>
            <a:srgbClr val="E4EAF3"/>
          </a:solidFill>
          <a:ln w="9525">
            <a:solidFill>
              <a:srgbClr val="B8C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7"/>
          <p:cNvSpPr/>
          <p:nvPr/>
        </p:nvSpPr>
        <p:spPr>
          <a:xfrm>
            <a:off x="5715000" y="3703320"/>
            <a:ext cx="594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35508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6,500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858000" y="3703320"/>
            <a:ext cx="502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124.8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7406640" y="3703320"/>
            <a:ext cx="4846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174.8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936992" y="3703320"/>
            <a:ext cx="88696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5715000" y="4315968"/>
            <a:ext cx="3108960" cy="47548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3"/>
          <p:cNvSpPr/>
          <p:nvPr/>
        </p:nvSpPr>
        <p:spPr>
          <a:xfrm>
            <a:off x="5715000" y="43159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  ¥174.8M　｜　最終ARR  ¥192M/年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PLAN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Quarterly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/ 四半期別 展開ロードマップ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87552"/>
          <a:ext cx="8503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206240"/>
            <a:ext cx="8503920" cy="21945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01168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店舗数推移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4453128"/>
            <a:ext cx="1664208" cy="237744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20040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0040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3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020824" y="4453128"/>
            <a:ext cx="1664208" cy="237744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2020824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2027年度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020824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→ 100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721608" y="4453128"/>
            <a:ext cx="1664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3721608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2028年度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21608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→ 1,000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22392" y="4453128"/>
            <a:ext cx="1664208" cy="237744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5422392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2029年度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22392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1,500 → 3,000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123176" y="4453128"/>
            <a:ext cx="1664208" cy="237744"/>
          </a:xfrm>
          <a:prstGeom prst="rect">
            <a:avLst/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7123176" y="4453128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23176" y="4572000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 → 10,000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Phase KPIs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/ フェーズ別 KPI・マイルストーン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029968" cy="3749040"/>
          </a:xfrm>
          <a:prstGeom prst="rect">
            <a:avLst/>
          </a:prstGeom>
          <a:solidFill>
            <a:srgbClr val="E3EFE6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029968" cy="384048"/>
          </a:xfrm>
          <a:prstGeom prst="rect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2026年7月〜12月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3店舗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¥0.01M/期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29768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実機疎通・RTSP確認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UX検証・フィードバック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運用課題の洗い出し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次フェーズ導入先の選定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96312" y="1005840"/>
            <a:ext cx="2029968" cy="3749040"/>
          </a:xfrm>
          <a:prstGeom prst="rect">
            <a:avLst/>
          </a:prstGeom>
          <a:solidFill>
            <a:srgbClr val="E4EAF3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496312" y="1005840"/>
            <a:ext cx="2029968" cy="38404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496312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87752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本格導入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87752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2027年1月〜12月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87752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587752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87752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100店舗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87752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47872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87752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¥1.0M/年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47872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¥1.9M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7752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26060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導入プロセスの標準化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06040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CS/サポート体制構築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初期解約率 &lt; 5%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06040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MRR ¥160万達成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72584" y="1005840"/>
            <a:ext cx="2029968" cy="3749040"/>
          </a:xfrm>
          <a:prstGeom prst="rect">
            <a:avLst/>
          </a:prstGeom>
          <a:solidFill>
            <a:srgbClr val="E0F2FE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4672584" y="1005840"/>
            <a:ext cx="202996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4672584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64024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スケールアップ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64024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2028年1月〜12月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64024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4764024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64024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1,000店舗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64024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24144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64024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¥10.6M/年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24144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¥19.2M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64024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4782312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10,000エッジ対応アーキ検証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82312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大口チェーン3社以上契約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82312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粗利率 60%以上達成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82312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自動更新・OTA安定運用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48856" y="1005840"/>
            <a:ext cx="2029968" cy="3749040"/>
          </a:xfrm>
          <a:prstGeom prst="rect">
            <a:avLst/>
          </a:prstGeom>
          <a:solidFill>
            <a:srgbClr val="EFEBE3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6848856" y="1005840"/>
            <a:ext cx="2029968" cy="384048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6848856" y="10058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40296" y="1444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全国展開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40296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2029年〜2030年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40296" y="1956816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6940296" y="202996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40296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940296" y="2542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00416" y="254203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940296" y="2724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¥163.2M/期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900416" y="272491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940296" y="2999232"/>
            <a:ext cx="1847088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6958584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全国大手流通チェーン対応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958584" y="34655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SRE 1名 / 10,000店舗運用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958584" y="38679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解約率 &lt; 2%/年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958584" y="42702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A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ARR ¥192M 達成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KPIs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Assumptions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/ 前提条件・感度分析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4572"/>
          </a:xfrm>
          <a:prstGeom prst="rect">
            <a:avLst/>
          </a:prstGeom>
          <a:solidFill>
            <a:srgbClr val="D6CFC1"/>
          </a:solidFill>
          <a:ln w="12700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主要前提条件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" y="1316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月額単価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10512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¥1,600 / 店舗 / 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3167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インタレコ設定価格（税抜）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8912" y="1682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事業開始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1682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2026年7月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6824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パイロット3店舗からスタート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4825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38912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2026年度計上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10512" y="2048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6か月（7月〜12月）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0482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下半期のみ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" y="24140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2027年末目標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10512" y="2414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100店舗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2414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家電量販・倉庫・衣料チェーン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38912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2028年末目標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10512" y="2779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1,000店舗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27797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C 本格スケール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4553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38912" y="3145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2029年末目標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10512" y="31455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3,000店舗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31455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前半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51129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38912" y="35112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2030年末目標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10512" y="3511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511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D 完了 — 目標達成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77056"/>
            <a:ext cx="5029200" cy="347472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438912" y="3877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平均稼働店舗数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10512" y="38770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(期初＋期末) /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38770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各年度の期中平均を使用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42816"/>
            <a:ext cx="502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438912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年間売上計算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10512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平均店舗 × ¥1,600 × 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66160" y="42428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下半期は×6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987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A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感度分析（店舗数 × 月額 → ARR）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0" y="1316736"/>
            <a:ext cx="3154680" cy="274320"/>
          </a:xfrm>
          <a:prstGeom prst="rect">
            <a:avLst/>
          </a:prstGeom>
          <a:solidFill>
            <a:srgbClr val="0F0F10"/>
          </a:solidFill>
          <a:ln w="1270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669280" y="1316736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F5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店舗数 \ 月額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56832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¥1,200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9208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¥1,600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01584" y="1316736"/>
            <a:ext cx="7132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¥2,000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69280" y="1618488"/>
            <a:ext cx="3154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5669280" y="1618488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¥72M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79208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¥96M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01584" y="1618488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¥120M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0" y="2148840"/>
            <a:ext cx="3154680" cy="50292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5669280" y="2148840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7,000店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56832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¥101M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79208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¥134M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01584" y="2148840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¥168M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2679192"/>
            <a:ext cx="3154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5669280" y="2679192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10,000店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56832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¥144M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79208" y="2734056"/>
            <a:ext cx="713232" cy="393192"/>
          </a:xfrm>
          <a:prstGeom prst="rect">
            <a:avLst/>
          </a:prstGeom>
          <a:solidFill>
            <a:srgbClr val="E4EAF3"/>
          </a:solidFill>
          <a:ln w="12700">
            <a:solidFill>
              <a:srgbClr val="B8C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7379208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4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01584" y="2679192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¥240M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0" y="3209544"/>
            <a:ext cx="3154680" cy="502920"/>
          </a:xfrm>
          <a:prstGeom prst="rect">
            <a:avLst/>
          </a:prstGeom>
          <a:solidFill>
            <a:srgbClr val="F7F5F1"/>
          </a:solidFill>
          <a:ln w="9525">
            <a:solidFill>
              <a:srgbClr val="D6CF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5669280" y="3209544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15,000店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56832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¥216M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79208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¥288M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101584" y="3209544"/>
            <a:ext cx="7132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¥360M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669280" y="37490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5B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ベースケース（¥1,600 × 10,000店）= ARR ¥192M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28016" cy="128016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02336" y="265176"/>
            <a:ext cx="64008" cy="64008"/>
          </a:xfrm>
          <a:prstGeom prst="rect">
            <a:avLst/>
          </a:prstGeom>
          <a:solidFill>
            <a:srgbClr val="6A90C8"/>
          </a:solidFill>
          <a:ln w="12700">
            <a:solidFill>
              <a:srgbClr val="6A90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インタレコ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Plan · 2026–2030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PLAN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10,000店舗、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¥192M ARR へ。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8138160" cy="4572"/>
          </a:xfrm>
          <a:prstGeom prst="rect">
            <a:avLst/>
          </a:prstGeom>
          <a:solidFill>
            <a:srgbClr val="2A2F38"/>
          </a:solidFill>
          <a:ln w="1270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004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¥1,600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/店/月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固定月額単価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51460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2030年度 目標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70916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¥192M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0916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90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最終ARR（年間売上）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2487168"/>
            <a:ext cx="2057400" cy="1325880"/>
          </a:xfrm>
          <a:prstGeom prst="rect">
            <a:avLst/>
          </a:prstGeom>
          <a:solidFill>
            <a:srgbClr val="14171C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903720" y="253288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E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¥175M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31729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6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5か年 累計売上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2026年7月パイロット（3店舗）からスタートし、段階的に全国 10,000店舗へ展開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月額 ¥1,600 × 10,000店舗 = 月次 ¥16,000,000 / 年間 ARR ¥192,000,000 を達成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34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 オンデマンド方式により1店舗あたりクラウドコスト ¥58/月 — 高粗利モデルを実現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572000"/>
            <a:ext cx="8229600" cy="219456"/>
          </a:xfrm>
          <a:prstGeom prst="rect">
            <a:avLst/>
          </a:prstGeom>
          <a:solidFill>
            <a:srgbClr val="2C4A7E"/>
          </a:solidFill>
          <a:ln w="12700">
            <a:solidFill>
              <a:srgbClr val="2C4A7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5720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次のステップ: 社内承認 → パイロット先確定 → 2026年7月 開発着手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818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Macintosh PowerPoint</Application>
  <PresentationFormat>画面に合わせる (16:9)</PresentationFormat>
  <Paragraphs>293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Meiryo</vt:lpstr>
      <vt:lpstr>Arial</vt:lpstr>
      <vt:lpstr>Calibri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レコーダ統合監視システム ５か年販売計画（¥1,600版）</dc:title>
  <dc:subject>PptxGenJS Presentation</dc:subject>
  <dc:creator>Intereco</dc:creator>
  <cp:lastModifiedBy>吉原 淳二</cp:lastModifiedBy>
  <cp:revision>2</cp:revision>
  <dcterms:created xsi:type="dcterms:W3CDTF">2026-05-27T07:03:20Z</dcterms:created>
  <dcterms:modified xsi:type="dcterms:W3CDTF">2026-05-27T07:21:45Z</dcterms:modified>
</cp:coreProperties>
</file>