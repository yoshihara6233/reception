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21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0"/>
            <a:ext cx="7560000" cy="10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28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CBD5E1"/>
                </a:solidFill>
                <a:latin typeface="Hiragino Kaku Gothic ProN"/>
                <a:ea typeface="Hiragino Kaku Gothic ProN"/>
              </a:rPr>
              <a:t>RECORDER MONITOR  /  本部一元監視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8000"/>
            <a:ext cx="669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Hiragino Kaku Gothic StdN W8"/>
                <a:ea typeface="Hiragino Kaku Gothic StdN W8"/>
              </a:rPr>
              <a:t>10,000 店舗を 1 名で運用できる、</a:t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Hiragino Kaku Gothic StdN W8"/>
                <a:ea typeface="Hiragino Kaku Gothic StdN W8"/>
              </a:rPr>
              <a:t>レコーダ統合監視プラットフォーム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656000"/>
            <a:ext cx="669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BEAFE"/>
                </a:solidFill>
                <a:latin typeface="Hiragino Kaku Gothic ProN"/>
                <a:ea typeface="Hiragino Kaku Gothic ProN"/>
              </a:rPr>
              <a:t>i-PRO / Uniview / Frigate 対応  ×  JPEG ポーリング方式  ×  PWA 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304000"/>
            <a:ext cx="1440000" cy="2520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2304000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本部 1 名運用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4000" y="2304000"/>
            <a:ext cx="1440000" cy="2520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4000" y="2304000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オンデマンド方式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6000" y="2304000"/>
            <a:ext cx="1440000" cy="2520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6000" y="2304000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ポート開放不要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8000" y="2304000"/>
            <a:ext cx="1440000" cy="2520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8000" y="2304000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PWA + Web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2808000"/>
            <a:ext cx="669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Hiragino Kaku Gothic StdN W8"/>
                <a:ea typeface="Hiragino Kaku Gothic StdN W8"/>
              </a:rPr>
              <a:t>「全店舗 24h ライブ配信」をやめれば、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Hiragino Kaku Gothic StdN W8"/>
                <a:ea typeface="Hiragino Kaku Gothic StdN W8"/>
              </a:rPr>
              <a:t>クラウドコストは 95% 削減できる。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3600000"/>
            <a:ext cx="669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視聴開始時にのみエッジが動く「オンデマンド方式」と、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RTSP → ffmpeg → WebRTC の重いスタックを必要時のみに絞った「JPEG ポーリング方式」の組み合わせで、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大規模化でも 1 店舗あたり月額 ¥58 のクラウドコストを実現。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4680000"/>
            <a:ext cx="3276000" cy="18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4824000"/>
            <a:ext cx="468000" cy="46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00" y="4824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2563EB"/>
                </a:solidFill>
                <a:latin typeface="Hiragino Kaku Gothic ProN"/>
                <a:ea typeface="Hiragino Kaku Gothic ProN"/>
              </a:rPr>
              <a:t>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000" y="4824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16 分割 監視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" y="5472000"/>
            <a:ext cx="2988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店舗選択で即座に 4×4 グリッド開始。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Frigate API から 16 カメラの JPEG を並列取得し、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サーバ側で合成して 5 秒間隔で配信。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52000" y="4680000"/>
            <a:ext cx="3276000" cy="18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96000" y="4824000"/>
            <a:ext cx="468000" cy="46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6000" y="4824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2563EB"/>
                </a:solidFill>
                <a:latin typeface="Hiragino Kaku Gothic ProN"/>
                <a:ea typeface="Hiragino Kaku Gothic ProN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000" y="4824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シングルライブ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6000" y="5472000"/>
            <a:ext cx="2988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セルクリックで対象カメラだけを 1 秒間隔で配信。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WebRTC 不要のため起動が速く、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通信量も最小限。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6660000"/>
            <a:ext cx="3276000" cy="18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00" y="6804000"/>
            <a:ext cx="468000" cy="46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00" y="6804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2563EB"/>
                </a:solidFill>
                <a:latin typeface="Hiragino Kaku Gothic ProN"/>
                <a:ea typeface="Hiragino Kaku Gothic ProN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000" y="6804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VOD 録画再生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" y="7452000"/>
            <a:ext cx="2988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Uniview / Frigate / i-PRO レコーダの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録画にシーク可能。LiveKit Cloud Ingress で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WebRTC 配信、画質と滑らかさを両立。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2000" y="6660000"/>
            <a:ext cx="3276000" cy="18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96000" y="6804000"/>
            <a:ext cx="468000" cy="468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96000" y="6804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2563EB"/>
                </a:solidFill>
                <a:latin typeface="Hiragino Kaku Gothic ProN"/>
                <a:ea typeface="Hiragino Kaku Gothic ProN"/>
              </a:rPr>
              <a:t>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000" y="6804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BCP / SECURITY / INFRA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96000" y="7452000"/>
            <a:ext cx="2988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J-Alert 自動クリップ、警備巡回スナップショット、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死活監視・無人ストリーム検知まで一体化。</a:t>
            </a:r>
          </a:p>
          <a:p>
            <a:pPr algn="l">
              <a:lnSpc>
                <a:spcPct val="14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PDF レポートを自動生成。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8820000"/>
            <a:ext cx="7560000" cy="1872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000" y="9000000"/>
            <a:ext cx="669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選ばれる 3 つの理由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000" y="9468000"/>
            <a:ext cx="396000" cy="39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000" y="94680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Hiragino Kaku Gothic StdN W8"/>
                <a:ea typeface="Hiragino Kaku Gothic StdN W8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000" y="94320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コスト 1 店舗 ¥58/月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6000" y="9684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10,000 店舗運用時の月額</a:t>
            </a:r>
          </a:p>
          <a:p>
            <a:pPr algn="l">
              <a:lnSpc>
                <a:spcPct val="140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クラウドコストを按分。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08000" y="9468000"/>
            <a:ext cx="396000" cy="39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08000" y="94680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Hiragino Kaku Gothic StdN W8"/>
                <a:ea typeface="Hiragino Kaku Gothic StdN W8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2000" y="94320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ポート開放不要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2000" y="9684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店舗側は HTTPS 443</a:t>
            </a:r>
          </a:p>
          <a:p>
            <a:pPr algn="l">
              <a:lnSpc>
                <a:spcPct val="140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アウトバウンドのみ。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84000" y="9468000"/>
            <a:ext cx="396000" cy="39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84000" y="94680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Hiragino Kaku Gothic StdN W8"/>
                <a:ea typeface="Hiragino Kaku Gothic StdN W8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88000" y="94320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30 分でデプロイ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8000" y="9684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Vercel + Supabase で</a:t>
            </a:r>
          </a:p>
          <a:p>
            <a:pPr algn="l">
              <a:lnSpc>
                <a:spcPct val="140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運用人員 1 名を目標。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80000" y="10404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75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front /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54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44000"/>
            <a:ext cx="669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FFFFFF"/>
                </a:solidFill>
                <a:latin typeface="Hiragino Kaku Gothic StdN W8"/>
                <a:ea typeface="Hiragino Kaku Gothic StdN W8"/>
              </a:rPr>
              <a:t>RECORDER MONITOR  /  詳細仕様・料金・お問い合わせ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720000"/>
            <a:ext cx="669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■ 機能一覧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6696000" cy="252000"/>
          </a:xfrm>
          <a:prstGeom prst="rect">
            <a:avLst/>
          </a:prstGeom>
          <a:solidFill>
            <a:srgbClr val="EFF6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1080000"/>
            <a:ext cx="21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0000" y="1080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PC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6000" y="1080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スマホ PWA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2000" y="1080000"/>
            <a:ext cx="288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備考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332000"/>
            <a:ext cx="6696000" cy="252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00" y="1332000"/>
            <a:ext cx="21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172A"/>
                </a:solidFill>
                <a:latin typeface="Hiragino Kaku Gothic ProN"/>
                <a:ea typeface="Hiragino Kaku Gothic ProN"/>
              </a:rPr>
              <a:t>16 分割監視（grid JPEG）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0" y="1332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000" y="1332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 2×2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2000" y="1332000"/>
            <a:ext cx="288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店舗選択で auto-start、5 秒更新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1584000"/>
            <a:ext cx="6696000" cy="252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000" y="1584000"/>
            <a:ext cx="21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172A"/>
                </a:solidFill>
                <a:latin typeface="Hiragino Kaku Gothic ProN"/>
                <a:ea typeface="Hiragino Kaku Gothic ProN"/>
              </a:rPr>
              <a:t>単一カメラライブ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0000" y="1584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000" y="1584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2000" y="1584000"/>
            <a:ext cx="288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1 秒間隔ポーリング、起動 1–2 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1836000"/>
            <a:ext cx="6696000" cy="252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1836000"/>
            <a:ext cx="21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172A"/>
                </a:solidFill>
                <a:latin typeface="Hiragino Kaku Gothic ProN"/>
                <a:ea typeface="Hiragino Kaku Gothic ProN"/>
              </a:rPr>
              <a:t>VOD 録画再生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000" y="1836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000" y="1836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2000" y="1836000"/>
            <a:ext cx="288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シークバー、最大 90 分セッション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2088000"/>
            <a:ext cx="6696000" cy="252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000" y="2088000"/>
            <a:ext cx="21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172A"/>
                </a:solidFill>
                <a:latin typeface="Hiragino Kaku Gothic ProN"/>
                <a:ea typeface="Hiragino Kaku Gothic ProN"/>
              </a:rPr>
              <a:t>BCP（J-Alert クリップ録画）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0000" y="2088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000" y="2088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閲覧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2000" y="2088000"/>
            <a:ext cx="288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ミサイル/地震/津波対応＋テスト発令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2340000"/>
            <a:ext cx="6696000" cy="252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000" y="2340000"/>
            <a:ext cx="21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172A"/>
                </a:solidFill>
                <a:latin typeface="Hiragino Kaku Gothic ProN"/>
                <a:ea typeface="Hiragino Kaku Gothic ProN"/>
              </a:rPr>
              <a:t>SECURITY（警備巡回）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0000" y="2340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000" y="2340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閲覧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2000" y="2340000"/>
            <a:ext cx="288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ベースライン差分 + AI（任意）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2592000"/>
            <a:ext cx="6696000" cy="252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4000" y="2592000"/>
            <a:ext cx="21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172A"/>
                </a:solidFill>
                <a:latin typeface="Hiragino Kaku Gothic ProN"/>
                <a:ea typeface="Hiragino Kaku Gothic ProN"/>
              </a:rPr>
              <a:t>INFRA 死活監視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0" y="2592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000" y="2592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2000" y="2592000"/>
            <a:ext cx="288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edge 死活、無人ストリーム watchdog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2844000"/>
            <a:ext cx="6696000" cy="252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000" y="2844000"/>
            <a:ext cx="21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172A"/>
                </a:solidFill>
                <a:latin typeface="Hiragino Kaku Gothic ProN"/>
                <a:ea typeface="Hiragino Kaku Gothic ProN"/>
              </a:rPr>
              <a:t>レポート PDF 自動生成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00000" y="2844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000" y="2844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閲覧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12000" y="2844000"/>
            <a:ext cx="288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BCP/SECURITY/INFRA 各種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000" y="3096000"/>
            <a:ext cx="6696000" cy="252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000" y="3096000"/>
            <a:ext cx="21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172A"/>
                </a:solidFill>
                <a:latin typeface="Hiragino Kaku Gothic ProN"/>
                <a:ea typeface="Hiragino Kaku Gothic ProN"/>
              </a:rPr>
              <a:t>マルチテナント + RBAC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00000" y="3096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56000" y="3096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12000" y="3096000"/>
            <a:ext cx="288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RLS による行レベル制御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2000" y="3348000"/>
            <a:ext cx="6696000" cy="252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000" y="3348000"/>
            <a:ext cx="21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172A"/>
                </a:solidFill>
                <a:latin typeface="Hiragino Kaku Gothic ProN"/>
                <a:ea typeface="Hiragino Kaku Gothic ProN"/>
              </a:rPr>
              <a:t>MFA 認証 + 監査ログ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0000" y="3348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6000" y="3348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12000" y="3348000"/>
            <a:ext cx="288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TOTP 必須、操作ログ 1 年保持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3600000"/>
            <a:ext cx="6696000" cy="252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4000" y="3600000"/>
            <a:ext cx="21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172A"/>
                </a:solidFill>
                <a:latin typeface="Hiragino Kaku Gothic ProN"/>
                <a:ea typeface="Hiragino Kaku Gothic ProN"/>
              </a:rPr>
              <a:t>プッシュ通知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00000" y="3600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56000" y="3600000"/>
            <a:ext cx="72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12000" y="3600000"/>
            <a:ext cx="288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Web Push（iOS 16.4+）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2000" y="4140000"/>
            <a:ext cx="34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■ アーキテクチャ概略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000" y="4500000"/>
            <a:ext cx="3420000" cy="1980000"/>
          </a:xfrm>
          <a:prstGeom prst="rect">
            <a:avLst/>
          </a:prstGeom>
          <a:solidFill>
            <a:srgbClr val="0F172A"/>
          </a:solidFill>
          <a:ln w="63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4000" y="4536000"/>
            <a:ext cx="3276000" cy="19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[現地店舗 × N]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カメラ / NVR / Frigate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        │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HTTP JPEG / RTSP / MP4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        ▼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Edge Agent (Node 22)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状態機械: Idle / Grid / Live / VOD / BCP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        │ Outbound HTTPS 443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        ▼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[クラウド]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Vercel  (Next.js 16)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Supabase (Postgres + Auth + Storage)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LiveKit Cloud  ※ VOD のみ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E2E8F0"/>
                </a:solidFill>
                <a:latin typeface="SF Mono"/>
                <a:ea typeface="SF Mono"/>
              </a:rPr>
              <a:t>  Cloudflare (CDN + WAF)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32000" y="4140000"/>
            <a:ext cx="309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■ 料金（参考・税抜）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32000" y="4500000"/>
            <a:ext cx="3096000" cy="288000"/>
          </a:xfrm>
          <a:prstGeom prst="rect">
            <a:avLst/>
          </a:prstGeom>
          <a:solidFill>
            <a:srgbClr val="EFF6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04000" y="4500000"/>
            <a:ext cx="108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規模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84000" y="4500000"/>
            <a:ext cx="108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月額合計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0000" y="4500000"/>
            <a:ext cx="7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1 店舗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32000" y="4788000"/>
            <a:ext cx="3096000" cy="288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04000" y="4788000"/>
            <a:ext cx="108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F172A"/>
                </a:solidFill>
                <a:latin typeface="Hiragino Kaku Gothic StdN W8"/>
                <a:ea typeface="Hiragino Kaku Gothic StdN W8"/>
              </a:rPr>
              <a:t>100 店舗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84000" y="4788000"/>
            <a:ext cx="108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¥ 33,175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0000" y="4788000"/>
            <a:ext cx="7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>
                <a:solidFill>
                  <a:srgbClr val="2563EB"/>
                </a:solidFill>
                <a:latin typeface="Hiragino Kaku Gothic StdN W8"/>
                <a:ea typeface="Hiragino Kaku Gothic StdN W8"/>
              </a:rPr>
              <a:t>¥ 332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32000" y="5076000"/>
            <a:ext cx="3096000" cy="288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04000" y="5076000"/>
            <a:ext cx="108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F172A"/>
                </a:solidFill>
                <a:latin typeface="Hiragino Kaku Gothic StdN W8"/>
                <a:ea typeface="Hiragino Kaku Gothic StdN W8"/>
              </a:rPr>
              <a:t>1,000 店舗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84000" y="5076000"/>
            <a:ext cx="108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¥ 208,900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0000" y="5076000"/>
            <a:ext cx="7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>
                <a:solidFill>
                  <a:srgbClr val="2563EB"/>
                </a:solidFill>
                <a:latin typeface="Hiragino Kaku Gothic StdN W8"/>
                <a:ea typeface="Hiragino Kaku Gothic StdN W8"/>
              </a:rPr>
              <a:t>¥ 209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32000" y="5364000"/>
            <a:ext cx="3096000" cy="288000"/>
          </a:xfrm>
          <a:prstGeom prst="rect">
            <a:avLst/>
          </a:prstGeom>
          <a:noFill/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04000" y="5364000"/>
            <a:ext cx="108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F172A"/>
                </a:solidFill>
                <a:latin typeface="Hiragino Kaku Gothic StdN W8"/>
                <a:ea typeface="Hiragino Kaku Gothic StdN W8"/>
              </a:rPr>
              <a:t>10,000 店舗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84000" y="5364000"/>
            <a:ext cx="108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¥ 578,500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0000" y="5364000"/>
            <a:ext cx="7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>
                <a:solidFill>
                  <a:srgbClr val="2563EB"/>
                </a:solidFill>
                <a:latin typeface="Hiragino Kaku Gothic StdN W8"/>
                <a:ea typeface="Hiragino Kaku Gothic StdN W8"/>
              </a:rPr>
              <a:t>¥ 58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32000" y="5760000"/>
            <a:ext cx="309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※ Vercel / Supabase / LiveKit / Cloudflare /</a:t>
            </a:r>
          </a:p>
          <a:p>
            <a:pPr algn="l">
              <a:lnSpc>
                <a:spcPct val="14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観測 (Better Stack 等) の合算、為替 ¥155/$1。</a:t>
            </a:r>
          </a:p>
          <a:p>
            <a:pPr algn="l">
              <a:lnSpc>
                <a:spcPct val="14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別途、エッジサーバ機材 ¥45,000/台前後。</a:t>
            </a:r>
          </a:p>
          <a:p>
            <a:pPr algn="l">
              <a:lnSpc>
                <a:spcPct val="145000"/>
              </a:lnSpc>
            </a:pPr>
            <a:r>
              <a:rPr sz="800" b="0">
                <a:solidFill>
                  <a:srgbClr val="64748B"/>
                </a:solidFill>
                <a:latin typeface="Hiragino Kaku Gothic ProN"/>
                <a:ea typeface="Hiragino Kaku Gothic ProN"/>
              </a:rPr>
              <a:t>現地設置・LTE バックアップ等は別途お見積。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2000" y="6660000"/>
            <a:ext cx="669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■ 動作環境・対応機器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2000" y="7020000"/>
            <a:ext cx="3276000" cy="7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0000" y="7092000"/>
            <a:ext cx="30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対応レコーダ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0000" y="7308000"/>
            <a:ext cx="30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i-PRO（WJ-NX410/510/NU101 ほか）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Uniview（NVR301/302/304 系）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Frigate（OSS + go2rtc 構成）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52000" y="7020000"/>
            <a:ext cx="3276000" cy="7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60000" y="7092000"/>
            <a:ext cx="30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クライアント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60000" y="7308000"/>
            <a:ext cx="30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デスクトップ: Chrome / Safari 最新版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モバイル: iOS 16.4+ / Android 12+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PWA インストール対応（ホーム画面追加）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2000" y="7920000"/>
            <a:ext cx="3276000" cy="7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0000" y="7992000"/>
            <a:ext cx="30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クラウド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0000" y="8208000"/>
            <a:ext cx="30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Vercel (Pro/Enterprise)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Supabase (Team/Enterprise)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LiveKit Cloud (Scale)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852000" y="7920000"/>
            <a:ext cx="3276000" cy="7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960000" y="7992000"/>
            <a:ext cx="30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E3A8A"/>
                </a:solidFill>
                <a:latin typeface="Hiragino Kaku Gothic StdN W8"/>
                <a:ea typeface="Hiragino Kaku Gothic StdN W8"/>
              </a:rPr>
              <a:t>ネットワーク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60000" y="8208000"/>
            <a:ext cx="30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店舗側: アウトバウンド HTTPS 443 のみ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UPS / LTE バックアップ任意（推奨）</a:t>
            </a:r>
          </a:p>
          <a:p>
            <a:pPr algn="l">
              <a:lnSpc>
                <a:spcPct val="140000"/>
              </a:lnSpc>
            </a:pPr>
            <a:r>
              <a:rPr sz="800" b="0">
                <a:solidFill>
                  <a:srgbClr val="334155"/>
                </a:solidFill>
                <a:latin typeface="Hiragino Kaku Gothic ProN"/>
                <a:ea typeface="Hiragino Kaku Gothic ProN"/>
              </a:rPr>
              <a:t>プロキシ環境 対応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9180000"/>
            <a:ext cx="7560000" cy="151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2000" y="9360000"/>
            <a:ext cx="669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Hiragino Kaku Gothic StdN W8"/>
                <a:ea typeface="Hiragino Kaku Gothic StdN W8"/>
              </a:rPr>
              <a:t>お問い合わせ・無料 PoC（パイロット 3 店舗）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2000" y="9720000"/>
            <a:ext cx="669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950" b="0">
                <a:solidFill>
                  <a:srgbClr val="DBEAFE"/>
                </a:solidFill>
                <a:latin typeface="Hiragino Kaku Gothic ProN"/>
                <a:ea typeface="Hiragino Kaku Gothic ProN"/>
              </a:rPr>
              <a:t>3 店舗規模のパイロット（1 か月）から開始可能です。</a:t>
            </a:r>
          </a:p>
          <a:p>
            <a:pPr algn="l">
              <a:lnSpc>
                <a:spcPct val="160000"/>
              </a:lnSpc>
            </a:pPr>
            <a:r>
              <a:rPr sz="950" b="0">
                <a:solidFill>
                  <a:srgbClr val="DBEAFE"/>
                </a:solidFill>
                <a:latin typeface="Hiragino Kaku Gothic ProN"/>
                <a:ea typeface="Hiragino Kaku Gothic ProN"/>
              </a:rPr>
              <a:t>実機 / クラウド / UX のすべてを現場でご確認いただいた上で、本展開へ。</a:t>
            </a:r>
          </a:p>
          <a:p>
            <a:pPr algn="l">
              <a:lnSpc>
                <a:spcPct val="160000"/>
              </a:lnSpc>
            </a:pPr>
            <a:r>
              <a:rPr sz="950" b="0">
                <a:solidFill>
                  <a:srgbClr val="DBEAFE"/>
                </a:solidFill>
                <a:latin typeface="Hiragino Kaku Gothic ProN"/>
                <a:ea typeface="Hiragino Kaku Gothic ProN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950" b="0">
                <a:solidFill>
                  <a:srgbClr val="DBEAFE"/>
                </a:solidFill>
                <a:latin typeface="Hiragino Kaku Gothic ProN"/>
                <a:ea typeface="Hiragino Kaku Gothic ProN"/>
              </a:rPr>
              <a:t>TEL  03-0000-0000      MAIL  sales@example.com      WEB  https://example.com/recorder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80000" y="10404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750" b="0">
                <a:solidFill>
                  <a:srgbClr val="CBD5E1"/>
                </a:solidFill>
                <a:latin typeface="Hiragino Kaku Gothic ProN"/>
                <a:ea typeface="Hiragino Kaku Gothic ProN"/>
              </a:rPr>
              <a:t>back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