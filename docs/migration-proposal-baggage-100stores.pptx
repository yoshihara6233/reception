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A2A2C"/>
                </a:solidFill>
                <a:latin typeface="Yu Gothic"/>
              </a:defRPr>
            </a:pPr>
            <a:r>
              <a:rPr sz="1200" b="0" i="0" u="none" strike="noStrike">
                <a:solidFill>
                  <a:srgbClr val="2A2A2C"/>
                </a:solidFill>
                <a:latin typeface="Yu Gothic"/>
              </a:rPr>
              <a:t>100 店舗・1 ヶ月の上り通信量（TB）</a:t>
            </a:r>
          </a:p>
        </c:rich>
      </c:tx>
      <c:layout/>
      <c:overlay val="0"/>
    </c:title>
    <c:autoTitleDeleted val="0"/>
    <c:plotArea>
      <c:layout/>
      <c:barChart>
        <c:barDir val="bar"/>
        <c:grouping val="clustered"/>
        <c:varyColors val="0"/>
        <c:ser>
          <c:idx val="0"/>
          <c:order val="0"/>
          <c:tx>
            <c:strRef>
              <c:f>Sheet1!$B$1</c:f>
              <c:strCache>
                <c:ptCount val="1"/>
                <c:pt idx="0">
                  <c:v>上り通信量</c:v>
                </c:pt>
              </c:strCache>
            </c:strRef>
          </c:tx>
          <c:spPr>
            <a:solidFill>
              <a:srgbClr val="B9B0A0"/>
            </a:solidFill>
            <a:effectLst/>
          </c:spPr>
          <c:invertIfNegative val="0"/>
          <c:dLbls>
            <c:numFmt formatCode="0.0&quot; TB&quot;" sourceLinked="0"/>
            <c:txPr>
              <a:bodyPr/>
              <a:lstStyle/>
              <a:p>
                <a:pPr>
                  <a:defRPr b="0" i="0" strike="noStrike" sz="1300" u="none">
                    <a:solidFill>
                      <a:srgbClr val="0F0F10"/>
                    </a:solidFill>
                    <a:latin typeface="Yu Gothic"/>
                  </a:defRPr>
                </a:pPr>
              </a:p>
            </c:txPr>
            <c:showLegendKey val="0"/>
            <c:showVal val="1"/>
            <c:showCatName val="0"/>
            <c:showSerName val="0"/>
            <c:showPercent val="0"/>
            <c:showBubbleSize val="0"/>
            <c:showLeaderLines val="0"/>
          </c:dLbls>
          <c:dPt>
            <c:idx val="0"/>
            <c:invertIfNegative val="0"/>
            <c:bubble3D val="0"/>
            <c:spPr>
              <a:solidFill>
                <a:srgbClr val="B9B0A0"/>
              </a:solidFill>
              <a:effectLst/>
            </c:spPr>
          </c:dPt>
          <c:dPt>
            <c:idx val="1"/>
            <c:invertIfNegative val="0"/>
            <c:bubble3D val="0"/>
            <c:spPr>
              <a:solidFill>
                <a:srgbClr val="2C4A7E"/>
              </a:solidFill>
              <a:effectLst/>
            </c:spPr>
          </c:dPt>
          <c:cat>
            <c:multiLvlStrRef>
              <c:f>Sheet1!$A$2:$A$3</c:f>
              <c:multiLvlStrCache>
                <c:ptCount val="2"/>
                <c:lvl>
                  <c:pt idx="0">
                    <c:v>現行</c:v>
                  </c:pt>
                  <c:pt idx="1">
                    <c:v>ご提案</c:v>
                  </c:pt>
                </c:lvl>
              </c:multiLvlStrCache>
            </c:multiLvlStrRef>
          </c:cat>
          <c:val>
            <c:numRef>
              <c:f>Sheet1!$B$2:$B$3</c:f>
              <c:numCache>
                <c:formatCode>General</c:formatCode>
                <c:ptCount val="2"/>
                <c:pt idx="0">
                  <c:v>49.8</c:v>
                </c:pt>
                <c:pt idx="1">
                  <c:v>1.4</c:v>
                </c:pt>
              </c:numCache>
            </c:numRef>
          </c:val>
        </c:ser>
        <c:dLbls>
          <c:numFmt formatCode="0.0&quot; TB&quot;" sourceLinked="0"/>
          <c:txPr>
            <a:bodyPr/>
            <a:lstStyle/>
            <a:p>
              <a:pPr>
                <a:defRPr b="0" i="0" strike="noStrike" sz="1300" u="none">
                  <a:solidFill>
                    <a:srgbClr val="0F0F10"/>
                  </a:solidFill>
                  <a:latin typeface="Yu Gothic"/>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A2A2C"/>
                </a:solidFill>
                <a:latin typeface="Yu Gothic"/>
              </a:defRPr>
            </a:pPr>
            <a:endParaRPr lang="en-US"/>
          </a:p>
        </c:txPr>
        <c:crossAx val="2094734552"/>
        <c:crosses val="autoZero"/>
        <c:auto val="1"/>
        <c:lblAlgn val="ctr"/>
        <c:noMultiLvlLbl val="1"/>
      </c:catAx>
      <c:valAx>
        <c:axId val="2094734552"/>
        <c:scaling>
          <c:orientation val="minMax"/>
          <c:max val="70"/>
          <c:min val="0"/>
        </c:scaling>
        <c:delete val="0"/>
        <c:axPos val="b"/>
        <c:majorGridlines>
          <c:spPr>
            <a:ln w="9525" cap="flat">
              <a:solidFill>
                <a:srgbClr val="D6CFC1"/>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5B5F"/>
                </a:solidFill>
                <a:latin typeface="Yu Gothic"/>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w="9525" cap="flat">
      <a:solidFill>
        <a:srgbClr val="D6CFC1"/>
      </a:solid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本提案は暫定版。要確認項目は技術検証の完了をもって確定する。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0F10"/>
        </a:solidFill>
      </p:bgPr>
    </p:bg>
    <p:spTree>
      <p:nvGrpSpPr>
        <p:cNvPr id="1" name=""/>
        <p:cNvGrpSpPr/>
        <p:nvPr/>
      </p:nvGrpSpPr>
      <p:grpSpPr>
        <a:xfrm>
          <a:off x="0" y="0"/>
          <a:ext cx="0" cy="0"/>
          <a:chOff x="0" y="0"/>
          <a:chExt cx="0" cy="0"/>
        </a:xfrm>
      </p:grpSpPr>
      <p:sp>
        <p:nvSpPr>
          <p:cNvPr id="2" name="Text 0"/>
          <p:cNvSpPr/>
          <p:nvPr/>
        </p:nvSpPr>
        <p:spPr>
          <a:xfrm>
            <a:off x="566928" y="1115568"/>
            <a:ext cx="11057839" cy="274320"/>
          </a:xfrm>
          <a:prstGeom prst="rect">
            <a:avLst/>
          </a:prstGeom>
          <a:noFill/>
          <a:ln/>
        </p:spPr>
        <p:txBody>
          <a:bodyPr wrap="square" lIns="0" tIns="0" rIns="0" bIns="0" rtlCol="0" anchor="ctr"/>
          <a:lstStyle/>
          <a:p>
            <a:pPr indent="0" marL="0">
              <a:buNone/>
            </a:pPr>
            <a:r>
              <a:rPr lang="en-US" sz="1200" spc="400" kern="0" dirty="0">
                <a:solidFill>
                  <a:srgbClr val="9AA7BF"/>
                </a:solidFill>
                <a:latin typeface="Yu Gothic" pitchFamily="34" charset="0"/>
                <a:ea typeface="Yu Gothic" pitchFamily="34" charset="-122"/>
                <a:cs typeface="Yu Gothic" pitchFamily="34" charset="-120"/>
              </a:rPr>
              <a:t>MIGRATION PROPOSAL</a:t>
            </a:r>
            <a:endParaRPr lang="en-US" sz="1200" dirty="0"/>
          </a:p>
        </p:txBody>
      </p:sp>
      <p:sp>
        <p:nvSpPr>
          <p:cNvPr id="3" name="Text 1"/>
          <p:cNvSpPr/>
          <p:nvPr/>
        </p:nvSpPr>
        <p:spPr>
          <a:xfrm>
            <a:off x="566928" y="1554480"/>
            <a:ext cx="11057839" cy="1554480"/>
          </a:xfrm>
          <a:prstGeom prst="rect">
            <a:avLst/>
          </a:prstGeom>
          <a:noFill/>
          <a:ln/>
        </p:spPr>
        <p:txBody>
          <a:bodyPr wrap="square" lIns="0" tIns="0" rIns="0" bIns="0" rtlCol="0" anchor="t"/>
          <a:lstStyle/>
          <a:p>
            <a:pPr indent="0" marL="0">
              <a:lnSpc>
                <a:spcPct val="125000"/>
              </a:lnSpc>
              <a:buNone/>
            </a:pPr>
            <a:r>
              <a:rPr lang="en-US" sz="4000" b="1" dirty="0">
                <a:solidFill>
                  <a:srgbClr val="F2F0EC"/>
                </a:solidFill>
                <a:latin typeface="Yu Gothic" pitchFamily="34" charset="0"/>
                <a:ea typeface="Yu Gothic" pitchFamily="34" charset="-122"/>
                <a:cs typeface="Yu Gothic" pitchFamily="34" charset="-120"/>
              </a:rPr>
              <a:t>手荷物検査システム</a:t>
            </a:r>
            <a:endParaRPr lang="en-US" sz="4000" dirty="0"/>
          </a:p>
          <a:p>
            <a:pPr indent="0" marL="0">
              <a:lnSpc>
                <a:spcPct val="125000"/>
              </a:lnSpc>
              <a:buNone/>
            </a:pPr>
            <a:r>
              <a:rPr lang="en-US" sz="4000" b="1" dirty="0">
                <a:solidFill>
                  <a:srgbClr val="F2F0EC"/>
                </a:solidFill>
                <a:latin typeface="Yu Gothic" pitchFamily="34" charset="0"/>
                <a:ea typeface="Yu Gothic" pitchFamily="34" charset="-122"/>
                <a:cs typeface="Yu Gothic" pitchFamily="34" charset="-120"/>
              </a:rPr>
              <a:t>リプレイスのご提案</a:t>
            </a:r>
            <a:endParaRPr lang="en-US" sz="4000" dirty="0"/>
          </a:p>
        </p:txBody>
      </p:sp>
      <p:sp>
        <p:nvSpPr>
          <p:cNvPr id="4" name="Text 2"/>
          <p:cNvSpPr/>
          <p:nvPr/>
        </p:nvSpPr>
        <p:spPr>
          <a:xfrm>
            <a:off x="566928" y="3310128"/>
            <a:ext cx="11057839" cy="365760"/>
          </a:xfrm>
          <a:prstGeom prst="rect">
            <a:avLst/>
          </a:prstGeom>
          <a:noFill/>
          <a:ln/>
        </p:spPr>
        <p:txBody>
          <a:bodyPr wrap="square" lIns="0" tIns="0" rIns="0" bIns="0" rtlCol="0" anchor="t"/>
          <a:lstStyle/>
          <a:p>
            <a:pPr indent="0" marL="0">
              <a:buNone/>
            </a:pPr>
            <a:r>
              <a:rPr lang="en-US" sz="1500" dirty="0">
                <a:solidFill>
                  <a:srgbClr val="B9B0A0"/>
                </a:solidFill>
                <a:latin typeface="Yu Gothic" pitchFamily="34" charset="0"/>
                <a:ea typeface="Yu Gothic" pitchFamily="34" charset="-122"/>
                <a:cs typeface="Yu Gothic" pitchFamily="34" charset="-120"/>
              </a:rPr>
              <a:t>既設のレコーダーと中継機をそのまま活かし、クラウド録画サービスを不要にします。</a:t>
            </a:r>
            <a:endParaRPr lang="en-US" sz="1500" dirty="0"/>
          </a:p>
        </p:txBody>
      </p:sp>
      <p:sp>
        <p:nvSpPr>
          <p:cNvPr id="5" name="Text 3"/>
          <p:cNvSpPr/>
          <p:nvPr/>
        </p:nvSpPr>
        <p:spPr>
          <a:xfrm>
            <a:off x="566928" y="4498848"/>
            <a:ext cx="2651760" cy="237744"/>
          </a:xfrm>
          <a:prstGeom prst="rect">
            <a:avLst/>
          </a:prstGeom>
          <a:noFill/>
          <a:ln/>
        </p:spPr>
        <p:txBody>
          <a:bodyPr wrap="square" lIns="0" tIns="0" rIns="0" bIns="0" rtlCol="0" anchor="t"/>
          <a:lstStyle/>
          <a:p>
            <a:pPr indent="0" marL="0">
              <a:buNone/>
            </a:pPr>
            <a:r>
              <a:rPr lang="en-US" sz="1050" dirty="0">
                <a:solidFill>
                  <a:srgbClr val="8B8B90"/>
                </a:solidFill>
                <a:latin typeface="Yu Gothic" pitchFamily="34" charset="0"/>
                <a:ea typeface="Yu Gothic" pitchFamily="34" charset="-122"/>
                <a:cs typeface="Yu Gothic" pitchFamily="34" charset="-120"/>
              </a:rPr>
              <a:t>対象店舗</a:t>
            </a:r>
            <a:endParaRPr lang="en-US" sz="1050" dirty="0"/>
          </a:p>
        </p:txBody>
      </p:sp>
      <p:sp>
        <p:nvSpPr>
          <p:cNvPr id="6" name="Text 4"/>
          <p:cNvSpPr/>
          <p:nvPr/>
        </p:nvSpPr>
        <p:spPr>
          <a:xfrm>
            <a:off x="566928" y="4754880"/>
            <a:ext cx="2651760" cy="329184"/>
          </a:xfrm>
          <a:prstGeom prst="rect">
            <a:avLst/>
          </a:prstGeom>
          <a:noFill/>
          <a:ln/>
        </p:spPr>
        <p:txBody>
          <a:bodyPr wrap="square" lIns="0" tIns="0" rIns="0" bIns="0" rtlCol="0" anchor="t"/>
          <a:lstStyle/>
          <a:p>
            <a:pPr indent="0" marL="0">
              <a:buNone/>
            </a:pPr>
            <a:r>
              <a:rPr lang="en-US" sz="1600" b="1" dirty="0">
                <a:solidFill>
                  <a:srgbClr val="F2F0EC"/>
                </a:solidFill>
                <a:latin typeface="Yu Gothic" pitchFamily="34" charset="0"/>
                <a:ea typeface="Yu Gothic" pitchFamily="34" charset="-122"/>
                <a:cs typeface="Yu Gothic" pitchFamily="34" charset="-120"/>
              </a:rPr>
              <a:t>100 店舗</a:t>
            </a:r>
            <a:endParaRPr lang="en-US" sz="1600" dirty="0"/>
          </a:p>
        </p:txBody>
      </p:sp>
      <p:sp>
        <p:nvSpPr>
          <p:cNvPr id="7" name="Text 5"/>
          <p:cNvSpPr/>
          <p:nvPr/>
        </p:nvSpPr>
        <p:spPr>
          <a:xfrm>
            <a:off x="3355848" y="4498848"/>
            <a:ext cx="2651760" cy="237744"/>
          </a:xfrm>
          <a:prstGeom prst="rect">
            <a:avLst/>
          </a:prstGeom>
          <a:noFill/>
          <a:ln/>
        </p:spPr>
        <p:txBody>
          <a:bodyPr wrap="square" lIns="0" tIns="0" rIns="0" bIns="0" rtlCol="0" anchor="t"/>
          <a:lstStyle/>
          <a:p>
            <a:pPr indent="0" marL="0">
              <a:buNone/>
            </a:pPr>
            <a:r>
              <a:rPr lang="en-US" sz="1050" dirty="0">
                <a:solidFill>
                  <a:srgbClr val="8B8B90"/>
                </a:solidFill>
                <a:latin typeface="Yu Gothic" pitchFamily="34" charset="0"/>
                <a:ea typeface="Yu Gothic" pitchFamily="34" charset="-122"/>
                <a:cs typeface="Yu Gothic" pitchFamily="34" charset="-120"/>
              </a:rPr>
              <a:t>既設レコーダー</a:t>
            </a:r>
            <a:endParaRPr lang="en-US" sz="1050" dirty="0"/>
          </a:p>
        </p:txBody>
      </p:sp>
      <p:sp>
        <p:nvSpPr>
          <p:cNvPr id="8" name="Text 6"/>
          <p:cNvSpPr/>
          <p:nvPr/>
        </p:nvSpPr>
        <p:spPr>
          <a:xfrm>
            <a:off x="3355848" y="4754880"/>
            <a:ext cx="2651760" cy="329184"/>
          </a:xfrm>
          <a:prstGeom prst="rect">
            <a:avLst/>
          </a:prstGeom>
          <a:noFill/>
          <a:ln/>
        </p:spPr>
        <p:txBody>
          <a:bodyPr wrap="square" lIns="0" tIns="0" rIns="0" bIns="0" rtlCol="0" anchor="t"/>
          <a:lstStyle/>
          <a:p>
            <a:pPr indent="0" marL="0">
              <a:buNone/>
            </a:pPr>
            <a:r>
              <a:rPr lang="en-US" sz="1600" b="1" dirty="0">
                <a:solidFill>
                  <a:srgbClr val="F2F0EC"/>
                </a:solidFill>
                <a:latin typeface="Yu Gothic" pitchFamily="34" charset="0"/>
                <a:ea typeface="Yu Gothic" pitchFamily="34" charset="-122"/>
                <a:cs typeface="Yu Gothic" pitchFamily="34" charset="-120"/>
              </a:rPr>
              <a:t>i-PRO WJ-NU101</a:t>
            </a:r>
            <a:endParaRPr lang="en-US" sz="1600" dirty="0"/>
          </a:p>
        </p:txBody>
      </p:sp>
      <p:sp>
        <p:nvSpPr>
          <p:cNvPr id="9" name="Text 7"/>
          <p:cNvSpPr/>
          <p:nvPr/>
        </p:nvSpPr>
        <p:spPr>
          <a:xfrm>
            <a:off x="6144768" y="4498848"/>
            <a:ext cx="2651760" cy="237744"/>
          </a:xfrm>
          <a:prstGeom prst="rect">
            <a:avLst/>
          </a:prstGeom>
          <a:noFill/>
          <a:ln/>
        </p:spPr>
        <p:txBody>
          <a:bodyPr wrap="square" lIns="0" tIns="0" rIns="0" bIns="0" rtlCol="0" anchor="t"/>
          <a:lstStyle/>
          <a:p>
            <a:pPr indent="0" marL="0">
              <a:buNone/>
            </a:pPr>
            <a:r>
              <a:rPr lang="en-US" sz="1050" dirty="0">
                <a:solidFill>
                  <a:srgbClr val="8B8B90"/>
                </a:solidFill>
                <a:latin typeface="Yu Gothic" pitchFamily="34" charset="0"/>
                <a:ea typeface="Yu Gothic" pitchFamily="34" charset="-122"/>
                <a:cs typeface="Yu Gothic" pitchFamily="34" charset="-120"/>
              </a:rPr>
              <a:t>既設中継機</a:t>
            </a:r>
            <a:endParaRPr lang="en-US" sz="1050" dirty="0"/>
          </a:p>
        </p:txBody>
      </p:sp>
      <p:sp>
        <p:nvSpPr>
          <p:cNvPr id="10" name="Text 8"/>
          <p:cNvSpPr/>
          <p:nvPr/>
        </p:nvSpPr>
        <p:spPr>
          <a:xfrm>
            <a:off x="6144768" y="4754880"/>
            <a:ext cx="2651760" cy="329184"/>
          </a:xfrm>
          <a:prstGeom prst="rect">
            <a:avLst/>
          </a:prstGeom>
          <a:noFill/>
          <a:ln/>
        </p:spPr>
        <p:txBody>
          <a:bodyPr wrap="square" lIns="0" tIns="0" rIns="0" bIns="0" rtlCol="0" anchor="t"/>
          <a:lstStyle/>
          <a:p>
            <a:pPr indent="0" marL="0">
              <a:buNone/>
            </a:pPr>
            <a:r>
              <a:rPr lang="en-US" sz="1600" b="1" dirty="0">
                <a:solidFill>
                  <a:srgbClr val="F2F0EC"/>
                </a:solidFill>
                <a:latin typeface="Yu Gothic" pitchFamily="34" charset="0"/>
                <a:ea typeface="Yu Gothic" pitchFamily="34" charset="-122"/>
                <a:cs typeface="Yu Gothic" pitchFamily="34" charset="-120"/>
              </a:rPr>
              <a:t>FutureNet MA-E320</a:t>
            </a:r>
            <a:endParaRPr lang="en-US" sz="1600" dirty="0"/>
          </a:p>
        </p:txBody>
      </p:sp>
      <p:sp>
        <p:nvSpPr>
          <p:cNvPr id="11" name="Text 9"/>
          <p:cNvSpPr/>
          <p:nvPr/>
        </p:nvSpPr>
        <p:spPr>
          <a:xfrm>
            <a:off x="8933688" y="4498848"/>
            <a:ext cx="2651760" cy="237744"/>
          </a:xfrm>
          <a:prstGeom prst="rect">
            <a:avLst/>
          </a:prstGeom>
          <a:noFill/>
          <a:ln/>
        </p:spPr>
        <p:txBody>
          <a:bodyPr wrap="square" lIns="0" tIns="0" rIns="0" bIns="0" rtlCol="0" anchor="t"/>
          <a:lstStyle/>
          <a:p>
            <a:pPr indent="0" marL="0">
              <a:buNone/>
            </a:pPr>
            <a:r>
              <a:rPr lang="en-US" sz="1050" dirty="0">
                <a:solidFill>
                  <a:srgbClr val="8B8B90"/>
                </a:solidFill>
                <a:latin typeface="Yu Gothic" pitchFamily="34" charset="0"/>
                <a:ea typeface="Yu Gothic" pitchFamily="34" charset="-122"/>
                <a:cs typeface="Yu Gothic" pitchFamily="34" charset="-120"/>
              </a:rPr>
              <a:t>中継機の新規調達</a:t>
            </a:r>
            <a:endParaRPr lang="en-US" sz="1050" dirty="0"/>
          </a:p>
        </p:txBody>
      </p:sp>
      <p:sp>
        <p:nvSpPr>
          <p:cNvPr id="12" name="Text 10"/>
          <p:cNvSpPr/>
          <p:nvPr/>
        </p:nvSpPr>
        <p:spPr>
          <a:xfrm>
            <a:off x="8933688" y="4754880"/>
            <a:ext cx="2651760" cy="329184"/>
          </a:xfrm>
          <a:prstGeom prst="rect">
            <a:avLst/>
          </a:prstGeom>
          <a:noFill/>
          <a:ln/>
        </p:spPr>
        <p:txBody>
          <a:bodyPr wrap="square" lIns="0" tIns="0" rIns="0" bIns="0" rtlCol="0" anchor="t"/>
          <a:lstStyle/>
          <a:p>
            <a:pPr indent="0" marL="0">
              <a:buNone/>
            </a:pPr>
            <a:r>
              <a:rPr lang="en-US" sz="1600" b="1" dirty="0">
                <a:solidFill>
                  <a:srgbClr val="6A90C8"/>
                </a:solidFill>
                <a:latin typeface="Yu Gothic" pitchFamily="34" charset="0"/>
                <a:ea typeface="Yu Gothic" pitchFamily="34" charset="-122"/>
                <a:cs typeface="Yu Gothic" pitchFamily="34" charset="-120"/>
              </a:rPr>
              <a:t>0 台</a:t>
            </a:r>
            <a:endParaRPr lang="en-US" sz="1600" dirty="0"/>
          </a:p>
        </p:txBody>
      </p:sp>
      <p:sp>
        <p:nvSpPr>
          <p:cNvPr id="13" name="Text 11"/>
          <p:cNvSpPr/>
          <p:nvPr/>
        </p:nvSpPr>
        <p:spPr>
          <a:xfrm>
            <a:off x="566928" y="6199632"/>
            <a:ext cx="11057839" cy="274320"/>
          </a:xfrm>
          <a:prstGeom prst="rect">
            <a:avLst/>
          </a:prstGeom>
          <a:noFill/>
          <a:ln/>
        </p:spPr>
        <p:txBody>
          <a:bodyPr wrap="square" lIns="0" tIns="0" rIns="0" bIns="0" rtlCol="0" anchor="ctr"/>
          <a:lstStyle/>
          <a:p>
            <a:pPr indent="0" marL="0">
              <a:buNone/>
            </a:pPr>
            <a:r>
              <a:rPr lang="en-US" sz="1100" dirty="0">
                <a:solidFill>
                  <a:srgbClr val="8B8B90"/>
                </a:solidFill>
                <a:latin typeface="Yu Gothic" pitchFamily="34" charset="0"/>
                <a:ea typeface="Yu Gothic" pitchFamily="34" charset="-122"/>
                <a:cs typeface="Yu Gothic" pitchFamily="34" charset="-120"/>
              </a:rPr>
              <a:t>Recorder Monitor ／ 株式会社ジェネシス・エッジ ／ 2026-07-30</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1"/>
        </a:solidFill>
      </p:bgPr>
    </p:bg>
    <p:spTree>
      <p:nvGrpSpPr>
        <p:cNvPr id="1" name=""/>
        <p:cNvGrpSpPr/>
        <p:nvPr/>
      </p:nvGrpSpPr>
      <p:grpSpPr>
        <a:xfrm>
          <a:off x="0" y="0"/>
          <a:ext cx="0" cy="0"/>
          <a:chOff x="0" y="0"/>
          <a:chExt cx="0" cy="0"/>
        </a:xfrm>
      </p:grpSpPr>
      <p:sp>
        <p:nvSpPr>
          <p:cNvPr id="2" name="Text 0"/>
          <p:cNvSpPr/>
          <p:nvPr/>
        </p:nvSpPr>
        <p:spPr>
          <a:xfrm>
            <a:off x="566928" y="402336"/>
            <a:ext cx="11057839" cy="475488"/>
          </a:xfrm>
          <a:prstGeom prst="rect">
            <a:avLst/>
          </a:prstGeom>
          <a:noFill/>
          <a:ln/>
        </p:spPr>
        <p:txBody>
          <a:bodyPr wrap="square" lIns="0" tIns="0" rIns="0" bIns="0" rtlCol="0" anchor="t"/>
          <a:lstStyle/>
          <a:p>
            <a:pPr indent="0" marL="0">
              <a:buNone/>
            </a:pPr>
            <a:r>
              <a:rPr lang="en-US" sz="2700" b="1" dirty="0">
                <a:solidFill>
                  <a:srgbClr val="0F0F10"/>
                </a:solidFill>
                <a:latin typeface="Yu Gothic" pitchFamily="34" charset="0"/>
                <a:ea typeface="Yu Gothic" pitchFamily="34" charset="-122"/>
                <a:cs typeface="Yu Gothic" pitchFamily="34" charset="-120"/>
              </a:rPr>
              <a:t>ご提案の要旨</a:t>
            </a:r>
            <a:endParaRPr lang="en-US" sz="2700" dirty="0"/>
          </a:p>
        </p:txBody>
      </p:sp>
      <p:sp>
        <p:nvSpPr>
          <p:cNvPr id="3" name="Text 1"/>
          <p:cNvSpPr/>
          <p:nvPr/>
        </p:nvSpPr>
        <p:spPr>
          <a:xfrm>
            <a:off x="566928" y="932688"/>
            <a:ext cx="11057839" cy="384048"/>
          </a:xfrm>
          <a:prstGeom prst="rect">
            <a:avLst/>
          </a:prstGeom>
          <a:noFill/>
          <a:ln/>
        </p:spPr>
        <p:txBody>
          <a:bodyPr wrap="square" lIns="0" tIns="0" rIns="0" bIns="0" rtlCol="0" anchor="t"/>
          <a:lstStyle/>
          <a:p>
            <a:pPr indent="0" marL="0">
              <a:lnSpc>
                <a:spcPct val="135000"/>
              </a:lnSpc>
              <a:buNone/>
            </a:pPr>
            <a:r>
              <a:rPr lang="en-US" sz="1300" dirty="0">
                <a:solidFill>
                  <a:srgbClr val="5B5B5F"/>
                </a:solidFill>
                <a:latin typeface="Yu Gothic" pitchFamily="34" charset="0"/>
                <a:ea typeface="Yu Gothic" pitchFamily="34" charset="-122"/>
                <a:cs typeface="Yu Gothic" pitchFamily="34" charset="-120"/>
              </a:rPr>
              <a:t>現在ご利用中の手荷物検査システムを、当社「Recorder Monitor」へ移行するご提案です。</a:t>
            </a:r>
            <a:endParaRPr lang="en-US" sz="1300" dirty="0"/>
          </a:p>
          <a:p>
            <a:pPr indent="0" marL="0">
              <a:lnSpc>
                <a:spcPct val="135000"/>
              </a:lnSpc>
              <a:buNone/>
            </a:pPr>
            <a:r>
              <a:rPr lang="en-US" sz="1300" dirty="0">
                <a:solidFill>
                  <a:srgbClr val="5B5B5F"/>
                </a:solidFill>
                <a:latin typeface="Yu Gothic" pitchFamily="34" charset="0"/>
                <a:ea typeface="Yu Gothic" pitchFamily="34" charset="-122"/>
                <a:cs typeface="Yu Gothic" pitchFamily="34" charset="-120"/>
              </a:rPr>
              <a:t>既設の i-PRO WJ-NU101 と FutureNet MA-E320 をそのまま流用します。新たに設置する機器はありません。</a:t>
            </a:r>
            <a:endParaRPr lang="en-US" sz="1300" dirty="0"/>
          </a:p>
        </p:txBody>
      </p:sp>
      <p:sp>
        <p:nvSpPr>
          <p:cNvPr id="4" name="Shape 2"/>
          <p:cNvSpPr/>
          <p:nvPr/>
        </p:nvSpPr>
        <p:spPr>
          <a:xfrm>
            <a:off x="566928" y="1755648"/>
            <a:ext cx="3564026" cy="2057400"/>
          </a:xfrm>
          <a:prstGeom prst="roundRect">
            <a:avLst>
              <a:gd name="adj" fmla="val 2222"/>
            </a:avLst>
          </a:prstGeom>
          <a:solidFill>
            <a:srgbClr val="FFFFFF"/>
          </a:solidFill>
          <a:ln w="12700">
            <a:solidFill>
              <a:srgbClr val="D6CFC1"/>
            </a:solidFill>
            <a:prstDash val="solid"/>
          </a:ln>
        </p:spPr>
      </p:sp>
      <p:sp>
        <p:nvSpPr>
          <p:cNvPr id="5" name="Text 3"/>
          <p:cNvSpPr/>
          <p:nvPr/>
        </p:nvSpPr>
        <p:spPr>
          <a:xfrm>
            <a:off x="822960" y="1956816"/>
            <a:ext cx="3051962" cy="237744"/>
          </a:xfrm>
          <a:prstGeom prst="rect">
            <a:avLst/>
          </a:prstGeom>
          <a:noFill/>
          <a:ln/>
        </p:spPr>
        <p:txBody>
          <a:bodyPr wrap="square" lIns="0" tIns="0" rIns="0" bIns="0" rtlCol="0" anchor="t"/>
          <a:lstStyle/>
          <a:p>
            <a:pPr indent="0" marL="0">
              <a:buNone/>
            </a:pPr>
            <a:r>
              <a:rPr lang="en-US" sz="1150" dirty="0">
                <a:solidFill>
                  <a:srgbClr val="5B5B5F"/>
                </a:solidFill>
                <a:latin typeface="Yu Gothic" pitchFamily="34" charset="0"/>
                <a:ea typeface="Yu Gothic" pitchFamily="34" charset="-122"/>
                <a:cs typeface="Yu Gothic" pitchFamily="34" charset="-120"/>
              </a:rPr>
              <a:t>クラウド録画サービス</a:t>
            </a:r>
            <a:endParaRPr lang="en-US" sz="1150" dirty="0"/>
          </a:p>
        </p:txBody>
      </p:sp>
      <p:sp>
        <p:nvSpPr>
          <p:cNvPr id="6" name="Text 4"/>
          <p:cNvSpPr/>
          <p:nvPr/>
        </p:nvSpPr>
        <p:spPr>
          <a:xfrm>
            <a:off x="822960" y="2231136"/>
            <a:ext cx="3051962" cy="530352"/>
          </a:xfrm>
          <a:prstGeom prst="rect">
            <a:avLst/>
          </a:prstGeom>
          <a:noFill/>
          <a:ln/>
        </p:spPr>
        <p:txBody>
          <a:bodyPr wrap="square" lIns="0" tIns="0" rIns="0" bIns="0" rtlCol="0" anchor="t"/>
          <a:lstStyle/>
          <a:p>
            <a:pPr indent="0" marL="0">
              <a:buNone/>
            </a:pPr>
            <a:r>
              <a:rPr lang="en-US" sz="2700" b="1" dirty="0">
                <a:solidFill>
                  <a:srgbClr val="2F7A4F"/>
                </a:solidFill>
                <a:latin typeface="Yu Gothic" pitchFamily="34" charset="0"/>
                <a:ea typeface="Yu Gothic" pitchFamily="34" charset="-122"/>
                <a:cs typeface="Yu Gothic" pitchFamily="34" charset="-120"/>
              </a:rPr>
              <a:t>不要</a:t>
            </a:r>
            <a:endParaRPr lang="en-US" sz="2700" dirty="0"/>
          </a:p>
        </p:txBody>
      </p:sp>
      <p:sp>
        <p:nvSpPr>
          <p:cNvPr id="7" name="Text 5"/>
          <p:cNvSpPr/>
          <p:nvPr/>
        </p:nvSpPr>
        <p:spPr>
          <a:xfrm>
            <a:off x="822960" y="2798064"/>
            <a:ext cx="3051962" cy="868680"/>
          </a:xfrm>
          <a:prstGeom prst="rect">
            <a:avLst/>
          </a:prstGeom>
          <a:noFill/>
          <a:ln/>
        </p:spPr>
        <p:txBody>
          <a:bodyPr wrap="square" lIns="0" tIns="0" rIns="0" bIns="0" rtlCol="0" anchor="t"/>
          <a:lstStyle/>
          <a:p>
            <a:pPr indent="0" marL="0">
              <a:lnSpc>
                <a:spcPct val="130000"/>
              </a:lnSpc>
              <a:buNone/>
            </a:pPr>
            <a:r>
              <a:rPr lang="en-US" sz="1100" dirty="0">
                <a:solidFill>
                  <a:srgbClr val="5B5B5F"/>
                </a:solidFill>
                <a:latin typeface="Yu Gothic" pitchFamily="34" charset="0"/>
                <a:ea typeface="Yu Gothic" pitchFamily="34" charset="-122"/>
                <a:cs typeface="Yu Gothic" pitchFamily="34" charset="-120"/>
              </a:rPr>
              <a:t>証跡は既設レコーダーから</a:t>
            </a:r>
            <a:endParaRPr lang="en-US" sz="1100" dirty="0"/>
          </a:p>
          <a:p>
            <a:pPr indent="0" marL="0">
              <a:lnSpc>
                <a:spcPct val="130000"/>
              </a:lnSpc>
              <a:buNone/>
            </a:pPr>
            <a:r>
              <a:rPr lang="en-US" sz="1100" dirty="0">
                <a:solidFill>
                  <a:srgbClr val="5B5B5F"/>
                </a:solidFill>
                <a:latin typeface="Yu Gothic" pitchFamily="34" charset="0"/>
                <a:ea typeface="Yu Gothic" pitchFamily="34" charset="-122"/>
                <a:cs typeface="Yu Gothic" pitchFamily="34" charset="-120"/>
              </a:rPr>
              <a:t>切り出して当社クラウドへ</a:t>
            </a:r>
            <a:endParaRPr lang="en-US" sz="1100" dirty="0"/>
          </a:p>
          <a:p>
            <a:pPr indent="0" marL="0">
              <a:lnSpc>
                <a:spcPct val="130000"/>
              </a:lnSpc>
              <a:buNone/>
            </a:pPr>
            <a:r>
              <a:rPr lang="en-US" sz="1100" dirty="0">
                <a:solidFill>
                  <a:srgbClr val="5B5B5F"/>
                </a:solidFill>
                <a:latin typeface="Yu Gothic" pitchFamily="34" charset="0"/>
                <a:ea typeface="Yu Gothic" pitchFamily="34" charset="-122"/>
                <a:cs typeface="Yu Gothic" pitchFamily="34" charset="-120"/>
              </a:rPr>
              <a:t>保管します</a:t>
            </a:r>
            <a:endParaRPr lang="en-US" sz="1100" dirty="0"/>
          </a:p>
        </p:txBody>
      </p:sp>
      <p:sp>
        <p:nvSpPr>
          <p:cNvPr id="8" name="Shape 6"/>
          <p:cNvSpPr/>
          <p:nvPr/>
        </p:nvSpPr>
        <p:spPr>
          <a:xfrm>
            <a:off x="4313834" y="1755648"/>
            <a:ext cx="3564026" cy="2057400"/>
          </a:xfrm>
          <a:prstGeom prst="roundRect">
            <a:avLst>
              <a:gd name="adj" fmla="val 2222"/>
            </a:avLst>
          </a:prstGeom>
          <a:solidFill>
            <a:srgbClr val="FFFFFF"/>
          </a:solidFill>
          <a:ln w="12700">
            <a:solidFill>
              <a:srgbClr val="D6CFC1"/>
            </a:solidFill>
            <a:prstDash val="solid"/>
          </a:ln>
        </p:spPr>
      </p:sp>
      <p:sp>
        <p:nvSpPr>
          <p:cNvPr id="9" name="Text 7"/>
          <p:cNvSpPr/>
          <p:nvPr/>
        </p:nvSpPr>
        <p:spPr>
          <a:xfrm>
            <a:off x="4569866" y="1956816"/>
            <a:ext cx="3051962" cy="237744"/>
          </a:xfrm>
          <a:prstGeom prst="rect">
            <a:avLst/>
          </a:prstGeom>
          <a:noFill/>
          <a:ln/>
        </p:spPr>
        <p:txBody>
          <a:bodyPr wrap="square" lIns="0" tIns="0" rIns="0" bIns="0" rtlCol="0" anchor="t"/>
          <a:lstStyle/>
          <a:p>
            <a:pPr indent="0" marL="0">
              <a:buNone/>
            </a:pPr>
            <a:r>
              <a:rPr lang="en-US" sz="1150" dirty="0">
                <a:solidFill>
                  <a:srgbClr val="5B5B5F"/>
                </a:solidFill>
                <a:latin typeface="Yu Gothic" pitchFamily="34" charset="0"/>
                <a:ea typeface="Yu Gothic" pitchFamily="34" charset="-122"/>
                <a:cs typeface="Yu Gothic" pitchFamily="34" charset="-120"/>
              </a:rPr>
              <a:t>店舗回線の上り通信量</a:t>
            </a:r>
            <a:endParaRPr lang="en-US" sz="1150" dirty="0"/>
          </a:p>
        </p:txBody>
      </p:sp>
      <p:sp>
        <p:nvSpPr>
          <p:cNvPr id="10" name="Text 8"/>
          <p:cNvSpPr/>
          <p:nvPr/>
        </p:nvSpPr>
        <p:spPr>
          <a:xfrm>
            <a:off x="4569866" y="2231136"/>
            <a:ext cx="3051962" cy="530352"/>
          </a:xfrm>
          <a:prstGeom prst="rect">
            <a:avLst/>
          </a:prstGeom>
          <a:noFill/>
          <a:ln/>
        </p:spPr>
        <p:txBody>
          <a:bodyPr wrap="square" lIns="0" tIns="0" rIns="0" bIns="0" rtlCol="0" anchor="t"/>
          <a:lstStyle/>
          <a:p>
            <a:pPr indent="0" marL="0">
              <a:buNone/>
            </a:pPr>
            <a:r>
              <a:rPr lang="en-US" sz="2700" b="1" dirty="0">
                <a:solidFill>
                  <a:srgbClr val="2F7A4F"/>
                </a:solidFill>
                <a:latin typeface="Yu Gothic" pitchFamily="34" charset="0"/>
                <a:ea typeface="Yu Gothic" pitchFamily="34" charset="-122"/>
                <a:cs typeface="Yu Gothic" pitchFamily="34" charset="-120"/>
              </a:rPr>
              <a:t>約 97 % 削減</a:t>
            </a:r>
            <a:endParaRPr lang="en-US" sz="2700" dirty="0"/>
          </a:p>
        </p:txBody>
      </p:sp>
      <p:sp>
        <p:nvSpPr>
          <p:cNvPr id="11" name="Text 9"/>
          <p:cNvSpPr/>
          <p:nvPr/>
        </p:nvSpPr>
        <p:spPr>
          <a:xfrm>
            <a:off x="4569866" y="2798064"/>
            <a:ext cx="3051962" cy="868680"/>
          </a:xfrm>
          <a:prstGeom prst="rect">
            <a:avLst/>
          </a:prstGeom>
          <a:noFill/>
          <a:ln/>
        </p:spPr>
        <p:txBody>
          <a:bodyPr wrap="square" lIns="0" tIns="0" rIns="0" bIns="0" rtlCol="0" anchor="t"/>
          <a:lstStyle/>
          <a:p>
            <a:pPr indent="0" marL="0">
              <a:lnSpc>
                <a:spcPct val="130000"/>
              </a:lnSpc>
              <a:buNone/>
            </a:pPr>
            <a:r>
              <a:rPr lang="en-US" sz="1100" dirty="0">
                <a:solidFill>
                  <a:srgbClr val="5B5B5F"/>
                </a:solidFill>
                <a:latin typeface="Yu Gothic" pitchFamily="34" charset="0"/>
                <a:ea typeface="Yu Gothic" pitchFamily="34" charset="-122"/>
                <a:cs typeface="Yu Gothic" pitchFamily="34" charset="-120"/>
              </a:rPr>
              <a:t>16.6 GB／日・店</a:t>
            </a:r>
            <a:endParaRPr lang="en-US" sz="1100" dirty="0"/>
          </a:p>
          <a:p>
            <a:pPr indent="0" marL="0">
              <a:lnSpc>
                <a:spcPct val="130000"/>
              </a:lnSpc>
              <a:buNone/>
            </a:pPr>
            <a:r>
              <a:rPr lang="en-US" sz="1100" dirty="0">
                <a:solidFill>
                  <a:srgbClr val="5B5B5F"/>
                </a:solidFill>
                <a:latin typeface="Yu Gothic" pitchFamily="34" charset="0"/>
                <a:ea typeface="Yu Gothic" pitchFamily="34" charset="-122"/>
                <a:cs typeface="Yu Gothic" pitchFamily="34" charset="-120"/>
              </a:rPr>
              <a:t>→ 約 460 MB／日・店</a:t>
            </a:r>
            <a:endParaRPr lang="en-US" sz="1100" dirty="0"/>
          </a:p>
        </p:txBody>
      </p:sp>
      <p:sp>
        <p:nvSpPr>
          <p:cNvPr id="12" name="Shape 10"/>
          <p:cNvSpPr/>
          <p:nvPr/>
        </p:nvSpPr>
        <p:spPr>
          <a:xfrm>
            <a:off x="8060741" y="1755648"/>
            <a:ext cx="3564026" cy="2057400"/>
          </a:xfrm>
          <a:prstGeom prst="roundRect">
            <a:avLst>
              <a:gd name="adj" fmla="val 2222"/>
            </a:avLst>
          </a:prstGeom>
          <a:solidFill>
            <a:srgbClr val="FFFFFF"/>
          </a:solidFill>
          <a:ln w="12700">
            <a:solidFill>
              <a:srgbClr val="D6CFC1"/>
            </a:solidFill>
            <a:prstDash val="solid"/>
          </a:ln>
        </p:spPr>
      </p:sp>
      <p:sp>
        <p:nvSpPr>
          <p:cNvPr id="13" name="Text 11"/>
          <p:cNvSpPr/>
          <p:nvPr/>
        </p:nvSpPr>
        <p:spPr>
          <a:xfrm>
            <a:off x="8316773" y="1956816"/>
            <a:ext cx="3051962" cy="237744"/>
          </a:xfrm>
          <a:prstGeom prst="rect">
            <a:avLst/>
          </a:prstGeom>
          <a:noFill/>
          <a:ln/>
        </p:spPr>
        <p:txBody>
          <a:bodyPr wrap="square" lIns="0" tIns="0" rIns="0" bIns="0" rtlCol="0" anchor="t"/>
          <a:lstStyle/>
          <a:p>
            <a:pPr indent="0" marL="0">
              <a:buNone/>
            </a:pPr>
            <a:r>
              <a:rPr lang="en-US" sz="1150" dirty="0">
                <a:solidFill>
                  <a:srgbClr val="5B5B5F"/>
                </a:solidFill>
                <a:latin typeface="Yu Gothic" pitchFamily="34" charset="0"/>
                <a:ea typeface="Yu Gothic" pitchFamily="34" charset="-122"/>
                <a:cs typeface="Yu Gothic" pitchFamily="34" charset="-120"/>
              </a:rPr>
              <a:t>検査証跡の保持期間</a:t>
            </a:r>
            <a:endParaRPr lang="en-US" sz="1150" dirty="0"/>
          </a:p>
        </p:txBody>
      </p:sp>
      <p:sp>
        <p:nvSpPr>
          <p:cNvPr id="14" name="Text 12"/>
          <p:cNvSpPr/>
          <p:nvPr/>
        </p:nvSpPr>
        <p:spPr>
          <a:xfrm>
            <a:off x="8316773" y="2231136"/>
            <a:ext cx="3051962" cy="530352"/>
          </a:xfrm>
          <a:prstGeom prst="rect">
            <a:avLst/>
          </a:prstGeom>
          <a:noFill/>
          <a:ln/>
        </p:spPr>
        <p:txBody>
          <a:bodyPr wrap="square" lIns="0" tIns="0" rIns="0" bIns="0" rtlCol="0" anchor="t"/>
          <a:lstStyle/>
          <a:p>
            <a:pPr indent="0" marL="0">
              <a:buNone/>
            </a:pPr>
            <a:r>
              <a:rPr lang="en-US" sz="2700" b="1" dirty="0">
                <a:solidFill>
                  <a:srgbClr val="2C4A7E"/>
                </a:solidFill>
                <a:latin typeface="Yu Gothic" pitchFamily="34" charset="0"/>
                <a:ea typeface="Yu Gothic" pitchFamily="34" charset="-122"/>
                <a:cs typeface="Yu Gothic" pitchFamily="34" charset="-120"/>
              </a:rPr>
              <a:t>14 日 → 60 日</a:t>
            </a:r>
            <a:endParaRPr lang="en-US" sz="2700" dirty="0"/>
          </a:p>
        </p:txBody>
      </p:sp>
      <p:sp>
        <p:nvSpPr>
          <p:cNvPr id="15" name="Text 13"/>
          <p:cNvSpPr/>
          <p:nvPr/>
        </p:nvSpPr>
        <p:spPr>
          <a:xfrm>
            <a:off x="8316773" y="2798064"/>
            <a:ext cx="3051962" cy="868680"/>
          </a:xfrm>
          <a:prstGeom prst="rect">
            <a:avLst/>
          </a:prstGeom>
          <a:noFill/>
          <a:ln/>
        </p:spPr>
        <p:txBody>
          <a:bodyPr wrap="square" lIns="0" tIns="0" rIns="0" bIns="0" rtlCol="0" anchor="t"/>
          <a:lstStyle/>
          <a:p>
            <a:pPr indent="0" marL="0">
              <a:lnSpc>
                <a:spcPct val="130000"/>
              </a:lnSpc>
              <a:buNone/>
            </a:pPr>
            <a:r>
              <a:rPr lang="en-US" sz="1100" dirty="0">
                <a:solidFill>
                  <a:srgbClr val="5B5B5F"/>
                </a:solidFill>
                <a:latin typeface="Yu Gothic" pitchFamily="34" charset="0"/>
                <a:ea typeface="Yu Gothic" pitchFamily="34" charset="-122"/>
                <a:cs typeface="Yu Gothic" pitchFamily="34" charset="-120"/>
              </a:rPr>
              <a:t>検査のたびに</a:t>
            </a:r>
            <a:endParaRPr lang="en-US" sz="1100" dirty="0"/>
          </a:p>
          <a:p>
            <a:pPr indent="0" marL="0">
              <a:lnSpc>
                <a:spcPct val="130000"/>
              </a:lnSpc>
              <a:buNone/>
            </a:pPr>
            <a:r>
              <a:rPr lang="en-US" sz="1100" dirty="0">
                <a:solidFill>
                  <a:srgbClr val="5B5B5F"/>
                </a:solidFill>
                <a:latin typeface="Yu Gothic" pitchFamily="34" charset="0"/>
                <a:ea typeface="Yu Gothic" pitchFamily="34" charset="-122"/>
                <a:cs typeface="Yu Gothic" pitchFamily="34" charset="-120"/>
              </a:rPr>
              <a:t>クラウドへ退避します</a:t>
            </a:r>
            <a:endParaRPr lang="en-US" sz="1100" dirty="0"/>
          </a:p>
        </p:txBody>
      </p:sp>
      <p:sp>
        <p:nvSpPr>
          <p:cNvPr id="16" name="Shape 14"/>
          <p:cNvSpPr/>
          <p:nvPr/>
        </p:nvSpPr>
        <p:spPr>
          <a:xfrm>
            <a:off x="566928" y="4133088"/>
            <a:ext cx="11057839" cy="1517904"/>
          </a:xfrm>
          <a:prstGeom prst="roundRect">
            <a:avLst>
              <a:gd name="adj" fmla="val 3012"/>
            </a:avLst>
          </a:prstGeom>
          <a:solidFill>
            <a:srgbClr val="E4EAF3"/>
          </a:solidFill>
          <a:ln w="12700">
            <a:solidFill>
              <a:srgbClr val="2C4A7E"/>
            </a:solidFill>
            <a:prstDash val="solid"/>
          </a:ln>
        </p:spPr>
      </p:sp>
      <p:sp>
        <p:nvSpPr>
          <p:cNvPr id="17" name="Text 15"/>
          <p:cNvSpPr/>
          <p:nvPr/>
        </p:nvSpPr>
        <p:spPr>
          <a:xfrm>
            <a:off x="841248" y="4315968"/>
            <a:ext cx="10509199" cy="256032"/>
          </a:xfrm>
          <a:prstGeom prst="rect">
            <a:avLst/>
          </a:prstGeom>
          <a:noFill/>
          <a:ln/>
        </p:spPr>
        <p:txBody>
          <a:bodyPr wrap="square" lIns="0" tIns="0" rIns="0" bIns="0" rtlCol="0" anchor="t"/>
          <a:lstStyle/>
          <a:p>
            <a:pPr indent="0" marL="0">
              <a:buNone/>
            </a:pPr>
            <a:r>
              <a:rPr lang="en-US" sz="1300" b="1" dirty="0">
                <a:solidFill>
                  <a:srgbClr val="2C4A7E"/>
                </a:solidFill>
                <a:latin typeface="Yu Gothic" pitchFamily="34" charset="0"/>
                <a:ea typeface="Yu Gothic" pitchFamily="34" charset="-122"/>
                <a:cs typeface="Yu Gothic" pitchFamily="34" charset="-120"/>
              </a:rPr>
              <a:t>この提案の考え方</a:t>
            </a:r>
            <a:endParaRPr lang="en-US" sz="1300" dirty="0"/>
          </a:p>
        </p:txBody>
      </p:sp>
      <p:sp>
        <p:nvSpPr>
          <p:cNvPr id="18" name="Text 16"/>
          <p:cNvSpPr/>
          <p:nvPr/>
        </p:nvSpPr>
        <p:spPr>
          <a:xfrm>
            <a:off x="841248" y="4626864"/>
            <a:ext cx="10509199" cy="859536"/>
          </a:xfrm>
          <a:prstGeom prst="rect">
            <a:avLst/>
          </a:prstGeom>
          <a:noFill/>
          <a:ln/>
        </p:spPr>
        <p:txBody>
          <a:bodyPr wrap="square" lIns="0" tIns="0" rIns="0" bIns="0" rtlCol="0" anchor="t"/>
          <a:lstStyle/>
          <a:p>
            <a:pPr indent="0" marL="0">
              <a:lnSpc>
                <a:spcPct val="135000"/>
              </a:lnSpc>
              <a:buNone/>
            </a:pPr>
            <a:r>
              <a:rPr lang="en-US" sz="1250" dirty="0">
                <a:solidFill>
                  <a:srgbClr val="2A2A2C"/>
                </a:solidFill>
                <a:latin typeface="Yu Gothic" pitchFamily="34" charset="0"/>
                <a:ea typeface="Yu Gothic" pitchFamily="34" charset="-122"/>
                <a:cs typeface="Yu Gothic" pitchFamily="34" charset="-120"/>
              </a:rPr>
              <a:t>御社は既に、100 店舗すべてに録画装置と中継機をお持ちです。本提案は、新しい機器を売るものではありません。</a:t>
            </a:r>
            <a:endParaRPr lang="en-US" sz="1250" dirty="0"/>
          </a:p>
          <a:p>
            <a:pPr indent="0" marL="0">
              <a:lnSpc>
                <a:spcPct val="135000"/>
              </a:lnSpc>
              <a:buNone/>
            </a:pPr>
            <a:r>
              <a:rPr lang="en-US" sz="1250" dirty="0">
                <a:solidFill>
                  <a:srgbClr val="2A2A2C"/>
                </a:solidFill>
                <a:latin typeface="Yu Gothic" pitchFamily="34" charset="0"/>
                <a:ea typeface="Yu Gothic" pitchFamily="34" charset="-122"/>
                <a:cs typeface="Yu Gothic" pitchFamily="34" charset="-120"/>
              </a:rPr>
              <a:t>既にお持ちの資産の使い方を変えることで、毎月お支払いのクラウド録画費用をなくし、同時に監視・BCP の機能を追加するものです。</a:t>
            </a:r>
            <a:endParaRPr lang="en-US" sz="1250" dirty="0"/>
          </a:p>
        </p:txBody>
      </p:sp>
      <p:sp>
        <p:nvSpPr>
          <p:cNvPr id="19" name="Text 17"/>
          <p:cNvSpPr/>
          <p:nvPr/>
        </p:nvSpPr>
        <p:spPr>
          <a:xfrm>
            <a:off x="566928" y="6419088"/>
            <a:ext cx="5486400" cy="256032"/>
          </a:xfrm>
          <a:prstGeom prst="rect">
            <a:avLst/>
          </a:prstGeom>
          <a:noFill/>
          <a:ln/>
        </p:spPr>
        <p:txBody>
          <a:bodyPr wrap="square" lIns="0" tIns="0" rIns="0" bIns="0" rtlCol="0" anchor="ctr"/>
          <a:lstStyle/>
          <a:p>
            <a:pPr indent="0" marL="0">
              <a:buNone/>
            </a:pPr>
            <a:r>
              <a:rPr lang="en-US" sz="950" dirty="0">
                <a:solidFill>
                  <a:srgbClr val="5B5B5F"/>
                </a:solidFill>
                <a:latin typeface="Yu Gothic" pitchFamily="34" charset="0"/>
                <a:ea typeface="Yu Gothic" pitchFamily="34" charset="-122"/>
                <a:cs typeface="Yu Gothic" pitchFamily="34" charset="-120"/>
              </a:rPr>
              <a:t>Recorder Monitor ／ 株式会社ジェネシス・エッジ</a:t>
            </a:r>
            <a:endParaRPr lang="en-US" sz="950" dirty="0"/>
          </a:p>
        </p:txBody>
      </p:sp>
      <p:sp>
        <p:nvSpPr>
          <p:cNvPr id="20" name="Text 18"/>
          <p:cNvSpPr/>
          <p:nvPr/>
        </p:nvSpPr>
        <p:spPr>
          <a:xfrm>
            <a:off x="10710367" y="6419088"/>
            <a:ext cx="914400" cy="256032"/>
          </a:xfrm>
          <a:prstGeom prst="rect">
            <a:avLst/>
          </a:prstGeom>
          <a:noFill/>
          <a:ln/>
        </p:spPr>
        <p:txBody>
          <a:bodyPr wrap="square" lIns="0" tIns="0" rIns="0" bIns="0" rtlCol="0" anchor="ctr"/>
          <a:lstStyle/>
          <a:p>
            <a:pPr algn="r" indent="0" marL="0">
              <a:buNone/>
            </a:pPr>
            <a:r>
              <a:rPr lang="en-US" sz="950" dirty="0">
                <a:solidFill>
                  <a:srgbClr val="5B5B5F"/>
                </a:solidFill>
                <a:latin typeface="Yu Gothic" pitchFamily="34" charset="0"/>
                <a:ea typeface="Yu Gothic" pitchFamily="34" charset="-122"/>
                <a:cs typeface="Yu Gothic"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1"/>
        </a:solidFill>
      </p:bgPr>
    </p:bg>
    <p:spTree>
      <p:nvGrpSpPr>
        <p:cNvPr id="1" name=""/>
        <p:cNvGrpSpPr/>
        <p:nvPr/>
      </p:nvGrpSpPr>
      <p:grpSpPr>
        <a:xfrm>
          <a:off x="0" y="0"/>
          <a:ext cx="0" cy="0"/>
          <a:chOff x="0" y="0"/>
          <a:chExt cx="0" cy="0"/>
        </a:xfrm>
      </p:grpSpPr>
      <p:sp>
        <p:nvSpPr>
          <p:cNvPr id="2" name="Text 0"/>
          <p:cNvSpPr/>
          <p:nvPr/>
        </p:nvSpPr>
        <p:spPr>
          <a:xfrm>
            <a:off x="566928" y="402336"/>
            <a:ext cx="11057839" cy="475488"/>
          </a:xfrm>
          <a:prstGeom prst="rect">
            <a:avLst/>
          </a:prstGeom>
          <a:noFill/>
          <a:ln/>
        </p:spPr>
        <p:txBody>
          <a:bodyPr wrap="square" lIns="0" tIns="0" rIns="0" bIns="0" rtlCol="0" anchor="t"/>
          <a:lstStyle/>
          <a:p>
            <a:pPr indent="0" marL="0">
              <a:buNone/>
            </a:pPr>
            <a:r>
              <a:rPr lang="en-US" sz="2700" b="1" dirty="0">
                <a:solidFill>
                  <a:srgbClr val="0F0F10"/>
                </a:solidFill>
                <a:latin typeface="Yu Gothic" pitchFamily="34" charset="0"/>
                <a:ea typeface="Yu Gothic" pitchFamily="34" charset="-122"/>
                <a:cs typeface="Yu Gothic" pitchFamily="34" charset="-120"/>
              </a:rPr>
              <a:t>現状の課題</a:t>
            </a:r>
            <a:endParaRPr lang="en-US" sz="2700" dirty="0"/>
          </a:p>
        </p:txBody>
      </p:sp>
      <p:sp>
        <p:nvSpPr>
          <p:cNvPr id="3" name="Text 1"/>
          <p:cNvSpPr/>
          <p:nvPr/>
        </p:nvSpPr>
        <p:spPr>
          <a:xfrm>
            <a:off x="566928" y="932688"/>
            <a:ext cx="11057839" cy="384048"/>
          </a:xfrm>
          <a:prstGeom prst="rect">
            <a:avLst/>
          </a:prstGeom>
          <a:noFill/>
          <a:ln/>
        </p:spPr>
        <p:txBody>
          <a:bodyPr wrap="square" lIns="0" tIns="0" rIns="0" bIns="0" rtlCol="0" anchor="t"/>
          <a:lstStyle/>
          <a:p>
            <a:pPr indent="0" marL="0">
              <a:lnSpc>
                <a:spcPct val="135000"/>
              </a:lnSpc>
              <a:buNone/>
            </a:pPr>
            <a:r>
              <a:rPr lang="en-US" sz="1300" dirty="0">
                <a:solidFill>
                  <a:srgbClr val="5B5B5F"/>
                </a:solidFill>
                <a:latin typeface="Yu Gothic" pitchFamily="34" charset="0"/>
                <a:ea typeface="Yu Gothic" pitchFamily="34" charset="-122"/>
                <a:cs typeface="Yu Gothic" pitchFamily="34" charset="-120"/>
              </a:rPr>
              <a:t>手荷物検査の証跡を残すためだけに、カメラ映像を 24 時間クラウドへ送り続けています。</a:t>
            </a:r>
            <a:endParaRPr lang="en-US" sz="1300" dirty="0"/>
          </a:p>
        </p:txBody>
      </p:sp>
      <p:sp>
        <p:nvSpPr>
          <p:cNvPr id="4" name="Shape 2"/>
          <p:cNvSpPr/>
          <p:nvPr/>
        </p:nvSpPr>
        <p:spPr>
          <a:xfrm>
            <a:off x="566928" y="1664208"/>
            <a:ext cx="5419192" cy="1901952"/>
          </a:xfrm>
          <a:prstGeom prst="roundRect">
            <a:avLst>
              <a:gd name="adj" fmla="val 2404"/>
            </a:avLst>
          </a:prstGeom>
          <a:solidFill>
            <a:srgbClr val="FFFFFF"/>
          </a:solidFill>
          <a:ln w="12700">
            <a:solidFill>
              <a:srgbClr val="D6CFC1"/>
            </a:solidFill>
            <a:prstDash val="solid"/>
          </a:ln>
        </p:spPr>
      </p:sp>
      <p:sp>
        <p:nvSpPr>
          <p:cNvPr id="5" name="Text 3"/>
          <p:cNvSpPr/>
          <p:nvPr/>
        </p:nvSpPr>
        <p:spPr>
          <a:xfrm>
            <a:off x="841248" y="1883664"/>
            <a:ext cx="4870552" cy="292608"/>
          </a:xfrm>
          <a:prstGeom prst="rect">
            <a:avLst/>
          </a:prstGeom>
          <a:noFill/>
          <a:ln/>
        </p:spPr>
        <p:txBody>
          <a:bodyPr wrap="square" lIns="0" tIns="0" rIns="0" bIns="0" rtlCol="0" anchor="t"/>
          <a:lstStyle/>
          <a:p>
            <a:pPr indent="0" marL="0">
              <a:buNone/>
            </a:pPr>
            <a:r>
              <a:rPr lang="en-US" sz="1400" b="1" dirty="0">
                <a:solidFill>
                  <a:srgbClr val="0F0F10"/>
                </a:solidFill>
                <a:latin typeface="Yu Gothic" pitchFamily="34" charset="0"/>
                <a:ea typeface="Yu Gothic" pitchFamily="34" charset="-122"/>
                <a:cs typeface="Yu Gothic" pitchFamily="34" charset="-120"/>
              </a:rPr>
              <a:t>クラウド録画の月額費用</a:t>
            </a:r>
            <a:endParaRPr lang="en-US" sz="1400" dirty="0"/>
          </a:p>
        </p:txBody>
      </p:sp>
      <p:sp>
        <p:nvSpPr>
          <p:cNvPr id="6" name="Text 4"/>
          <p:cNvSpPr/>
          <p:nvPr/>
        </p:nvSpPr>
        <p:spPr>
          <a:xfrm>
            <a:off x="841248" y="2231136"/>
            <a:ext cx="4870552" cy="1115568"/>
          </a:xfrm>
          <a:prstGeom prst="rect">
            <a:avLst/>
          </a:prstGeom>
          <a:noFill/>
          <a:ln/>
        </p:spPr>
        <p:txBody>
          <a:bodyPr wrap="square" lIns="0" tIns="0" rIns="0" bIns="0" rtlCol="0" anchor="t"/>
          <a:lstStyle/>
          <a:p>
            <a:pPr indent="0" marL="0">
              <a:lnSpc>
                <a:spcPct val="140000"/>
              </a:lnSpc>
              <a:buNone/>
            </a:pPr>
            <a:r>
              <a:rPr lang="en-US" sz="1200" dirty="0">
                <a:solidFill>
                  <a:srgbClr val="5B5B5F"/>
                </a:solidFill>
                <a:latin typeface="Yu Gothic" pitchFamily="34" charset="0"/>
                <a:ea typeface="Yu Gothic" pitchFamily="34" charset="-122"/>
                <a:cs typeface="Yu Gothic" pitchFamily="34" charset="-120"/>
              </a:rPr>
              <a:t>実際に確認するのは検査の前後わずか数分です。24 時間分の保管費用を、そのために支払っています。</a:t>
            </a:r>
            <a:endParaRPr lang="en-US" sz="1200" dirty="0"/>
          </a:p>
        </p:txBody>
      </p:sp>
      <p:sp>
        <p:nvSpPr>
          <p:cNvPr id="7" name="Shape 5"/>
          <p:cNvSpPr/>
          <p:nvPr/>
        </p:nvSpPr>
        <p:spPr>
          <a:xfrm>
            <a:off x="6205576" y="1664208"/>
            <a:ext cx="5419192" cy="1901952"/>
          </a:xfrm>
          <a:prstGeom prst="roundRect">
            <a:avLst>
              <a:gd name="adj" fmla="val 2404"/>
            </a:avLst>
          </a:prstGeom>
          <a:solidFill>
            <a:srgbClr val="FFFFFF"/>
          </a:solidFill>
          <a:ln w="12700">
            <a:solidFill>
              <a:srgbClr val="D6CFC1"/>
            </a:solidFill>
            <a:prstDash val="solid"/>
          </a:ln>
        </p:spPr>
      </p:sp>
      <p:sp>
        <p:nvSpPr>
          <p:cNvPr id="8" name="Text 6"/>
          <p:cNvSpPr/>
          <p:nvPr/>
        </p:nvSpPr>
        <p:spPr>
          <a:xfrm>
            <a:off x="6479896" y="1883664"/>
            <a:ext cx="4870552" cy="292608"/>
          </a:xfrm>
          <a:prstGeom prst="rect">
            <a:avLst/>
          </a:prstGeom>
          <a:noFill/>
          <a:ln/>
        </p:spPr>
        <p:txBody>
          <a:bodyPr wrap="square" lIns="0" tIns="0" rIns="0" bIns="0" rtlCol="0" anchor="t"/>
          <a:lstStyle/>
          <a:p>
            <a:pPr indent="0" marL="0">
              <a:buNone/>
            </a:pPr>
            <a:r>
              <a:rPr lang="en-US" sz="1400" b="1" dirty="0">
                <a:solidFill>
                  <a:srgbClr val="0F0F10"/>
                </a:solidFill>
                <a:latin typeface="Yu Gothic" pitchFamily="34" charset="0"/>
                <a:ea typeface="Yu Gothic" pitchFamily="34" charset="-122"/>
                <a:cs typeface="Yu Gothic" pitchFamily="34" charset="-120"/>
              </a:rPr>
              <a:t>店舗回線の常時占有</a:t>
            </a:r>
            <a:endParaRPr lang="en-US" sz="1400" dirty="0"/>
          </a:p>
        </p:txBody>
      </p:sp>
      <p:sp>
        <p:nvSpPr>
          <p:cNvPr id="9" name="Text 7"/>
          <p:cNvSpPr/>
          <p:nvPr/>
        </p:nvSpPr>
        <p:spPr>
          <a:xfrm>
            <a:off x="6479896" y="2231136"/>
            <a:ext cx="4870552" cy="1115568"/>
          </a:xfrm>
          <a:prstGeom prst="rect">
            <a:avLst/>
          </a:prstGeom>
          <a:noFill/>
          <a:ln/>
        </p:spPr>
        <p:txBody>
          <a:bodyPr wrap="square" lIns="0" tIns="0" rIns="0" bIns="0" rtlCol="0" anchor="t"/>
          <a:lstStyle/>
          <a:p>
            <a:pPr indent="0" marL="0">
              <a:lnSpc>
                <a:spcPct val="140000"/>
              </a:lnSpc>
              <a:buNone/>
            </a:pPr>
            <a:r>
              <a:rPr lang="en-US" sz="1200" dirty="0">
                <a:solidFill>
                  <a:srgbClr val="5B5B5F"/>
                </a:solidFill>
                <a:latin typeface="Yu Gothic" pitchFamily="34" charset="0"/>
                <a:ea typeface="Yu Gothic" pitchFamily="34" charset="-122"/>
                <a:cs typeface="Yu Gothic" pitchFamily="34" charset="-120"/>
              </a:rPr>
              <a:t>768 kbps × 2 台 ＝ 1.536 Mbps を営業時間外も消費。1 店舗 1 日 16.6 GB、100 店舗で月 約 49.8 TB です。</a:t>
            </a:r>
            <a:endParaRPr lang="en-US" sz="1200" dirty="0"/>
          </a:p>
        </p:txBody>
      </p:sp>
      <p:sp>
        <p:nvSpPr>
          <p:cNvPr id="10" name="Shape 8"/>
          <p:cNvSpPr/>
          <p:nvPr/>
        </p:nvSpPr>
        <p:spPr>
          <a:xfrm>
            <a:off x="566928" y="3785616"/>
            <a:ext cx="5419192" cy="1901952"/>
          </a:xfrm>
          <a:prstGeom prst="roundRect">
            <a:avLst>
              <a:gd name="adj" fmla="val 2404"/>
            </a:avLst>
          </a:prstGeom>
          <a:solidFill>
            <a:srgbClr val="FFFFFF"/>
          </a:solidFill>
          <a:ln w="12700">
            <a:solidFill>
              <a:srgbClr val="D6CFC1"/>
            </a:solidFill>
            <a:prstDash val="solid"/>
          </a:ln>
        </p:spPr>
      </p:sp>
      <p:sp>
        <p:nvSpPr>
          <p:cNvPr id="11" name="Text 9"/>
          <p:cNvSpPr/>
          <p:nvPr/>
        </p:nvSpPr>
        <p:spPr>
          <a:xfrm>
            <a:off x="841248" y="4005072"/>
            <a:ext cx="4870552" cy="292608"/>
          </a:xfrm>
          <a:prstGeom prst="rect">
            <a:avLst/>
          </a:prstGeom>
          <a:noFill/>
          <a:ln/>
        </p:spPr>
        <p:txBody>
          <a:bodyPr wrap="square" lIns="0" tIns="0" rIns="0" bIns="0" rtlCol="0" anchor="t"/>
          <a:lstStyle/>
          <a:p>
            <a:pPr indent="0" marL="0">
              <a:buNone/>
            </a:pPr>
            <a:r>
              <a:rPr lang="en-US" sz="1400" b="1" dirty="0">
                <a:solidFill>
                  <a:srgbClr val="0F0F10"/>
                </a:solidFill>
                <a:latin typeface="Yu Gothic" pitchFamily="34" charset="0"/>
                <a:ea typeface="Yu Gothic" pitchFamily="34" charset="-122"/>
                <a:cs typeface="Yu Gothic" pitchFamily="34" charset="-120"/>
              </a:rPr>
              <a:t>レコーダーの異常に気づけない</a:t>
            </a:r>
            <a:endParaRPr lang="en-US" sz="1400" dirty="0"/>
          </a:p>
        </p:txBody>
      </p:sp>
      <p:sp>
        <p:nvSpPr>
          <p:cNvPr id="12" name="Text 10"/>
          <p:cNvSpPr/>
          <p:nvPr/>
        </p:nvSpPr>
        <p:spPr>
          <a:xfrm>
            <a:off x="841248" y="4352544"/>
            <a:ext cx="4870552" cy="1115568"/>
          </a:xfrm>
          <a:prstGeom prst="rect">
            <a:avLst/>
          </a:prstGeom>
          <a:noFill/>
          <a:ln/>
        </p:spPr>
        <p:txBody>
          <a:bodyPr wrap="square" lIns="0" tIns="0" rIns="0" bIns="0" rtlCol="0" anchor="t"/>
          <a:lstStyle/>
          <a:p>
            <a:pPr indent="0" marL="0">
              <a:lnSpc>
                <a:spcPct val="140000"/>
              </a:lnSpc>
              <a:buNone/>
            </a:pPr>
            <a:r>
              <a:rPr lang="en-US" sz="1200" dirty="0">
                <a:solidFill>
                  <a:srgbClr val="5B5B5F"/>
                </a:solidFill>
                <a:latin typeface="Yu Gothic" pitchFamily="34" charset="0"/>
                <a:ea typeface="Yu Gothic" pitchFamily="34" charset="-122"/>
                <a:cs typeface="Yu Gothic" pitchFamily="34" charset="-120"/>
              </a:rPr>
              <a:t>証跡がクラウド側にあるため、店舗のレコーダーが故障していても顕在化しません。必要になって初めて分かります。</a:t>
            </a:r>
            <a:endParaRPr lang="en-US" sz="1200" dirty="0"/>
          </a:p>
        </p:txBody>
      </p:sp>
      <p:sp>
        <p:nvSpPr>
          <p:cNvPr id="13" name="Shape 11"/>
          <p:cNvSpPr/>
          <p:nvPr/>
        </p:nvSpPr>
        <p:spPr>
          <a:xfrm>
            <a:off x="6205576" y="3785616"/>
            <a:ext cx="5419192" cy="1901952"/>
          </a:xfrm>
          <a:prstGeom prst="roundRect">
            <a:avLst>
              <a:gd name="adj" fmla="val 2404"/>
            </a:avLst>
          </a:prstGeom>
          <a:solidFill>
            <a:srgbClr val="FFFFFF"/>
          </a:solidFill>
          <a:ln w="12700">
            <a:solidFill>
              <a:srgbClr val="D6CFC1"/>
            </a:solidFill>
            <a:prstDash val="solid"/>
          </a:ln>
        </p:spPr>
      </p:sp>
      <p:sp>
        <p:nvSpPr>
          <p:cNvPr id="14" name="Text 12"/>
          <p:cNvSpPr/>
          <p:nvPr/>
        </p:nvSpPr>
        <p:spPr>
          <a:xfrm>
            <a:off x="6479896" y="4005072"/>
            <a:ext cx="4870552" cy="292608"/>
          </a:xfrm>
          <a:prstGeom prst="rect">
            <a:avLst/>
          </a:prstGeom>
          <a:noFill/>
          <a:ln/>
        </p:spPr>
        <p:txBody>
          <a:bodyPr wrap="square" lIns="0" tIns="0" rIns="0" bIns="0" rtlCol="0" anchor="t"/>
          <a:lstStyle/>
          <a:p>
            <a:pPr indent="0" marL="0">
              <a:buNone/>
            </a:pPr>
            <a:r>
              <a:rPr lang="en-US" sz="1400" b="1" dirty="0">
                <a:solidFill>
                  <a:srgbClr val="0F0F10"/>
                </a:solidFill>
                <a:latin typeface="Yu Gothic" pitchFamily="34" charset="0"/>
                <a:ea typeface="Yu Gothic" pitchFamily="34" charset="-122"/>
                <a:cs typeface="Yu Gothic" pitchFamily="34" charset="-120"/>
              </a:rPr>
              <a:t>手荷物検査以外の機能がない</a:t>
            </a:r>
            <a:endParaRPr lang="en-US" sz="1400" dirty="0"/>
          </a:p>
        </p:txBody>
      </p:sp>
      <p:sp>
        <p:nvSpPr>
          <p:cNvPr id="15" name="Text 13"/>
          <p:cNvSpPr/>
          <p:nvPr/>
        </p:nvSpPr>
        <p:spPr>
          <a:xfrm>
            <a:off x="6479896" y="4352544"/>
            <a:ext cx="4870552" cy="1115568"/>
          </a:xfrm>
          <a:prstGeom prst="rect">
            <a:avLst/>
          </a:prstGeom>
          <a:noFill/>
          <a:ln/>
        </p:spPr>
        <p:txBody>
          <a:bodyPr wrap="square" lIns="0" tIns="0" rIns="0" bIns="0" rtlCol="0" anchor="t"/>
          <a:lstStyle/>
          <a:p>
            <a:pPr indent="0" marL="0">
              <a:lnSpc>
                <a:spcPct val="140000"/>
              </a:lnSpc>
              <a:buNone/>
            </a:pPr>
            <a:r>
              <a:rPr lang="en-US" sz="1200" dirty="0">
                <a:solidFill>
                  <a:srgbClr val="5B5B5F"/>
                </a:solidFill>
                <a:latin typeface="Yu Gothic" pitchFamily="34" charset="0"/>
                <a:ea typeface="Yu Gothic" pitchFamily="34" charset="-122"/>
                <a:cs typeface="Yu Gothic" pitchFamily="34" charset="-120"/>
              </a:rPr>
              <a:t>本部からの映像確認、機器の監視、災害時対応は含まれていません。</a:t>
            </a:r>
            <a:endParaRPr lang="en-US" sz="1200" dirty="0"/>
          </a:p>
        </p:txBody>
      </p:sp>
      <p:sp>
        <p:nvSpPr>
          <p:cNvPr id="16" name="Text 14"/>
          <p:cNvSpPr/>
          <p:nvPr/>
        </p:nvSpPr>
        <p:spPr>
          <a:xfrm>
            <a:off x="566928" y="6419088"/>
            <a:ext cx="5486400" cy="256032"/>
          </a:xfrm>
          <a:prstGeom prst="rect">
            <a:avLst/>
          </a:prstGeom>
          <a:noFill/>
          <a:ln/>
        </p:spPr>
        <p:txBody>
          <a:bodyPr wrap="square" lIns="0" tIns="0" rIns="0" bIns="0" rtlCol="0" anchor="ctr"/>
          <a:lstStyle/>
          <a:p>
            <a:pPr indent="0" marL="0">
              <a:buNone/>
            </a:pPr>
            <a:r>
              <a:rPr lang="en-US" sz="950" dirty="0">
                <a:solidFill>
                  <a:srgbClr val="5B5B5F"/>
                </a:solidFill>
                <a:latin typeface="Yu Gothic" pitchFamily="34" charset="0"/>
                <a:ea typeface="Yu Gothic" pitchFamily="34" charset="-122"/>
                <a:cs typeface="Yu Gothic" pitchFamily="34" charset="-120"/>
              </a:rPr>
              <a:t>Recorder Monitor ／ 株式会社ジェネシス・エッジ</a:t>
            </a:r>
            <a:endParaRPr lang="en-US" sz="950" dirty="0"/>
          </a:p>
        </p:txBody>
      </p:sp>
      <p:sp>
        <p:nvSpPr>
          <p:cNvPr id="17" name="Text 15"/>
          <p:cNvSpPr/>
          <p:nvPr/>
        </p:nvSpPr>
        <p:spPr>
          <a:xfrm>
            <a:off x="10710367" y="6419088"/>
            <a:ext cx="914400" cy="256032"/>
          </a:xfrm>
          <a:prstGeom prst="rect">
            <a:avLst/>
          </a:prstGeom>
          <a:noFill/>
          <a:ln/>
        </p:spPr>
        <p:txBody>
          <a:bodyPr wrap="square" lIns="0" tIns="0" rIns="0" bIns="0" rtlCol="0" anchor="ctr"/>
          <a:lstStyle/>
          <a:p>
            <a:pPr algn="r" indent="0" marL="0">
              <a:buNone/>
            </a:pPr>
            <a:r>
              <a:rPr lang="en-US" sz="950" dirty="0">
                <a:solidFill>
                  <a:srgbClr val="5B5B5F"/>
                </a:solidFill>
                <a:latin typeface="Yu Gothic" pitchFamily="34" charset="0"/>
                <a:ea typeface="Yu Gothic" pitchFamily="34" charset="-122"/>
                <a:cs typeface="Yu Gothic"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1"/>
        </a:solidFill>
      </p:bgPr>
    </p:bg>
    <p:spTree>
      <p:nvGrpSpPr>
        <p:cNvPr id="1" name=""/>
        <p:cNvGrpSpPr/>
        <p:nvPr/>
      </p:nvGrpSpPr>
      <p:grpSpPr>
        <a:xfrm>
          <a:off x="0" y="0"/>
          <a:ext cx="0" cy="0"/>
          <a:chOff x="0" y="0"/>
          <a:chExt cx="0" cy="0"/>
        </a:xfrm>
      </p:grpSpPr>
      <p:sp>
        <p:nvSpPr>
          <p:cNvPr id="2" name="Text 0"/>
          <p:cNvSpPr/>
          <p:nvPr/>
        </p:nvSpPr>
        <p:spPr>
          <a:xfrm>
            <a:off x="566928" y="402336"/>
            <a:ext cx="11057839" cy="475488"/>
          </a:xfrm>
          <a:prstGeom prst="rect">
            <a:avLst/>
          </a:prstGeom>
          <a:noFill/>
          <a:ln/>
        </p:spPr>
        <p:txBody>
          <a:bodyPr wrap="square" lIns="0" tIns="0" rIns="0" bIns="0" rtlCol="0" anchor="t"/>
          <a:lstStyle/>
          <a:p>
            <a:pPr indent="0" marL="0">
              <a:buNone/>
            </a:pPr>
            <a:r>
              <a:rPr lang="en-US" sz="2700" b="1" dirty="0">
                <a:solidFill>
                  <a:srgbClr val="0F0F10"/>
                </a:solidFill>
                <a:latin typeface="Yu Gothic" pitchFamily="34" charset="0"/>
                <a:ea typeface="Yu Gothic" pitchFamily="34" charset="-122"/>
                <a:cs typeface="Yu Gothic" pitchFamily="34" charset="-120"/>
              </a:rPr>
              <a:t>構成の変化</a:t>
            </a:r>
            <a:endParaRPr lang="en-US" sz="2700" dirty="0"/>
          </a:p>
        </p:txBody>
      </p:sp>
      <p:sp>
        <p:nvSpPr>
          <p:cNvPr id="3" name="Text 1"/>
          <p:cNvSpPr/>
          <p:nvPr/>
        </p:nvSpPr>
        <p:spPr>
          <a:xfrm>
            <a:off x="566928" y="932688"/>
            <a:ext cx="11057839" cy="384048"/>
          </a:xfrm>
          <a:prstGeom prst="rect">
            <a:avLst/>
          </a:prstGeom>
          <a:noFill/>
          <a:ln/>
        </p:spPr>
        <p:txBody>
          <a:bodyPr wrap="square" lIns="0" tIns="0" rIns="0" bIns="0" rtlCol="0" anchor="t"/>
          <a:lstStyle/>
          <a:p>
            <a:pPr indent="0" marL="0">
              <a:lnSpc>
                <a:spcPct val="135000"/>
              </a:lnSpc>
              <a:buNone/>
            </a:pPr>
            <a:r>
              <a:rPr lang="en-US" sz="1300" dirty="0">
                <a:solidFill>
                  <a:srgbClr val="5B5B5F"/>
                </a:solidFill>
                <a:latin typeface="Yu Gothic" pitchFamily="34" charset="0"/>
                <a:ea typeface="Yu Gothic" pitchFamily="34" charset="-122"/>
                <a:cs typeface="Yu Gothic" pitchFamily="34" charset="-120"/>
              </a:rPr>
              <a:t>映像を「常に送る」のをやめ、「必要なときだけ取りに行く」方式に変えます。</a:t>
            </a:r>
            <a:endParaRPr lang="en-US" sz="1300" dirty="0"/>
          </a:p>
        </p:txBody>
      </p:sp>
      <p:sp>
        <p:nvSpPr>
          <p:cNvPr id="4" name="Shape 2"/>
          <p:cNvSpPr/>
          <p:nvPr/>
        </p:nvSpPr>
        <p:spPr>
          <a:xfrm>
            <a:off x="566928" y="1645920"/>
            <a:ext cx="5391760" cy="3456432"/>
          </a:xfrm>
          <a:prstGeom prst="roundRect">
            <a:avLst>
              <a:gd name="adj" fmla="val 1323"/>
            </a:avLst>
          </a:prstGeom>
          <a:solidFill>
            <a:srgbClr val="FFFFFF"/>
          </a:solidFill>
          <a:ln w="12700">
            <a:solidFill>
              <a:srgbClr val="D6CFC1"/>
            </a:solidFill>
            <a:prstDash val="solid"/>
          </a:ln>
        </p:spPr>
      </p:sp>
      <p:sp>
        <p:nvSpPr>
          <p:cNvPr id="5" name="Text 3"/>
          <p:cNvSpPr/>
          <p:nvPr/>
        </p:nvSpPr>
        <p:spPr>
          <a:xfrm>
            <a:off x="859536" y="1847088"/>
            <a:ext cx="4806544" cy="292608"/>
          </a:xfrm>
          <a:prstGeom prst="rect">
            <a:avLst/>
          </a:prstGeom>
          <a:noFill/>
          <a:ln/>
        </p:spPr>
        <p:txBody>
          <a:bodyPr wrap="square" lIns="0" tIns="0" rIns="0" bIns="0" rtlCol="0" anchor="t"/>
          <a:lstStyle/>
          <a:p>
            <a:pPr indent="0" marL="0">
              <a:buNone/>
            </a:pPr>
            <a:r>
              <a:rPr lang="en-US" sz="1500" b="1" dirty="0">
                <a:solidFill>
                  <a:srgbClr val="2A2A2C"/>
                </a:solidFill>
                <a:latin typeface="Yu Gothic" pitchFamily="34" charset="0"/>
                <a:ea typeface="Yu Gothic" pitchFamily="34" charset="-122"/>
                <a:cs typeface="Yu Gothic" pitchFamily="34" charset="-120"/>
              </a:rPr>
              <a:t>現行</a:t>
            </a:r>
            <a:endParaRPr lang="en-US" sz="1500" dirty="0"/>
          </a:p>
        </p:txBody>
      </p:sp>
      <p:sp>
        <p:nvSpPr>
          <p:cNvPr id="6" name="Shape 4"/>
          <p:cNvSpPr/>
          <p:nvPr/>
        </p:nvSpPr>
        <p:spPr>
          <a:xfrm>
            <a:off x="859536" y="2212848"/>
            <a:ext cx="4806544" cy="0"/>
          </a:xfrm>
          <a:prstGeom prst="line">
            <a:avLst/>
          </a:prstGeom>
          <a:noFill/>
          <a:ln w="12700">
            <a:solidFill>
              <a:srgbClr val="D6CFC1"/>
            </a:solidFill>
            <a:prstDash val="solid"/>
          </a:ln>
        </p:spPr>
      </p:sp>
      <p:sp>
        <p:nvSpPr>
          <p:cNvPr id="7" name="Text 5"/>
          <p:cNvSpPr/>
          <p:nvPr/>
        </p:nvSpPr>
        <p:spPr>
          <a:xfrm>
            <a:off x="859536" y="2395728"/>
            <a:ext cx="4806544" cy="274320"/>
          </a:xfrm>
          <a:prstGeom prst="rect">
            <a:avLst/>
          </a:prstGeom>
          <a:noFill/>
          <a:ln/>
        </p:spPr>
        <p:txBody>
          <a:bodyPr wrap="square" lIns="0" tIns="0" rIns="0" bIns="0" rtlCol="0" anchor="ctr"/>
          <a:lstStyle/>
          <a:p>
            <a:pPr indent="0" marL="0">
              <a:buNone/>
            </a:pPr>
            <a:r>
              <a:rPr lang="en-US" sz="1200" dirty="0">
                <a:solidFill>
                  <a:srgbClr val="0F0F10"/>
                </a:solidFill>
                <a:latin typeface="Yu Gothic" pitchFamily="34" charset="0"/>
                <a:ea typeface="Yu Gothic" pitchFamily="34" charset="-122"/>
                <a:cs typeface="Yu Gothic" pitchFamily="34" charset="-120"/>
              </a:rPr>
              <a:t>カメラ 2 台（768 kbps・H.264）</a:t>
            </a:r>
            <a:endParaRPr lang="en-US" sz="1200" dirty="0"/>
          </a:p>
        </p:txBody>
      </p:sp>
      <p:sp>
        <p:nvSpPr>
          <p:cNvPr id="8" name="Text 6"/>
          <p:cNvSpPr/>
          <p:nvPr/>
        </p:nvSpPr>
        <p:spPr>
          <a:xfrm>
            <a:off x="859536" y="2743200"/>
            <a:ext cx="4806544" cy="274320"/>
          </a:xfrm>
          <a:prstGeom prst="rect">
            <a:avLst/>
          </a:prstGeom>
          <a:noFill/>
          <a:ln/>
        </p:spPr>
        <p:txBody>
          <a:bodyPr wrap="square" lIns="0" tIns="0" rIns="0" bIns="0" rtlCol="0" anchor="ctr"/>
          <a:lstStyle/>
          <a:p>
            <a:pPr indent="0" marL="0">
              <a:buNone/>
            </a:pPr>
            <a:r>
              <a:rPr lang="en-US" sz="1200" dirty="0">
                <a:solidFill>
                  <a:srgbClr val="5B5B5F"/>
                </a:solidFill>
                <a:latin typeface="Yu Gothic" pitchFamily="34" charset="0"/>
                <a:ea typeface="Yu Gothic" pitchFamily="34" charset="-122"/>
                <a:cs typeface="Yu Gothic" pitchFamily="34" charset="-120"/>
              </a:rPr>
              <a:t>├ WJ-NU101 に常時録画（14 日）</a:t>
            </a:r>
            <a:endParaRPr lang="en-US" sz="1200" dirty="0"/>
          </a:p>
        </p:txBody>
      </p:sp>
      <p:sp>
        <p:nvSpPr>
          <p:cNvPr id="9" name="Text 7"/>
          <p:cNvSpPr/>
          <p:nvPr/>
        </p:nvSpPr>
        <p:spPr>
          <a:xfrm>
            <a:off x="859536" y="3090672"/>
            <a:ext cx="4806544" cy="274320"/>
          </a:xfrm>
          <a:prstGeom prst="rect">
            <a:avLst/>
          </a:prstGeom>
          <a:noFill/>
          <a:ln/>
        </p:spPr>
        <p:txBody>
          <a:bodyPr wrap="square" lIns="0" tIns="0" rIns="0" bIns="0" rtlCol="0" anchor="ctr"/>
          <a:lstStyle/>
          <a:p>
            <a:pPr indent="0" marL="0">
              <a:buNone/>
            </a:pPr>
            <a:r>
              <a:rPr lang="en-US" sz="1200" dirty="0">
                <a:solidFill>
                  <a:srgbClr val="5B5B5F"/>
                </a:solidFill>
                <a:latin typeface="Yu Gothic" pitchFamily="34" charset="0"/>
                <a:ea typeface="Yu Gothic" pitchFamily="34" charset="-122"/>
                <a:cs typeface="Yu Gothic" pitchFamily="34" charset="-120"/>
              </a:rPr>
              <a:t>└ MA-E320 が 24 時間 常時転送</a:t>
            </a:r>
            <a:endParaRPr lang="en-US" sz="1200" dirty="0"/>
          </a:p>
        </p:txBody>
      </p:sp>
      <p:sp>
        <p:nvSpPr>
          <p:cNvPr id="10" name="Text 8"/>
          <p:cNvSpPr/>
          <p:nvPr/>
        </p:nvSpPr>
        <p:spPr>
          <a:xfrm>
            <a:off x="859536" y="3438144"/>
            <a:ext cx="4806544" cy="274320"/>
          </a:xfrm>
          <a:prstGeom prst="rect">
            <a:avLst/>
          </a:prstGeom>
          <a:noFill/>
          <a:ln/>
        </p:spPr>
        <p:txBody>
          <a:bodyPr wrap="square" lIns="0" tIns="0" rIns="0" bIns="0" rtlCol="0" anchor="ctr"/>
          <a:lstStyle/>
          <a:p>
            <a:pPr indent="0" marL="0">
              <a:buNone/>
            </a:pPr>
            <a:r>
              <a:rPr lang="en-US" sz="1200" dirty="0">
                <a:solidFill>
                  <a:srgbClr val="5B5B5F"/>
                </a:solidFill>
                <a:latin typeface="Yu Gothic" pitchFamily="34" charset="0"/>
                <a:ea typeface="Yu Gothic" pitchFamily="34" charset="-122"/>
                <a:cs typeface="Yu Gothic" pitchFamily="34" charset="-120"/>
              </a:rPr>
              <a:t>　　　↓</a:t>
            </a:r>
            <a:endParaRPr lang="en-US" sz="1200" dirty="0"/>
          </a:p>
        </p:txBody>
      </p:sp>
      <p:sp>
        <p:nvSpPr>
          <p:cNvPr id="11" name="Text 9"/>
          <p:cNvSpPr/>
          <p:nvPr/>
        </p:nvSpPr>
        <p:spPr>
          <a:xfrm>
            <a:off x="859536" y="3785616"/>
            <a:ext cx="4806544" cy="274320"/>
          </a:xfrm>
          <a:prstGeom prst="rect">
            <a:avLst/>
          </a:prstGeom>
          <a:noFill/>
          <a:ln/>
        </p:spPr>
        <p:txBody>
          <a:bodyPr wrap="square" lIns="0" tIns="0" rIns="0" bIns="0" rtlCol="0" anchor="ctr"/>
          <a:lstStyle/>
          <a:p>
            <a:pPr indent="0" marL="0">
              <a:buNone/>
            </a:pPr>
            <a:r>
              <a:rPr lang="en-US" sz="1200" dirty="0">
                <a:solidFill>
                  <a:srgbClr val="0F0F10"/>
                </a:solidFill>
                <a:latin typeface="Yu Gothic" pitchFamily="34" charset="0"/>
                <a:ea typeface="Yu Gothic" pitchFamily="34" charset="-122"/>
                <a:cs typeface="Yu Gothic" pitchFamily="34" charset="-120"/>
              </a:rPr>
              <a:t>クラウド録画サービス</a:t>
            </a:r>
            <a:endParaRPr lang="en-US" sz="1200" dirty="0"/>
          </a:p>
        </p:txBody>
      </p:sp>
      <p:sp>
        <p:nvSpPr>
          <p:cNvPr id="12" name="Text 10"/>
          <p:cNvSpPr/>
          <p:nvPr/>
        </p:nvSpPr>
        <p:spPr>
          <a:xfrm>
            <a:off x="859536" y="4133088"/>
            <a:ext cx="4806544" cy="274320"/>
          </a:xfrm>
          <a:prstGeom prst="rect">
            <a:avLst/>
          </a:prstGeom>
          <a:noFill/>
          <a:ln/>
        </p:spPr>
        <p:txBody>
          <a:bodyPr wrap="square" lIns="0" tIns="0" rIns="0" bIns="0" rtlCol="0" anchor="ctr"/>
          <a:lstStyle/>
          <a:p>
            <a:pPr indent="0" marL="0">
              <a:buNone/>
            </a:pPr>
            <a:r>
              <a:rPr lang="en-US" sz="1200" dirty="0">
                <a:solidFill>
                  <a:srgbClr val="5B5B5F"/>
                </a:solidFill>
                <a:latin typeface="Yu Gothic" pitchFamily="34" charset="0"/>
                <a:ea typeface="Yu Gothic" pitchFamily="34" charset="-122"/>
                <a:cs typeface="Yu Gothic" pitchFamily="34" charset="-120"/>
              </a:rPr>
              <a:t>　　　↓</a:t>
            </a:r>
            <a:endParaRPr lang="en-US" sz="1200" dirty="0"/>
          </a:p>
        </p:txBody>
      </p:sp>
      <p:sp>
        <p:nvSpPr>
          <p:cNvPr id="13" name="Text 11"/>
          <p:cNvSpPr/>
          <p:nvPr/>
        </p:nvSpPr>
        <p:spPr>
          <a:xfrm>
            <a:off x="859536" y="4480560"/>
            <a:ext cx="4806544" cy="274320"/>
          </a:xfrm>
          <a:prstGeom prst="rect">
            <a:avLst/>
          </a:prstGeom>
          <a:noFill/>
          <a:ln/>
        </p:spPr>
        <p:txBody>
          <a:bodyPr wrap="square" lIns="0" tIns="0" rIns="0" bIns="0" rtlCol="0" anchor="ctr"/>
          <a:lstStyle/>
          <a:p>
            <a:pPr indent="0" marL="0">
              <a:buNone/>
            </a:pPr>
            <a:r>
              <a:rPr lang="en-US" sz="1200" dirty="0">
                <a:solidFill>
                  <a:srgbClr val="0F0F10"/>
                </a:solidFill>
                <a:latin typeface="Yu Gothic" pitchFamily="34" charset="0"/>
                <a:ea typeface="Yu Gothic" pitchFamily="34" charset="-122"/>
                <a:cs typeface="Yu Gothic" pitchFamily="34" charset="-120"/>
              </a:rPr>
              <a:t>手荷物検査の証跡</a:t>
            </a:r>
            <a:endParaRPr lang="en-US" sz="1200" dirty="0"/>
          </a:p>
        </p:txBody>
      </p:sp>
      <p:sp>
        <p:nvSpPr>
          <p:cNvPr id="14" name="Shape 12"/>
          <p:cNvSpPr/>
          <p:nvPr/>
        </p:nvSpPr>
        <p:spPr>
          <a:xfrm>
            <a:off x="6233008" y="1645920"/>
            <a:ext cx="5391760" cy="3456432"/>
          </a:xfrm>
          <a:prstGeom prst="roundRect">
            <a:avLst>
              <a:gd name="adj" fmla="val 1323"/>
            </a:avLst>
          </a:prstGeom>
          <a:solidFill>
            <a:srgbClr val="FFFFFF"/>
          </a:solidFill>
          <a:ln w="12700">
            <a:solidFill>
              <a:srgbClr val="2C4A7E"/>
            </a:solidFill>
            <a:prstDash val="solid"/>
          </a:ln>
        </p:spPr>
      </p:sp>
      <p:sp>
        <p:nvSpPr>
          <p:cNvPr id="15" name="Text 13"/>
          <p:cNvSpPr/>
          <p:nvPr/>
        </p:nvSpPr>
        <p:spPr>
          <a:xfrm>
            <a:off x="6525616" y="1847088"/>
            <a:ext cx="4806544" cy="292608"/>
          </a:xfrm>
          <a:prstGeom prst="rect">
            <a:avLst/>
          </a:prstGeom>
          <a:noFill/>
          <a:ln/>
        </p:spPr>
        <p:txBody>
          <a:bodyPr wrap="square" lIns="0" tIns="0" rIns="0" bIns="0" rtlCol="0" anchor="t"/>
          <a:lstStyle/>
          <a:p>
            <a:pPr indent="0" marL="0">
              <a:buNone/>
            </a:pPr>
            <a:r>
              <a:rPr lang="en-US" sz="1500" b="1" dirty="0">
                <a:solidFill>
                  <a:srgbClr val="2C4A7E"/>
                </a:solidFill>
                <a:latin typeface="Yu Gothic" pitchFamily="34" charset="0"/>
                <a:ea typeface="Yu Gothic" pitchFamily="34" charset="-122"/>
                <a:cs typeface="Yu Gothic" pitchFamily="34" charset="-120"/>
              </a:rPr>
              <a:t>ご提案</a:t>
            </a:r>
            <a:endParaRPr lang="en-US" sz="1500" dirty="0"/>
          </a:p>
        </p:txBody>
      </p:sp>
      <p:sp>
        <p:nvSpPr>
          <p:cNvPr id="16" name="Shape 14"/>
          <p:cNvSpPr/>
          <p:nvPr/>
        </p:nvSpPr>
        <p:spPr>
          <a:xfrm>
            <a:off x="6525616" y="2212848"/>
            <a:ext cx="4806544" cy="0"/>
          </a:xfrm>
          <a:prstGeom prst="line">
            <a:avLst/>
          </a:prstGeom>
          <a:noFill/>
          <a:ln w="12700">
            <a:solidFill>
              <a:srgbClr val="2C4A7E"/>
            </a:solidFill>
            <a:prstDash val="solid"/>
          </a:ln>
        </p:spPr>
      </p:sp>
      <p:sp>
        <p:nvSpPr>
          <p:cNvPr id="17" name="Text 15"/>
          <p:cNvSpPr/>
          <p:nvPr/>
        </p:nvSpPr>
        <p:spPr>
          <a:xfrm>
            <a:off x="6525616" y="2395728"/>
            <a:ext cx="4806544" cy="274320"/>
          </a:xfrm>
          <a:prstGeom prst="rect">
            <a:avLst/>
          </a:prstGeom>
          <a:noFill/>
          <a:ln/>
        </p:spPr>
        <p:txBody>
          <a:bodyPr wrap="square" lIns="0" tIns="0" rIns="0" bIns="0" rtlCol="0" anchor="ctr"/>
          <a:lstStyle/>
          <a:p>
            <a:pPr indent="0" marL="0">
              <a:buNone/>
            </a:pPr>
            <a:r>
              <a:rPr lang="en-US" sz="1200" dirty="0">
                <a:solidFill>
                  <a:srgbClr val="0F0F10"/>
                </a:solidFill>
                <a:latin typeface="Yu Gothic" pitchFamily="34" charset="0"/>
                <a:ea typeface="Yu Gothic" pitchFamily="34" charset="-122"/>
                <a:cs typeface="Yu Gothic" pitchFamily="34" charset="-120"/>
              </a:rPr>
              <a:t>カメラ 2 台（768 kbps・H.264）</a:t>
            </a:r>
            <a:endParaRPr lang="en-US" sz="1200" dirty="0"/>
          </a:p>
        </p:txBody>
      </p:sp>
      <p:sp>
        <p:nvSpPr>
          <p:cNvPr id="18" name="Text 16"/>
          <p:cNvSpPr/>
          <p:nvPr/>
        </p:nvSpPr>
        <p:spPr>
          <a:xfrm>
            <a:off x="6525616" y="2743200"/>
            <a:ext cx="4806544" cy="274320"/>
          </a:xfrm>
          <a:prstGeom prst="rect">
            <a:avLst/>
          </a:prstGeom>
          <a:noFill/>
          <a:ln/>
        </p:spPr>
        <p:txBody>
          <a:bodyPr wrap="square" lIns="0" tIns="0" rIns="0" bIns="0" rtlCol="0" anchor="ctr"/>
          <a:lstStyle/>
          <a:p>
            <a:pPr indent="0" marL="0">
              <a:buNone/>
            </a:pPr>
            <a:r>
              <a:rPr lang="en-US" sz="1200" dirty="0">
                <a:solidFill>
                  <a:srgbClr val="5B5B5F"/>
                </a:solidFill>
                <a:latin typeface="Yu Gothic" pitchFamily="34" charset="0"/>
                <a:ea typeface="Yu Gothic" pitchFamily="34" charset="-122"/>
                <a:cs typeface="Yu Gothic" pitchFamily="34" charset="-120"/>
              </a:rPr>
              <a:t>└ WJ-NU101 に常時録画（14 日）</a:t>
            </a:r>
            <a:endParaRPr lang="en-US" sz="1200" dirty="0"/>
          </a:p>
        </p:txBody>
      </p:sp>
      <p:sp>
        <p:nvSpPr>
          <p:cNvPr id="19" name="Text 17"/>
          <p:cNvSpPr/>
          <p:nvPr/>
        </p:nvSpPr>
        <p:spPr>
          <a:xfrm>
            <a:off x="6525616" y="3090672"/>
            <a:ext cx="4806544" cy="274320"/>
          </a:xfrm>
          <a:prstGeom prst="rect">
            <a:avLst/>
          </a:prstGeom>
          <a:noFill/>
          <a:ln/>
        </p:spPr>
        <p:txBody>
          <a:bodyPr wrap="square" lIns="0" tIns="0" rIns="0" bIns="0" rtlCol="0" anchor="ctr"/>
          <a:lstStyle/>
          <a:p>
            <a:pPr indent="0" marL="0">
              <a:buNone/>
            </a:pPr>
            <a:r>
              <a:rPr lang="en-US" sz="1200" b="1" dirty="0">
                <a:solidFill>
                  <a:srgbClr val="2C4A7E"/>
                </a:solidFill>
                <a:latin typeface="Yu Gothic" pitchFamily="34" charset="0"/>
                <a:ea typeface="Yu Gothic" pitchFamily="34" charset="-122"/>
                <a:cs typeface="Yu Gothic" pitchFamily="34" charset="-120"/>
              </a:rPr>
              <a:t>　　　↓  検査の時間帯だけ切り出し</a:t>
            </a:r>
            <a:endParaRPr lang="en-US" sz="1200" dirty="0"/>
          </a:p>
        </p:txBody>
      </p:sp>
      <p:sp>
        <p:nvSpPr>
          <p:cNvPr id="20" name="Text 18"/>
          <p:cNvSpPr/>
          <p:nvPr/>
        </p:nvSpPr>
        <p:spPr>
          <a:xfrm>
            <a:off x="6525616" y="3438144"/>
            <a:ext cx="4806544" cy="274320"/>
          </a:xfrm>
          <a:prstGeom prst="rect">
            <a:avLst/>
          </a:prstGeom>
          <a:noFill/>
          <a:ln/>
        </p:spPr>
        <p:txBody>
          <a:bodyPr wrap="square" lIns="0" tIns="0" rIns="0" bIns="0" rtlCol="0" anchor="ctr"/>
          <a:lstStyle/>
          <a:p>
            <a:pPr indent="0" marL="0">
              <a:buNone/>
            </a:pPr>
            <a:r>
              <a:rPr lang="en-US" sz="1200" dirty="0">
                <a:solidFill>
                  <a:srgbClr val="0F0F10"/>
                </a:solidFill>
                <a:latin typeface="Yu Gothic" pitchFamily="34" charset="0"/>
                <a:ea typeface="Yu Gothic" pitchFamily="34" charset="-122"/>
                <a:cs typeface="Yu Gothic" pitchFamily="34" charset="-120"/>
              </a:rPr>
              <a:t>MA-E320（当社ソフトへ入れ替え）</a:t>
            </a:r>
            <a:endParaRPr lang="en-US" sz="1200" dirty="0"/>
          </a:p>
        </p:txBody>
      </p:sp>
      <p:sp>
        <p:nvSpPr>
          <p:cNvPr id="21" name="Text 19"/>
          <p:cNvSpPr/>
          <p:nvPr/>
        </p:nvSpPr>
        <p:spPr>
          <a:xfrm>
            <a:off x="6525616" y="3785616"/>
            <a:ext cx="4806544" cy="274320"/>
          </a:xfrm>
          <a:prstGeom prst="rect">
            <a:avLst/>
          </a:prstGeom>
          <a:noFill/>
          <a:ln/>
        </p:spPr>
        <p:txBody>
          <a:bodyPr wrap="square" lIns="0" tIns="0" rIns="0" bIns="0" rtlCol="0" anchor="ctr"/>
          <a:lstStyle/>
          <a:p>
            <a:pPr indent="0" marL="0">
              <a:buNone/>
            </a:pPr>
            <a:r>
              <a:rPr lang="en-US" sz="1200" dirty="0">
                <a:solidFill>
                  <a:srgbClr val="5B5B5F"/>
                </a:solidFill>
                <a:latin typeface="Yu Gothic" pitchFamily="34" charset="0"/>
                <a:ea typeface="Yu Gothic" pitchFamily="34" charset="-122"/>
                <a:cs typeface="Yu Gothic" pitchFamily="34" charset="-120"/>
              </a:rPr>
              <a:t>　　　↓</a:t>
            </a:r>
            <a:endParaRPr lang="en-US" sz="1200" dirty="0"/>
          </a:p>
        </p:txBody>
      </p:sp>
      <p:sp>
        <p:nvSpPr>
          <p:cNvPr id="22" name="Text 20"/>
          <p:cNvSpPr/>
          <p:nvPr/>
        </p:nvSpPr>
        <p:spPr>
          <a:xfrm>
            <a:off x="6525616" y="4133088"/>
            <a:ext cx="4806544" cy="274320"/>
          </a:xfrm>
          <a:prstGeom prst="rect">
            <a:avLst/>
          </a:prstGeom>
          <a:noFill/>
          <a:ln/>
        </p:spPr>
        <p:txBody>
          <a:bodyPr wrap="square" lIns="0" tIns="0" rIns="0" bIns="0" rtlCol="0" anchor="ctr"/>
          <a:lstStyle/>
          <a:p>
            <a:pPr indent="0" marL="0">
              <a:buNone/>
            </a:pPr>
            <a:r>
              <a:rPr lang="en-US" sz="1200" b="1" dirty="0">
                <a:solidFill>
                  <a:srgbClr val="2C4A7E"/>
                </a:solidFill>
                <a:latin typeface="Yu Gothic" pitchFamily="34" charset="0"/>
                <a:ea typeface="Yu Gothic" pitchFamily="34" charset="-122"/>
                <a:cs typeface="Yu Gothic" pitchFamily="34" charset="-120"/>
              </a:rPr>
              <a:t>Recorder Monitor</a:t>
            </a:r>
            <a:endParaRPr lang="en-US" sz="1200" dirty="0"/>
          </a:p>
        </p:txBody>
      </p:sp>
      <p:sp>
        <p:nvSpPr>
          <p:cNvPr id="23" name="Text 21"/>
          <p:cNvSpPr/>
          <p:nvPr/>
        </p:nvSpPr>
        <p:spPr>
          <a:xfrm>
            <a:off x="6525616" y="4480560"/>
            <a:ext cx="4806544" cy="274320"/>
          </a:xfrm>
          <a:prstGeom prst="rect">
            <a:avLst/>
          </a:prstGeom>
          <a:noFill/>
          <a:ln/>
        </p:spPr>
        <p:txBody>
          <a:bodyPr wrap="square" lIns="0" tIns="0" rIns="0" bIns="0" rtlCol="0" anchor="ctr"/>
          <a:lstStyle/>
          <a:p>
            <a:pPr indent="0" marL="0">
              <a:buNone/>
            </a:pPr>
            <a:r>
              <a:rPr lang="en-US" sz="1200" dirty="0">
                <a:solidFill>
                  <a:srgbClr val="0F0F10"/>
                </a:solidFill>
                <a:latin typeface="Yu Gothic" pitchFamily="34" charset="0"/>
                <a:ea typeface="Yu Gothic" pitchFamily="34" charset="-122"/>
                <a:cs typeface="Yu Gothic" pitchFamily="34" charset="-120"/>
              </a:rPr>
              <a:t>証跡クリップを 60 日保管</a:t>
            </a:r>
            <a:endParaRPr lang="en-US" sz="1200" dirty="0"/>
          </a:p>
        </p:txBody>
      </p:sp>
      <p:sp>
        <p:nvSpPr>
          <p:cNvPr id="24" name="Shape 22"/>
          <p:cNvSpPr/>
          <p:nvPr/>
        </p:nvSpPr>
        <p:spPr>
          <a:xfrm>
            <a:off x="566928" y="5285232"/>
            <a:ext cx="11057839" cy="713232"/>
          </a:xfrm>
          <a:prstGeom prst="roundRect">
            <a:avLst>
              <a:gd name="adj" fmla="val 6410"/>
            </a:avLst>
          </a:prstGeom>
          <a:solidFill>
            <a:srgbClr val="E4EAF3"/>
          </a:solidFill>
          <a:ln w="12700">
            <a:solidFill>
              <a:srgbClr val="2C4A7E"/>
            </a:solidFill>
            <a:prstDash val="solid"/>
          </a:ln>
        </p:spPr>
      </p:sp>
      <p:sp>
        <p:nvSpPr>
          <p:cNvPr id="25" name="Text 23"/>
          <p:cNvSpPr/>
          <p:nvPr/>
        </p:nvSpPr>
        <p:spPr>
          <a:xfrm>
            <a:off x="841248" y="5285232"/>
            <a:ext cx="10509199" cy="713232"/>
          </a:xfrm>
          <a:prstGeom prst="rect">
            <a:avLst/>
          </a:prstGeom>
          <a:noFill/>
          <a:ln/>
        </p:spPr>
        <p:txBody>
          <a:bodyPr wrap="square" lIns="0" tIns="0" rIns="0" bIns="0" rtlCol="0" anchor="ctr"/>
          <a:lstStyle/>
          <a:p>
            <a:pPr indent="0" marL="0">
              <a:buNone/>
            </a:pPr>
            <a:r>
              <a:rPr lang="en-US" sz="1250" b="1" dirty="0">
                <a:solidFill>
                  <a:srgbClr val="2C4A7E"/>
                </a:solidFill>
                <a:latin typeface="Yu Gothic" pitchFamily="34" charset="0"/>
                <a:ea typeface="Yu Gothic" pitchFamily="34" charset="-122"/>
                <a:cs typeface="Yu Gothic" pitchFamily="34" charset="-120"/>
              </a:rPr>
              <a:t>カメラの設定変更は不要です。レコーダーの録画設定も変更しません。入れ替えるのは中継機のソフトだけです。</a:t>
            </a:r>
            <a:endParaRPr lang="en-US" sz="1250" dirty="0"/>
          </a:p>
        </p:txBody>
      </p:sp>
      <p:sp>
        <p:nvSpPr>
          <p:cNvPr id="26" name="Text 24"/>
          <p:cNvSpPr/>
          <p:nvPr/>
        </p:nvSpPr>
        <p:spPr>
          <a:xfrm>
            <a:off x="566928" y="6419088"/>
            <a:ext cx="5486400" cy="256032"/>
          </a:xfrm>
          <a:prstGeom prst="rect">
            <a:avLst/>
          </a:prstGeom>
          <a:noFill/>
          <a:ln/>
        </p:spPr>
        <p:txBody>
          <a:bodyPr wrap="square" lIns="0" tIns="0" rIns="0" bIns="0" rtlCol="0" anchor="ctr"/>
          <a:lstStyle/>
          <a:p>
            <a:pPr indent="0" marL="0">
              <a:buNone/>
            </a:pPr>
            <a:r>
              <a:rPr lang="en-US" sz="950" dirty="0">
                <a:solidFill>
                  <a:srgbClr val="5B5B5F"/>
                </a:solidFill>
                <a:latin typeface="Yu Gothic" pitchFamily="34" charset="0"/>
                <a:ea typeface="Yu Gothic" pitchFamily="34" charset="-122"/>
                <a:cs typeface="Yu Gothic" pitchFamily="34" charset="-120"/>
              </a:rPr>
              <a:t>Recorder Monitor ／ 株式会社ジェネシス・エッジ</a:t>
            </a:r>
            <a:endParaRPr lang="en-US" sz="950" dirty="0"/>
          </a:p>
        </p:txBody>
      </p:sp>
      <p:sp>
        <p:nvSpPr>
          <p:cNvPr id="27" name="Text 25"/>
          <p:cNvSpPr/>
          <p:nvPr/>
        </p:nvSpPr>
        <p:spPr>
          <a:xfrm>
            <a:off x="10710367" y="6419088"/>
            <a:ext cx="914400" cy="256032"/>
          </a:xfrm>
          <a:prstGeom prst="rect">
            <a:avLst/>
          </a:prstGeom>
          <a:noFill/>
          <a:ln/>
        </p:spPr>
        <p:txBody>
          <a:bodyPr wrap="square" lIns="0" tIns="0" rIns="0" bIns="0" rtlCol="0" anchor="ctr"/>
          <a:lstStyle/>
          <a:p>
            <a:pPr algn="r" indent="0" marL="0">
              <a:buNone/>
            </a:pPr>
            <a:r>
              <a:rPr lang="en-US" sz="950" dirty="0">
                <a:solidFill>
                  <a:srgbClr val="5B5B5F"/>
                </a:solidFill>
                <a:latin typeface="Yu Gothic" pitchFamily="34" charset="0"/>
                <a:ea typeface="Yu Gothic" pitchFamily="34" charset="-122"/>
                <a:cs typeface="Yu Gothic"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1"/>
        </a:solidFill>
      </p:bgPr>
    </p:bg>
    <p:spTree>
      <p:nvGrpSpPr>
        <p:cNvPr id="1" name=""/>
        <p:cNvGrpSpPr/>
        <p:nvPr/>
      </p:nvGrpSpPr>
      <p:grpSpPr>
        <a:xfrm>
          <a:off x="0" y="0"/>
          <a:ext cx="0" cy="0"/>
          <a:chOff x="0" y="0"/>
          <a:chExt cx="0" cy="0"/>
        </a:xfrm>
      </p:grpSpPr>
      <p:sp>
        <p:nvSpPr>
          <p:cNvPr id="2" name="Text 0"/>
          <p:cNvSpPr/>
          <p:nvPr/>
        </p:nvSpPr>
        <p:spPr>
          <a:xfrm>
            <a:off x="566928" y="402336"/>
            <a:ext cx="11057839" cy="475488"/>
          </a:xfrm>
          <a:prstGeom prst="rect">
            <a:avLst/>
          </a:prstGeom>
          <a:noFill/>
          <a:ln/>
        </p:spPr>
        <p:txBody>
          <a:bodyPr wrap="square" lIns="0" tIns="0" rIns="0" bIns="0" rtlCol="0" anchor="t"/>
          <a:lstStyle/>
          <a:p>
            <a:pPr indent="0" marL="0">
              <a:buNone/>
            </a:pPr>
            <a:r>
              <a:rPr lang="en-US" sz="2700" b="1" dirty="0">
                <a:solidFill>
                  <a:srgbClr val="0F0F10"/>
                </a:solidFill>
                <a:latin typeface="Yu Gothic" pitchFamily="34" charset="0"/>
                <a:ea typeface="Yu Gothic" pitchFamily="34" charset="-122"/>
                <a:cs typeface="Yu Gothic" pitchFamily="34" charset="-120"/>
              </a:rPr>
              <a:t>移行後の流れ</a:t>
            </a:r>
            <a:endParaRPr lang="en-US" sz="2700" dirty="0"/>
          </a:p>
        </p:txBody>
      </p:sp>
      <p:sp>
        <p:nvSpPr>
          <p:cNvPr id="3" name="Text 1"/>
          <p:cNvSpPr/>
          <p:nvPr/>
        </p:nvSpPr>
        <p:spPr>
          <a:xfrm>
            <a:off x="566928" y="932688"/>
            <a:ext cx="11057839" cy="384048"/>
          </a:xfrm>
          <a:prstGeom prst="rect">
            <a:avLst/>
          </a:prstGeom>
          <a:noFill/>
          <a:ln/>
        </p:spPr>
        <p:txBody>
          <a:bodyPr wrap="square" lIns="0" tIns="0" rIns="0" bIns="0" rtlCol="0" anchor="t"/>
          <a:lstStyle/>
          <a:p>
            <a:pPr indent="0" marL="0">
              <a:lnSpc>
                <a:spcPct val="135000"/>
              </a:lnSpc>
              <a:buNone/>
            </a:pPr>
            <a:r>
              <a:rPr lang="en-US" sz="1300" dirty="0">
                <a:solidFill>
                  <a:srgbClr val="5B5B5F"/>
                </a:solidFill>
                <a:latin typeface="Yu Gothic" pitchFamily="34" charset="0"/>
                <a:ea typeface="Yu Gothic" pitchFamily="34" charset="-122"/>
                <a:cs typeface="Yu Gothic" pitchFamily="34" charset="-120"/>
              </a:rPr>
              <a:t>検査から証跡の保管まで、すべて自動で行われます。人が操作する手順は増えません。</a:t>
            </a:r>
            <a:endParaRPr lang="en-US" sz="1300" dirty="0"/>
          </a:p>
        </p:txBody>
      </p:sp>
      <p:sp>
        <p:nvSpPr>
          <p:cNvPr id="4" name="Shape 2"/>
          <p:cNvSpPr/>
          <p:nvPr/>
        </p:nvSpPr>
        <p:spPr>
          <a:xfrm>
            <a:off x="566928" y="1773936"/>
            <a:ext cx="310896" cy="310896"/>
          </a:xfrm>
          <a:prstGeom prst="roundRect">
            <a:avLst>
              <a:gd name="adj" fmla="val 14706"/>
            </a:avLst>
          </a:prstGeom>
          <a:solidFill>
            <a:srgbClr val="2C4A7E"/>
          </a:solidFill>
          <a:ln w="12700">
            <a:solidFill>
              <a:srgbClr val="2C4A7E"/>
            </a:solidFill>
            <a:prstDash val="solid"/>
          </a:ln>
        </p:spPr>
      </p:sp>
      <p:sp>
        <p:nvSpPr>
          <p:cNvPr id="5" name="Text 3"/>
          <p:cNvSpPr/>
          <p:nvPr/>
        </p:nvSpPr>
        <p:spPr>
          <a:xfrm>
            <a:off x="566928" y="177393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1</a:t>
            </a:r>
            <a:endParaRPr lang="en-US" sz="1300" dirty="0"/>
          </a:p>
        </p:txBody>
      </p:sp>
      <p:sp>
        <p:nvSpPr>
          <p:cNvPr id="6" name="Text 4"/>
          <p:cNvSpPr/>
          <p:nvPr/>
        </p:nvSpPr>
        <p:spPr>
          <a:xfrm>
            <a:off x="1024128" y="1755648"/>
            <a:ext cx="10600639" cy="274320"/>
          </a:xfrm>
          <a:prstGeom prst="rect">
            <a:avLst/>
          </a:prstGeom>
          <a:noFill/>
          <a:ln/>
        </p:spPr>
        <p:txBody>
          <a:bodyPr wrap="square" lIns="0" tIns="0" rIns="0" bIns="0" rtlCol="0" anchor="t"/>
          <a:lstStyle/>
          <a:p>
            <a:pPr indent="0" marL="0">
              <a:buNone/>
            </a:pPr>
            <a:r>
              <a:rPr lang="en-US" sz="1350" b="1" dirty="0">
                <a:solidFill>
                  <a:srgbClr val="0F0F10"/>
                </a:solidFill>
                <a:latin typeface="Yu Gothic" pitchFamily="34" charset="0"/>
                <a:ea typeface="Yu Gothic" pitchFamily="34" charset="-122"/>
                <a:cs typeface="Yu Gothic" pitchFamily="34" charset="-120"/>
              </a:rPr>
              <a:t>検査台の iPad で検査を実施します</a:t>
            </a:r>
            <a:endParaRPr lang="en-US" sz="1350" dirty="0"/>
          </a:p>
        </p:txBody>
      </p:sp>
      <p:sp>
        <p:nvSpPr>
          <p:cNvPr id="7" name="Text 5"/>
          <p:cNvSpPr/>
          <p:nvPr/>
        </p:nvSpPr>
        <p:spPr>
          <a:xfrm>
            <a:off x="1024128" y="2048256"/>
            <a:ext cx="10600639" cy="566928"/>
          </a:xfrm>
          <a:prstGeom prst="rect">
            <a:avLst/>
          </a:prstGeom>
          <a:noFill/>
          <a:ln/>
        </p:spPr>
        <p:txBody>
          <a:bodyPr wrap="square" lIns="0" tIns="0" rIns="0" bIns="0" rtlCol="0" anchor="t"/>
          <a:lstStyle/>
          <a:p>
            <a:pPr indent="0" marL="0">
              <a:lnSpc>
                <a:spcPct val="130000"/>
              </a:lnSpc>
              <a:buNone/>
            </a:pPr>
            <a:r>
              <a:rPr lang="en-US" sz="1150" dirty="0">
                <a:solidFill>
                  <a:srgbClr val="5B5B5F"/>
                </a:solidFill>
                <a:latin typeface="Yu Gothic" pitchFamily="34" charset="0"/>
                <a:ea typeface="Yu Gothic" pitchFamily="34" charset="-122"/>
                <a:cs typeface="Yu Gothic" pitchFamily="34" charset="-120"/>
              </a:rPr>
              <a:t>従業員の入室・退室に合わせて、顔認証と手順の読み上げを行います。</a:t>
            </a:r>
            <a:endParaRPr lang="en-US" sz="1150" dirty="0"/>
          </a:p>
        </p:txBody>
      </p:sp>
      <p:sp>
        <p:nvSpPr>
          <p:cNvPr id="8" name="Shape 6"/>
          <p:cNvSpPr/>
          <p:nvPr/>
        </p:nvSpPr>
        <p:spPr>
          <a:xfrm>
            <a:off x="566928" y="2706624"/>
            <a:ext cx="310896" cy="310896"/>
          </a:xfrm>
          <a:prstGeom prst="roundRect">
            <a:avLst>
              <a:gd name="adj" fmla="val 14706"/>
            </a:avLst>
          </a:prstGeom>
          <a:solidFill>
            <a:srgbClr val="2C4A7E"/>
          </a:solidFill>
          <a:ln w="12700">
            <a:solidFill>
              <a:srgbClr val="2C4A7E"/>
            </a:solidFill>
            <a:prstDash val="solid"/>
          </a:ln>
        </p:spPr>
      </p:sp>
      <p:sp>
        <p:nvSpPr>
          <p:cNvPr id="9" name="Text 7"/>
          <p:cNvSpPr/>
          <p:nvPr/>
        </p:nvSpPr>
        <p:spPr>
          <a:xfrm>
            <a:off x="566928" y="270662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2</a:t>
            </a:r>
            <a:endParaRPr lang="en-US" sz="1300" dirty="0"/>
          </a:p>
        </p:txBody>
      </p:sp>
      <p:sp>
        <p:nvSpPr>
          <p:cNvPr id="10" name="Text 8"/>
          <p:cNvSpPr/>
          <p:nvPr/>
        </p:nvSpPr>
        <p:spPr>
          <a:xfrm>
            <a:off x="1024128" y="2688336"/>
            <a:ext cx="10600639" cy="274320"/>
          </a:xfrm>
          <a:prstGeom prst="rect">
            <a:avLst/>
          </a:prstGeom>
          <a:noFill/>
          <a:ln/>
        </p:spPr>
        <p:txBody>
          <a:bodyPr wrap="square" lIns="0" tIns="0" rIns="0" bIns="0" rtlCol="0" anchor="t"/>
          <a:lstStyle/>
          <a:p>
            <a:pPr indent="0" marL="0">
              <a:buNone/>
            </a:pPr>
            <a:r>
              <a:rPr lang="en-US" sz="1350" b="1" dirty="0">
                <a:solidFill>
                  <a:srgbClr val="0F0F10"/>
                </a:solidFill>
                <a:latin typeface="Yu Gothic" pitchFamily="34" charset="0"/>
                <a:ea typeface="Yu Gothic" pitchFamily="34" charset="-122"/>
                <a:cs typeface="Yu Gothic" pitchFamily="34" charset="-120"/>
              </a:rPr>
              <a:t>検査の時刻が記録されます</a:t>
            </a:r>
            <a:endParaRPr lang="en-US" sz="1350" dirty="0"/>
          </a:p>
        </p:txBody>
      </p:sp>
      <p:sp>
        <p:nvSpPr>
          <p:cNvPr id="11" name="Text 9"/>
          <p:cNvSpPr/>
          <p:nvPr/>
        </p:nvSpPr>
        <p:spPr>
          <a:xfrm>
            <a:off x="1024128" y="2980944"/>
            <a:ext cx="10600639" cy="566928"/>
          </a:xfrm>
          <a:prstGeom prst="rect">
            <a:avLst/>
          </a:prstGeom>
          <a:noFill/>
          <a:ln/>
        </p:spPr>
        <p:txBody>
          <a:bodyPr wrap="square" lIns="0" tIns="0" rIns="0" bIns="0" rtlCol="0" anchor="t"/>
          <a:lstStyle/>
          <a:p>
            <a:pPr indent="0" marL="0">
              <a:lnSpc>
                <a:spcPct val="130000"/>
              </a:lnSpc>
              <a:buNone/>
            </a:pPr>
            <a:r>
              <a:rPr lang="en-US" sz="1150" dirty="0">
                <a:solidFill>
                  <a:srgbClr val="5B5B5F"/>
                </a:solidFill>
                <a:latin typeface="Yu Gothic" pitchFamily="34" charset="0"/>
                <a:ea typeface="Yu Gothic" pitchFamily="34" charset="-122"/>
                <a:cs typeface="Yu Gothic" pitchFamily="34" charset="-120"/>
              </a:rPr>
              <a:t>どの従業員が、いつ、どの操作をしたかがクラウドに残ります。</a:t>
            </a:r>
            <a:endParaRPr lang="en-US" sz="1150" dirty="0"/>
          </a:p>
        </p:txBody>
      </p:sp>
      <p:sp>
        <p:nvSpPr>
          <p:cNvPr id="12" name="Shape 10"/>
          <p:cNvSpPr/>
          <p:nvPr/>
        </p:nvSpPr>
        <p:spPr>
          <a:xfrm>
            <a:off x="566928" y="3639312"/>
            <a:ext cx="310896" cy="310896"/>
          </a:xfrm>
          <a:prstGeom prst="roundRect">
            <a:avLst>
              <a:gd name="adj" fmla="val 14706"/>
            </a:avLst>
          </a:prstGeom>
          <a:solidFill>
            <a:srgbClr val="2C4A7E"/>
          </a:solidFill>
          <a:ln w="12700">
            <a:solidFill>
              <a:srgbClr val="2C4A7E"/>
            </a:solidFill>
            <a:prstDash val="solid"/>
          </a:ln>
        </p:spPr>
      </p:sp>
      <p:sp>
        <p:nvSpPr>
          <p:cNvPr id="13" name="Text 11"/>
          <p:cNvSpPr/>
          <p:nvPr/>
        </p:nvSpPr>
        <p:spPr>
          <a:xfrm>
            <a:off x="566928" y="363931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3</a:t>
            </a:r>
            <a:endParaRPr lang="en-US" sz="1300" dirty="0"/>
          </a:p>
        </p:txBody>
      </p:sp>
      <p:sp>
        <p:nvSpPr>
          <p:cNvPr id="14" name="Text 12"/>
          <p:cNvSpPr/>
          <p:nvPr/>
        </p:nvSpPr>
        <p:spPr>
          <a:xfrm>
            <a:off x="1024128" y="3621024"/>
            <a:ext cx="10600639" cy="274320"/>
          </a:xfrm>
          <a:prstGeom prst="rect">
            <a:avLst/>
          </a:prstGeom>
          <a:noFill/>
          <a:ln/>
        </p:spPr>
        <p:txBody>
          <a:bodyPr wrap="square" lIns="0" tIns="0" rIns="0" bIns="0" rtlCol="0" anchor="t"/>
          <a:lstStyle/>
          <a:p>
            <a:pPr indent="0" marL="0">
              <a:buNone/>
            </a:pPr>
            <a:r>
              <a:rPr lang="en-US" sz="1350" b="1" dirty="0">
                <a:solidFill>
                  <a:srgbClr val="0F0F10"/>
                </a:solidFill>
                <a:latin typeface="Yu Gothic" pitchFamily="34" charset="0"/>
                <a:ea typeface="Yu Gothic" pitchFamily="34" charset="-122"/>
                <a:cs typeface="Yu Gothic" pitchFamily="34" charset="-120"/>
              </a:rPr>
              <a:t>中継機が、その時間帯の映像だけをレコーダーから切り出します</a:t>
            </a:r>
            <a:endParaRPr lang="en-US" sz="1350" dirty="0"/>
          </a:p>
        </p:txBody>
      </p:sp>
      <p:sp>
        <p:nvSpPr>
          <p:cNvPr id="15" name="Text 13"/>
          <p:cNvSpPr/>
          <p:nvPr/>
        </p:nvSpPr>
        <p:spPr>
          <a:xfrm>
            <a:off x="1024128" y="3913632"/>
            <a:ext cx="10600639" cy="566928"/>
          </a:xfrm>
          <a:prstGeom prst="rect">
            <a:avLst/>
          </a:prstGeom>
          <a:noFill/>
          <a:ln/>
        </p:spPr>
        <p:txBody>
          <a:bodyPr wrap="square" lIns="0" tIns="0" rIns="0" bIns="0" rtlCol="0" anchor="t"/>
          <a:lstStyle/>
          <a:p>
            <a:pPr indent="0" marL="0">
              <a:lnSpc>
                <a:spcPct val="130000"/>
              </a:lnSpc>
              <a:buNone/>
            </a:pPr>
            <a:r>
              <a:rPr lang="en-US" sz="1150" dirty="0">
                <a:solidFill>
                  <a:srgbClr val="5B5B5F"/>
                </a:solidFill>
                <a:latin typeface="Yu Gothic" pitchFamily="34" charset="0"/>
                <a:ea typeface="Yu Gothic" pitchFamily="34" charset="-122"/>
                <a:cs typeface="Yu Gothic" pitchFamily="34" charset="-120"/>
              </a:rPr>
              <a:t>既設の WJ-NU101 に録画されている映像から、検査の前後だけを取得します。</a:t>
            </a:r>
            <a:endParaRPr lang="en-US" sz="1150" dirty="0"/>
          </a:p>
        </p:txBody>
      </p:sp>
      <p:sp>
        <p:nvSpPr>
          <p:cNvPr id="16" name="Shape 14"/>
          <p:cNvSpPr/>
          <p:nvPr/>
        </p:nvSpPr>
        <p:spPr>
          <a:xfrm>
            <a:off x="566928" y="4572000"/>
            <a:ext cx="310896" cy="310896"/>
          </a:xfrm>
          <a:prstGeom prst="roundRect">
            <a:avLst>
              <a:gd name="adj" fmla="val 14706"/>
            </a:avLst>
          </a:prstGeom>
          <a:solidFill>
            <a:srgbClr val="2C4A7E"/>
          </a:solidFill>
          <a:ln w="12700">
            <a:solidFill>
              <a:srgbClr val="2C4A7E"/>
            </a:solidFill>
            <a:prstDash val="solid"/>
          </a:ln>
        </p:spPr>
      </p:sp>
      <p:sp>
        <p:nvSpPr>
          <p:cNvPr id="17" name="Text 15"/>
          <p:cNvSpPr/>
          <p:nvPr/>
        </p:nvSpPr>
        <p:spPr>
          <a:xfrm>
            <a:off x="566928" y="457200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4</a:t>
            </a:r>
            <a:endParaRPr lang="en-US" sz="1300" dirty="0"/>
          </a:p>
        </p:txBody>
      </p:sp>
      <p:sp>
        <p:nvSpPr>
          <p:cNvPr id="18" name="Text 16"/>
          <p:cNvSpPr/>
          <p:nvPr/>
        </p:nvSpPr>
        <p:spPr>
          <a:xfrm>
            <a:off x="1024128" y="4553712"/>
            <a:ext cx="10600639" cy="274320"/>
          </a:xfrm>
          <a:prstGeom prst="rect">
            <a:avLst/>
          </a:prstGeom>
          <a:noFill/>
          <a:ln/>
        </p:spPr>
        <p:txBody>
          <a:bodyPr wrap="square" lIns="0" tIns="0" rIns="0" bIns="0" rtlCol="0" anchor="t"/>
          <a:lstStyle/>
          <a:p>
            <a:pPr indent="0" marL="0">
              <a:buNone/>
            </a:pPr>
            <a:r>
              <a:rPr lang="en-US" sz="1350" b="1" dirty="0">
                <a:solidFill>
                  <a:srgbClr val="0F0F10"/>
                </a:solidFill>
                <a:latin typeface="Yu Gothic" pitchFamily="34" charset="0"/>
                <a:ea typeface="Yu Gothic" pitchFamily="34" charset="-122"/>
                <a:cs typeface="Yu Gothic" pitchFamily="34" charset="-120"/>
              </a:rPr>
              <a:t>証跡クリップがクラウドへ保管されます</a:t>
            </a:r>
            <a:endParaRPr lang="en-US" sz="1350" dirty="0"/>
          </a:p>
        </p:txBody>
      </p:sp>
      <p:sp>
        <p:nvSpPr>
          <p:cNvPr id="19" name="Text 17"/>
          <p:cNvSpPr/>
          <p:nvPr/>
        </p:nvSpPr>
        <p:spPr>
          <a:xfrm>
            <a:off x="1024128" y="4846320"/>
            <a:ext cx="10600639" cy="566928"/>
          </a:xfrm>
          <a:prstGeom prst="rect">
            <a:avLst/>
          </a:prstGeom>
          <a:noFill/>
          <a:ln/>
        </p:spPr>
        <p:txBody>
          <a:bodyPr wrap="square" lIns="0" tIns="0" rIns="0" bIns="0" rtlCol="0" anchor="t"/>
          <a:lstStyle/>
          <a:p>
            <a:pPr indent="0" marL="0">
              <a:lnSpc>
                <a:spcPct val="130000"/>
              </a:lnSpc>
              <a:buNone/>
            </a:pPr>
            <a:r>
              <a:rPr lang="en-US" sz="1150" dirty="0">
                <a:solidFill>
                  <a:srgbClr val="5B5B5F"/>
                </a:solidFill>
                <a:latin typeface="Yu Gothic" pitchFamily="34" charset="0"/>
                <a:ea typeface="Yu Gothic" pitchFamily="34" charset="-122"/>
                <a:cs typeface="Yu Gothic" pitchFamily="34" charset="-120"/>
              </a:rPr>
              <a:t>検査から数分でクラウドに保管され、60 日間保持されます。</a:t>
            </a:r>
            <a:endParaRPr lang="en-US" sz="1150" dirty="0"/>
          </a:p>
        </p:txBody>
      </p:sp>
      <p:sp>
        <p:nvSpPr>
          <p:cNvPr id="20" name="Shape 18"/>
          <p:cNvSpPr/>
          <p:nvPr/>
        </p:nvSpPr>
        <p:spPr>
          <a:xfrm>
            <a:off x="566928" y="5504688"/>
            <a:ext cx="310896" cy="310896"/>
          </a:xfrm>
          <a:prstGeom prst="roundRect">
            <a:avLst>
              <a:gd name="adj" fmla="val 14706"/>
            </a:avLst>
          </a:prstGeom>
          <a:solidFill>
            <a:srgbClr val="2C4A7E"/>
          </a:solidFill>
          <a:ln w="12700">
            <a:solidFill>
              <a:srgbClr val="2C4A7E"/>
            </a:solidFill>
            <a:prstDash val="solid"/>
          </a:ln>
        </p:spPr>
      </p:sp>
      <p:sp>
        <p:nvSpPr>
          <p:cNvPr id="21" name="Text 19"/>
          <p:cNvSpPr/>
          <p:nvPr/>
        </p:nvSpPr>
        <p:spPr>
          <a:xfrm>
            <a:off x="566928" y="550468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5</a:t>
            </a:r>
            <a:endParaRPr lang="en-US" sz="1300" dirty="0"/>
          </a:p>
        </p:txBody>
      </p:sp>
      <p:sp>
        <p:nvSpPr>
          <p:cNvPr id="22" name="Text 20"/>
          <p:cNvSpPr/>
          <p:nvPr/>
        </p:nvSpPr>
        <p:spPr>
          <a:xfrm>
            <a:off x="1024128" y="5486400"/>
            <a:ext cx="10600639" cy="274320"/>
          </a:xfrm>
          <a:prstGeom prst="rect">
            <a:avLst/>
          </a:prstGeom>
          <a:noFill/>
          <a:ln/>
        </p:spPr>
        <p:txBody>
          <a:bodyPr wrap="square" lIns="0" tIns="0" rIns="0" bIns="0" rtlCol="0" anchor="t"/>
          <a:lstStyle/>
          <a:p>
            <a:pPr indent="0" marL="0">
              <a:buNone/>
            </a:pPr>
            <a:r>
              <a:rPr lang="en-US" sz="1350" b="1" dirty="0">
                <a:solidFill>
                  <a:srgbClr val="0F0F10"/>
                </a:solidFill>
                <a:latin typeface="Yu Gothic" pitchFamily="34" charset="0"/>
                <a:ea typeface="Yu Gothic" pitchFamily="34" charset="-122"/>
                <a:cs typeface="Yu Gothic" pitchFamily="34" charset="-120"/>
              </a:rPr>
              <a:t>管理画面で、検査記録と映像を一緒に確認できます</a:t>
            </a:r>
            <a:endParaRPr lang="en-US" sz="1350" dirty="0"/>
          </a:p>
        </p:txBody>
      </p:sp>
      <p:sp>
        <p:nvSpPr>
          <p:cNvPr id="23" name="Text 21"/>
          <p:cNvSpPr/>
          <p:nvPr/>
        </p:nvSpPr>
        <p:spPr>
          <a:xfrm>
            <a:off x="1024128" y="5779008"/>
            <a:ext cx="10600639" cy="566928"/>
          </a:xfrm>
          <a:prstGeom prst="rect">
            <a:avLst/>
          </a:prstGeom>
          <a:noFill/>
          <a:ln/>
        </p:spPr>
        <p:txBody>
          <a:bodyPr wrap="square" lIns="0" tIns="0" rIns="0" bIns="0" rtlCol="0" anchor="t"/>
          <a:lstStyle/>
          <a:p>
            <a:pPr indent="0" marL="0">
              <a:lnSpc>
                <a:spcPct val="130000"/>
              </a:lnSpc>
              <a:buNone/>
            </a:pPr>
            <a:r>
              <a:rPr lang="en-US" sz="1150" dirty="0">
                <a:solidFill>
                  <a:srgbClr val="5B5B5F"/>
                </a:solidFill>
                <a:latin typeface="Yu Gothic" pitchFamily="34" charset="0"/>
                <a:ea typeface="Yu Gothic" pitchFamily="34" charset="-122"/>
                <a:cs typeface="Yu Gothic" pitchFamily="34" charset="-120"/>
              </a:rPr>
              <a:t>店舗・日付・従業員で絞り込み、該当する検査の映像をその場で再生できます。</a:t>
            </a:r>
            <a:endParaRPr lang="en-US" sz="1150" dirty="0"/>
          </a:p>
        </p:txBody>
      </p:sp>
      <p:sp>
        <p:nvSpPr>
          <p:cNvPr id="24" name="Text 22"/>
          <p:cNvSpPr/>
          <p:nvPr/>
        </p:nvSpPr>
        <p:spPr>
          <a:xfrm>
            <a:off x="566928" y="6419088"/>
            <a:ext cx="5486400" cy="256032"/>
          </a:xfrm>
          <a:prstGeom prst="rect">
            <a:avLst/>
          </a:prstGeom>
          <a:noFill/>
          <a:ln/>
        </p:spPr>
        <p:txBody>
          <a:bodyPr wrap="square" lIns="0" tIns="0" rIns="0" bIns="0" rtlCol="0" anchor="ctr"/>
          <a:lstStyle/>
          <a:p>
            <a:pPr indent="0" marL="0">
              <a:buNone/>
            </a:pPr>
            <a:r>
              <a:rPr lang="en-US" sz="950" dirty="0">
                <a:solidFill>
                  <a:srgbClr val="5B5B5F"/>
                </a:solidFill>
                <a:latin typeface="Yu Gothic" pitchFamily="34" charset="0"/>
                <a:ea typeface="Yu Gothic" pitchFamily="34" charset="-122"/>
                <a:cs typeface="Yu Gothic" pitchFamily="34" charset="-120"/>
              </a:rPr>
              <a:t>Recorder Monitor ／ 株式会社ジェネシス・エッジ</a:t>
            </a:r>
            <a:endParaRPr lang="en-US" sz="950" dirty="0"/>
          </a:p>
        </p:txBody>
      </p:sp>
      <p:sp>
        <p:nvSpPr>
          <p:cNvPr id="25" name="Text 23"/>
          <p:cNvSpPr/>
          <p:nvPr/>
        </p:nvSpPr>
        <p:spPr>
          <a:xfrm>
            <a:off x="10710367" y="6419088"/>
            <a:ext cx="914400" cy="256032"/>
          </a:xfrm>
          <a:prstGeom prst="rect">
            <a:avLst/>
          </a:prstGeom>
          <a:noFill/>
          <a:ln/>
        </p:spPr>
        <p:txBody>
          <a:bodyPr wrap="square" lIns="0" tIns="0" rIns="0" bIns="0" rtlCol="0" anchor="ctr"/>
          <a:lstStyle/>
          <a:p>
            <a:pPr algn="r" indent="0" marL="0">
              <a:buNone/>
            </a:pPr>
            <a:r>
              <a:rPr lang="en-US" sz="950" dirty="0">
                <a:solidFill>
                  <a:srgbClr val="5B5B5F"/>
                </a:solidFill>
                <a:latin typeface="Yu Gothic" pitchFamily="34" charset="0"/>
                <a:ea typeface="Yu Gothic" pitchFamily="34" charset="-122"/>
                <a:cs typeface="Yu Gothic"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1"/>
        </a:solidFill>
      </p:bgPr>
    </p:bg>
    <p:spTree>
      <p:nvGrpSpPr>
        <p:cNvPr id="1" name=""/>
        <p:cNvGrpSpPr/>
        <p:nvPr/>
      </p:nvGrpSpPr>
      <p:grpSpPr>
        <a:xfrm>
          <a:off x="0" y="0"/>
          <a:ext cx="0" cy="0"/>
          <a:chOff x="0" y="0"/>
          <a:chExt cx="0" cy="0"/>
        </a:xfrm>
      </p:grpSpPr>
      <p:sp>
        <p:nvSpPr>
          <p:cNvPr id="2" name="Text 0"/>
          <p:cNvSpPr/>
          <p:nvPr/>
        </p:nvSpPr>
        <p:spPr>
          <a:xfrm>
            <a:off x="566928" y="402336"/>
            <a:ext cx="11057839" cy="475488"/>
          </a:xfrm>
          <a:prstGeom prst="rect">
            <a:avLst/>
          </a:prstGeom>
          <a:noFill/>
          <a:ln/>
        </p:spPr>
        <p:txBody>
          <a:bodyPr wrap="square" lIns="0" tIns="0" rIns="0" bIns="0" rtlCol="0" anchor="t"/>
          <a:lstStyle/>
          <a:p>
            <a:pPr indent="0" marL="0">
              <a:buNone/>
            </a:pPr>
            <a:r>
              <a:rPr lang="en-US" sz="2700" b="1" dirty="0">
                <a:solidFill>
                  <a:srgbClr val="0F0F10"/>
                </a:solidFill>
                <a:latin typeface="Yu Gothic" pitchFamily="34" charset="0"/>
                <a:ea typeface="Yu Gothic" pitchFamily="34" charset="-122"/>
                <a:cs typeface="Yu Gothic" pitchFamily="34" charset="-120"/>
              </a:rPr>
              <a:t>既設機器の役割</a:t>
            </a:r>
            <a:endParaRPr lang="en-US" sz="2700" dirty="0"/>
          </a:p>
        </p:txBody>
      </p:sp>
      <p:sp>
        <p:nvSpPr>
          <p:cNvPr id="3" name="Text 1"/>
          <p:cNvSpPr/>
          <p:nvPr/>
        </p:nvSpPr>
        <p:spPr>
          <a:xfrm>
            <a:off x="566928" y="932688"/>
            <a:ext cx="11057839" cy="384048"/>
          </a:xfrm>
          <a:prstGeom prst="rect">
            <a:avLst/>
          </a:prstGeom>
          <a:noFill/>
          <a:ln/>
        </p:spPr>
        <p:txBody>
          <a:bodyPr wrap="square" lIns="0" tIns="0" rIns="0" bIns="0" rtlCol="0" anchor="t"/>
          <a:lstStyle/>
          <a:p>
            <a:pPr indent="0" marL="0">
              <a:lnSpc>
                <a:spcPct val="135000"/>
              </a:lnSpc>
              <a:buNone/>
            </a:pPr>
            <a:r>
              <a:rPr lang="en-US" sz="1300" dirty="0">
                <a:solidFill>
                  <a:srgbClr val="5B5B5F"/>
                </a:solidFill>
                <a:latin typeface="Yu Gothic" pitchFamily="34" charset="0"/>
                <a:ea typeface="Yu Gothic" pitchFamily="34" charset="-122"/>
                <a:cs typeface="Yu Gothic" pitchFamily="34" charset="-120"/>
              </a:rPr>
              <a:t>交換する機器はありません。中継機のソフトを入れ替えるだけです。</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1719072"/>
          <a:ext cx="11057839" cy="914400"/>
        </p:xfrm>
        <a:graphic>
          <a:graphicData uri="http://schemas.openxmlformats.org/drawingml/2006/table">
            <a:tbl>
              <a:tblPr/>
              <a:tblGrid>
                <a:gridCol w="2834640"/>
                <a:gridCol w="3291840"/>
                <a:gridCol w="4928616"/>
              </a:tblGrid>
              <a:tr h="603504">
                <a:tc>
                  <a:txBody>
                    <a:bodyPr/>
                    <a:lstStyle/>
                    <a:p>
                      <a:pPr algn="l" indent="0" marL="0">
                        <a:buNone/>
                      </a:pPr>
                      <a:r>
                        <a:rPr lang="en-US" sz="1100" b="1" dirty="0">
                          <a:solidFill>
                            <a:srgbClr val="2A2A2C"/>
                          </a:solidFill>
                          <a:latin typeface="Yu Gothic" pitchFamily="34" charset="0"/>
                          <a:ea typeface="Yu Gothic" pitchFamily="34" charset="-122"/>
                          <a:cs typeface="Yu Gothic" pitchFamily="34" charset="-120"/>
                        </a:rPr>
                        <a:t>機器</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7F5F1"/>
                    </a:solidFill>
                  </a:tcPr>
                </a:tc>
                <a:tc>
                  <a:txBody>
                    <a:bodyPr/>
                    <a:lstStyle/>
                    <a:p>
                      <a:pPr algn="l" indent="0" marL="0">
                        <a:buNone/>
                      </a:pPr>
                      <a:r>
                        <a:rPr lang="en-US" sz="1100" b="1" dirty="0">
                          <a:solidFill>
                            <a:srgbClr val="2A2A2C"/>
                          </a:solidFill>
                          <a:latin typeface="Yu Gothic" pitchFamily="34" charset="0"/>
                          <a:ea typeface="Yu Gothic" pitchFamily="34" charset="-122"/>
                          <a:cs typeface="Yu Gothic" pitchFamily="34" charset="-120"/>
                        </a:rPr>
                        <a:t>現行の役割</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7F5F1"/>
                    </a:solidFill>
                  </a:tcPr>
                </a:tc>
                <a:tc>
                  <a:txBody>
                    <a:bodyPr/>
                    <a:lstStyle/>
                    <a:p>
                      <a:pPr algn="l" indent="0" marL="0">
                        <a:buNone/>
                      </a:pPr>
                      <a:r>
                        <a:rPr lang="en-US" sz="1100" b="1" dirty="0">
                          <a:solidFill>
                            <a:srgbClr val="2A2A2C"/>
                          </a:solidFill>
                          <a:latin typeface="Yu Gothic" pitchFamily="34" charset="0"/>
                          <a:ea typeface="Yu Gothic" pitchFamily="34" charset="-122"/>
                          <a:cs typeface="Yu Gothic" pitchFamily="34" charset="-120"/>
                        </a:rPr>
                        <a:t>ご提案での役割</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7F5F1"/>
                    </a:solidFill>
                  </a:tcPr>
                </a:tc>
              </a:tr>
              <a:tr h="603504">
                <a:tc>
                  <a:txBody>
                    <a:bodyPr/>
                    <a:lstStyle/>
                    <a:p>
                      <a:pPr algn="l" indent="0" marL="0">
                        <a:buNone/>
                      </a:pPr>
                      <a:r>
                        <a:rPr lang="en-US" sz="1150" b="1" dirty="0">
                          <a:solidFill>
                            <a:srgbClr val="0F0F10"/>
                          </a:solidFill>
                          <a:latin typeface="Yu Gothic" pitchFamily="34" charset="0"/>
                          <a:ea typeface="Yu Gothic" pitchFamily="34" charset="-122"/>
                          <a:cs typeface="Yu Gothic" pitchFamily="34" charset="-120"/>
                        </a:rPr>
                        <a:t>カメラ 2 台</a:t>
                      </a:r>
                      <a:endParaRPr lang="en-US" sz="1150" dirty="0">
                        <a:latin typeface="Yu Gothic" charset="0"/>
                        <a:ea typeface="Yu Gothic" charset="0"/>
                        <a:cs typeface="Yu Gothic" charset="0"/>
                      </a:endParaRPr>
                    </a:p>
                    <a:p>
                      <a:pPr algn="l" indent="0" marL="0">
                        <a:buNone/>
                      </a:pPr>
                      <a:r>
                        <a:rPr lang="en-US" sz="1150" b="1" dirty="0">
                          <a:solidFill>
                            <a:srgbClr val="0F0F10"/>
                          </a:solidFill>
                          <a:latin typeface="Yu Gothic" pitchFamily="34" charset="0"/>
                          <a:ea typeface="Yu Gothic" pitchFamily="34" charset="-122"/>
                          <a:cs typeface="Yu Gothic" pitchFamily="34" charset="-120"/>
                        </a:rPr>
                        <a:t>768 kbps ／ H.264</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レコーダーと中継機の両方へ送出</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0F0F10"/>
                          </a:solidFill>
                          <a:latin typeface="Yu Gothic" pitchFamily="34" charset="0"/>
                          <a:ea typeface="Yu Gothic" pitchFamily="34" charset="-122"/>
                          <a:cs typeface="Yu Gothic" pitchFamily="34" charset="-120"/>
                        </a:rPr>
                        <a:t>変更なし。設定変更も不要です。</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r>
              <a:tr h="603504">
                <a:tc>
                  <a:txBody>
                    <a:bodyPr/>
                    <a:lstStyle/>
                    <a:p>
                      <a:pPr algn="l" indent="0" marL="0">
                        <a:buNone/>
                      </a:pPr>
                      <a:r>
                        <a:rPr lang="en-US" sz="1150" b="1" dirty="0">
                          <a:solidFill>
                            <a:srgbClr val="0F0F10"/>
                          </a:solidFill>
                          <a:latin typeface="Yu Gothic" pitchFamily="34" charset="0"/>
                          <a:ea typeface="Yu Gothic" pitchFamily="34" charset="-122"/>
                          <a:cs typeface="Yu Gothic" pitchFamily="34" charset="-120"/>
                        </a:rPr>
                        <a:t>i-PRO WJ-NU101</a:t>
                      </a:r>
                      <a:endParaRPr lang="en-US" sz="1150" dirty="0">
                        <a:latin typeface="Yu Gothic" charset="0"/>
                        <a:ea typeface="Yu Gothic" charset="0"/>
                        <a:cs typeface="Yu Gothic" charset="0"/>
                      </a:endParaRPr>
                    </a:p>
                    <a:p>
                      <a:pPr algn="l" indent="0" marL="0">
                        <a:buNone/>
                      </a:pPr>
                      <a:r>
                        <a:rPr lang="en-US" sz="1150" b="1" dirty="0">
                          <a:solidFill>
                            <a:srgbClr val="0F0F10"/>
                          </a:solidFill>
                          <a:latin typeface="Yu Gothic" pitchFamily="34" charset="0"/>
                          <a:ea typeface="Yu Gothic" pitchFamily="34" charset="-122"/>
                          <a:cs typeface="Yu Gothic" pitchFamily="34" charset="-120"/>
                        </a:rPr>
                        <a:t>4ch ／ 14 日保存</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常時録画（回線断時の予備）</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c>
                  <a:txBody>
                    <a:bodyPr/>
                    <a:lstStyle/>
                    <a:p>
                      <a:pPr algn="l" indent="0" marL="0">
                        <a:buNone/>
                      </a:pPr>
                      <a:r>
                        <a:rPr lang="en-US" sz="1150" b="1" dirty="0">
                          <a:solidFill>
                            <a:srgbClr val="0F0F10"/>
                          </a:solidFill>
                          <a:latin typeface="Yu Gothic" pitchFamily="34" charset="0"/>
                          <a:ea typeface="Yu Gothic" pitchFamily="34" charset="-122"/>
                          <a:cs typeface="Yu Gothic" pitchFamily="34" charset="-120"/>
                        </a:rPr>
                        <a:t>証跡の取得元。録画設定は変更しません。</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r>
              <a:tr h="603504">
                <a:tc>
                  <a:txBody>
                    <a:bodyPr/>
                    <a:lstStyle/>
                    <a:p>
                      <a:pPr algn="l" indent="0" marL="0">
                        <a:buNone/>
                      </a:pPr>
                      <a:r>
                        <a:rPr lang="en-US" sz="1150" b="1" dirty="0">
                          <a:solidFill>
                            <a:srgbClr val="0F0F10"/>
                          </a:solidFill>
                          <a:latin typeface="Yu Gothic" pitchFamily="34" charset="0"/>
                          <a:ea typeface="Yu Gothic" pitchFamily="34" charset="-122"/>
                          <a:cs typeface="Yu Gothic" pitchFamily="34" charset="-120"/>
                        </a:rPr>
                        <a:t>FutureNet MA-E320</a:t>
                      </a:r>
                      <a:endParaRPr lang="en-US" sz="1150" dirty="0">
                        <a:latin typeface="Yu Gothic" charset="0"/>
                        <a:ea typeface="Yu Gothic" charset="0"/>
                        <a:cs typeface="Yu Gothic" charset="0"/>
                      </a:endParaRPr>
                    </a:p>
                    <a:p>
                      <a:pPr algn="l" indent="0" marL="0">
                        <a:buNone/>
                      </a:pPr>
                      <a:r>
                        <a:rPr lang="en-US" sz="1150" b="1" dirty="0">
                          <a:solidFill>
                            <a:srgbClr val="0F0F10"/>
                          </a:solidFill>
                          <a:latin typeface="Yu Gothic" pitchFamily="34" charset="0"/>
                          <a:ea typeface="Yu Gothic" pitchFamily="34" charset="-122"/>
                          <a:cs typeface="Yu Gothic" pitchFamily="34" charset="-120"/>
                        </a:rPr>
                        <a:t>100 台</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クラウド録画への常時転送</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2C4A7E"/>
                          </a:solidFill>
                          <a:latin typeface="Yu Gothic" pitchFamily="34" charset="0"/>
                          <a:ea typeface="Yu Gothic" pitchFamily="34" charset="-122"/>
                          <a:cs typeface="Yu Gothic" pitchFamily="34" charset="-120"/>
                        </a:rPr>
                        <a:t>当社ソフトへ入れ替え。検査時のみ切り出して送信します。</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r>
              <a:tr h="603504">
                <a:tc>
                  <a:txBody>
                    <a:bodyPr/>
                    <a:lstStyle/>
                    <a:p>
                      <a:pPr algn="l" indent="0" marL="0">
                        <a:buNone/>
                      </a:pPr>
                      <a:r>
                        <a:rPr lang="en-US" sz="1150" b="1" dirty="0">
                          <a:solidFill>
                            <a:srgbClr val="0F0F10"/>
                          </a:solidFill>
                          <a:latin typeface="Yu Gothic" pitchFamily="34" charset="0"/>
                          <a:ea typeface="Yu Gothic" pitchFamily="34" charset="-122"/>
                          <a:cs typeface="Yu Gothic" pitchFamily="34" charset="-120"/>
                        </a:rPr>
                        <a:t>検査端末</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現行システムの端末</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iPad（ブラウザで動作）。既存端末の流用可否は別途確認します。</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r>
            </a:tbl>
          </a:graphicData>
        </a:graphic>
      </p:graphicFrame>
      <p:sp>
        <p:nvSpPr>
          <p:cNvPr id="5" name="Shape 2"/>
          <p:cNvSpPr/>
          <p:nvPr/>
        </p:nvSpPr>
        <p:spPr>
          <a:xfrm>
            <a:off x="566928" y="5102352"/>
            <a:ext cx="11057839" cy="896112"/>
          </a:xfrm>
          <a:prstGeom prst="roundRect">
            <a:avLst>
              <a:gd name="adj" fmla="val 5102"/>
            </a:avLst>
          </a:prstGeom>
          <a:solidFill>
            <a:srgbClr val="E4EAF3"/>
          </a:solidFill>
          <a:ln w="12700">
            <a:solidFill>
              <a:srgbClr val="2C4A7E"/>
            </a:solidFill>
            <a:prstDash val="solid"/>
          </a:ln>
        </p:spPr>
      </p:sp>
      <p:sp>
        <p:nvSpPr>
          <p:cNvPr id="6" name="Text 3"/>
          <p:cNvSpPr/>
          <p:nvPr/>
        </p:nvSpPr>
        <p:spPr>
          <a:xfrm>
            <a:off x="841248" y="5102352"/>
            <a:ext cx="10509199" cy="896112"/>
          </a:xfrm>
          <a:prstGeom prst="rect">
            <a:avLst/>
          </a:prstGeom>
          <a:noFill/>
          <a:ln/>
        </p:spPr>
        <p:txBody>
          <a:bodyPr wrap="square" lIns="0" tIns="0" rIns="0" bIns="0" rtlCol="0" anchor="ctr"/>
          <a:lstStyle/>
          <a:p>
            <a:pPr indent="0" marL="0">
              <a:lnSpc>
                <a:spcPct val="135000"/>
              </a:lnSpc>
              <a:buNone/>
            </a:pPr>
            <a:r>
              <a:rPr lang="en-US" sz="1250" b="1" dirty="0">
                <a:solidFill>
                  <a:srgbClr val="2C4A7E"/>
                </a:solidFill>
                <a:latin typeface="Yu Gothic" pitchFamily="34" charset="0"/>
                <a:ea typeface="Yu Gothic" pitchFamily="34" charset="-122"/>
                <a:cs typeface="Yu Gothic" pitchFamily="34" charset="-120"/>
              </a:rPr>
              <a:t>中継機の入れ替えは、当社が用意した SD カードを差し替えていただくだけで完了します。</a:t>
            </a:r>
            <a:endParaRPr lang="en-US" sz="1250" dirty="0"/>
          </a:p>
          <a:p>
            <a:pPr indent="0" marL="0">
              <a:lnSpc>
                <a:spcPct val="135000"/>
              </a:lnSpc>
              <a:buNone/>
            </a:pPr>
            <a:r>
              <a:rPr lang="en-US" sz="1250" b="1" dirty="0">
                <a:solidFill>
                  <a:srgbClr val="2C4A7E"/>
                </a:solidFill>
                <a:latin typeface="Yu Gothic" pitchFamily="34" charset="0"/>
                <a:ea typeface="Yu Gothic" pitchFamily="34" charset="-122"/>
                <a:cs typeface="Yu Gothic" pitchFamily="34" charset="-120"/>
              </a:rPr>
              <a:t>店舗のご担当者様で作業でき、技術者の訪問は不要です。</a:t>
            </a:r>
            <a:endParaRPr lang="en-US" sz="1250" dirty="0"/>
          </a:p>
        </p:txBody>
      </p:sp>
      <p:sp>
        <p:nvSpPr>
          <p:cNvPr id="7" name="Text 4"/>
          <p:cNvSpPr/>
          <p:nvPr/>
        </p:nvSpPr>
        <p:spPr>
          <a:xfrm>
            <a:off x="566928" y="6419088"/>
            <a:ext cx="5486400" cy="256032"/>
          </a:xfrm>
          <a:prstGeom prst="rect">
            <a:avLst/>
          </a:prstGeom>
          <a:noFill/>
          <a:ln/>
        </p:spPr>
        <p:txBody>
          <a:bodyPr wrap="square" lIns="0" tIns="0" rIns="0" bIns="0" rtlCol="0" anchor="ctr"/>
          <a:lstStyle/>
          <a:p>
            <a:pPr indent="0" marL="0">
              <a:buNone/>
            </a:pPr>
            <a:r>
              <a:rPr lang="en-US" sz="950" dirty="0">
                <a:solidFill>
                  <a:srgbClr val="5B5B5F"/>
                </a:solidFill>
                <a:latin typeface="Yu Gothic" pitchFamily="34" charset="0"/>
                <a:ea typeface="Yu Gothic" pitchFamily="34" charset="-122"/>
                <a:cs typeface="Yu Gothic" pitchFamily="34" charset="-120"/>
              </a:rPr>
              <a:t>Recorder Monitor ／ 株式会社ジェネシス・エッジ</a:t>
            </a:r>
            <a:endParaRPr lang="en-US" sz="950" dirty="0"/>
          </a:p>
        </p:txBody>
      </p:sp>
      <p:sp>
        <p:nvSpPr>
          <p:cNvPr id="8" name="Text 5"/>
          <p:cNvSpPr/>
          <p:nvPr/>
        </p:nvSpPr>
        <p:spPr>
          <a:xfrm>
            <a:off x="10710367" y="6419088"/>
            <a:ext cx="914400" cy="256032"/>
          </a:xfrm>
          <a:prstGeom prst="rect">
            <a:avLst/>
          </a:prstGeom>
          <a:noFill/>
          <a:ln/>
        </p:spPr>
        <p:txBody>
          <a:bodyPr wrap="square" lIns="0" tIns="0" rIns="0" bIns="0" rtlCol="0" anchor="ctr"/>
          <a:lstStyle/>
          <a:p>
            <a:pPr algn="r" indent="0" marL="0">
              <a:buNone/>
            </a:pPr>
            <a:r>
              <a:rPr lang="en-US" sz="950" dirty="0">
                <a:solidFill>
                  <a:srgbClr val="5B5B5F"/>
                </a:solidFill>
                <a:latin typeface="Yu Gothic" pitchFamily="34" charset="0"/>
                <a:ea typeface="Yu Gothic" pitchFamily="34" charset="-122"/>
                <a:cs typeface="Yu Gothic"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1"/>
        </a:solidFill>
      </p:bgPr>
    </p:bg>
    <p:spTree>
      <p:nvGrpSpPr>
        <p:cNvPr id="1" name=""/>
        <p:cNvGrpSpPr/>
        <p:nvPr/>
      </p:nvGrpSpPr>
      <p:grpSpPr>
        <a:xfrm>
          <a:off x="0" y="0"/>
          <a:ext cx="0" cy="0"/>
          <a:chOff x="0" y="0"/>
          <a:chExt cx="0" cy="0"/>
        </a:xfrm>
      </p:grpSpPr>
      <p:sp>
        <p:nvSpPr>
          <p:cNvPr id="2" name="Text 0"/>
          <p:cNvSpPr/>
          <p:nvPr/>
        </p:nvSpPr>
        <p:spPr>
          <a:xfrm>
            <a:off x="566928" y="402336"/>
            <a:ext cx="11057839" cy="475488"/>
          </a:xfrm>
          <a:prstGeom prst="rect">
            <a:avLst/>
          </a:prstGeom>
          <a:noFill/>
          <a:ln/>
        </p:spPr>
        <p:txBody>
          <a:bodyPr wrap="square" lIns="0" tIns="0" rIns="0" bIns="0" rtlCol="0" anchor="t"/>
          <a:lstStyle/>
          <a:p>
            <a:pPr indent="0" marL="0">
              <a:buNone/>
            </a:pPr>
            <a:r>
              <a:rPr lang="en-US" sz="2700" b="1" dirty="0">
                <a:solidFill>
                  <a:srgbClr val="0F0F10"/>
                </a:solidFill>
                <a:latin typeface="Yu Gothic" pitchFamily="34" charset="0"/>
                <a:ea typeface="Yu Gothic" pitchFamily="34" charset="-122"/>
                <a:cs typeface="Yu Gothic" pitchFamily="34" charset="-120"/>
              </a:rPr>
              <a:t>効果 ①  店舗回線の通信量が 約 97 % 減ります</a:t>
            </a:r>
            <a:endParaRPr lang="en-US" sz="2700" dirty="0"/>
          </a:p>
        </p:txBody>
      </p:sp>
      <p:graphicFrame>
        <p:nvGraphicFramePr>
          <p:cNvPr id="3" name="Chart 0" descr=""/>
          <p:cNvGraphicFramePr/>
          <p:nvPr/>
        </p:nvGraphicFramePr>
        <p:xfrm>
          <a:off x="566928" y="1170432"/>
          <a:ext cx="5577840" cy="3977640"/>
        </p:xfrm>
        <a:graphic xmlns:a="http://schemas.openxmlformats.org/drawingml/2006/main">
          <a:graphicData uri="http://schemas.openxmlformats.org/drawingml/2006/chart">
            <c:chart xmlns:c="http://schemas.openxmlformats.org/drawingml/2006/chart" r:id="rId1"/>
          </a:graphicData>
        </a:graphic>
      </p:graphicFrame>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373368" y="1581912"/>
          <a:ext cx="5251399" cy="914400"/>
        </p:xfrm>
        <a:graphic>
          <a:graphicData uri="http://schemas.openxmlformats.org/drawingml/2006/table">
            <a:tbl>
              <a:tblPr/>
              <a:tblGrid>
                <a:gridCol w="2011680"/>
                <a:gridCol w="1645920"/>
                <a:gridCol w="1572768"/>
              </a:tblGrid>
              <a:tr h="502920">
                <a:tc>
                  <a:txBody>
                    <a:bodyPr/>
                    <a:lstStyle/>
                    <a:p>
                      <a:pPr algn="l" indent="0" marL="0">
                        <a:buNone/>
                      </a:pPr>
                      <a:r>
                        <a:rPr lang="en-US" sz="1100" b="1" dirty="0">
                          <a:solidFill>
                            <a:srgbClr val="2A2A2C"/>
                          </a:solidFill>
                          <a:latin typeface="Yu Gothic" pitchFamily="34" charset="0"/>
                          <a:ea typeface="Yu Gothic" pitchFamily="34" charset="-122"/>
                          <a:cs typeface="Yu Gothic" pitchFamily="34" charset="-120"/>
                        </a:rPr>
                        <a:t>項目</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7F5F1"/>
                    </a:solidFill>
                  </a:tcPr>
                </a:tc>
                <a:tc>
                  <a:txBody>
                    <a:bodyPr/>
                    <a:lstStyle/>
                    <a:p>
                      <a:pPr algn="l" indent="0" marL="0">
                        <a:buNone/>
                      </a:pPr>
                      <a:r>
                        <a:rPr lang="en-US" sz="1100" b="1" dirty="0">
                          <a:solidFill>
                            <a:srgbClr val="2A2A2C"/>
                          </a:solidFill>
                          <a:latin typeface="Yu Gothic" pitchFamily="34" charset="0"/>
                          <a:ea typeface="Yu Gothic" pitchFamily="34" charset="-122"/>
                          <a:cs typeface="Yu Gothic" pitchFamily="34" charset="-120"/>
                        </a:rPr>
                        <a:t>現行</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7F5F1"/>
                    </a:solidFill>
                  </a:tcPr>
                </a:tc>
                <a:tc>
                  <a:txBody>
                    <a:bodyPr/>
                    <a:lstStyle/>
                    <a:p>
                      <a:pPr algn="l" indent="0" marL="0">
                        <a:buNone/>
                      </a:pPr>
                      <a:r>
                        <a:rPr lang="en-US" sz="1100" b="1" dirty="0">
                          <a:solidFill>
                            <a:srgbClr val="2A2A2C"/>
                          </a:solidFill>
                          <a:latin typeface="Yu Gothic" pitchFamily="34" charset="0"/>
                          <a:ea typeface="Yu Gothic" pitchFamily="34" charset="-122"/>
                          <a:cs typeface="Yu Gothic" pitchFamily="34" charset="-120"/>
                        </a:rPr>
                        <a:t>ご提案</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7F5F1"/>
                    </a:solidFill>
                  </a:tcPr>
                </a:tc>
              </a:tr>
              <a:tr h="502920">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1 店舗・定常時</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c>
                  <a:txBody>
                    <a:bodyPr/>
                    <a:lstStyle/>
                    <a:p>
                      <a:pPr algn="r" indent="0" marL="0">
                        <a:buNone/>
                      </a:pPr>
                      <a:r>
                        <a:rPr lang="en-US" sz="1150" dirty="0">
                          <a:solidFill>
                            <a:srgbClr val="0F0F10"/>
                          </a:solidFill>
                          <a:latin typeface="Yu Gothic" pitchFamily="34" charset="0"/>
                          <a:ea typeface="Yu Gothic" pitchFamily="34" charset="-122"/>
                          <a:cs typeface="Yu Gothic" pitchFamily="34" charset="-120"/>
                        </a:rPr>
                        <a:t>1.536 Mbps</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2F7A4F"/>
                          </a:solidFill>
                          <a:latin typeface="Yu Gothic" pitchFamily="34" charset="0"/>
                          <a:ea typeface="Yu Gothic" pitchFamily="34" charset="-122"/>
                          <a:cs typeface="Yu Gothic" pitchFamily="34" charset="-120"/>
                        </a:rPr>
                        <a:t>ほぼ 0</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r>
              <a:tr h="502920">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1 店舗・ピーク時</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c>
                  <a:txBody>
                    <a:bodyPr/>
                    <a:lstStyle/>
                    <a:p>
                      <a:pPr algn="r" indent="0" marL="0">
                        <a:buNone/>
                      </a:pPr>
                      <a:r>
                        <a:rPr lang="en-US" sz="1150" dirty="0">
                          <a:solidFill>
                            <a:srgbClr val="0F0F10"/>
                          </a:solidFill>
                          <a:latin typeface="Yu Gothic" pitchFamily="34" charset="0"/>
                          <a:ea typeface="Yu Gothic" pitchFamily="34" charset="-122"/>
                          <a:cs typeface="Yu Gothic" pitchFamily="34" charset="-120"/>
                        </a:rPr>
                        <a:t>1.536 Mbps</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c>
                  <a:txBody>
                    <a:bodyPr/>
                    <a:lstStyle/>
                    <a:p>
                      <a:pPr algn="r" indent="0" marL="0">
                        <a:buNone/>
                      </a:pPr>
                      <a:r>
                        <a:rPr lang="en-US" sz="1150" b="1" dirty="0">
                          <a:solidFill>
                            <a:srgbClr val="2F7A4F"/>
                          </a:solidFill>
                          <a:latin typeface="Yu Gothic" pitchFamily="34" charset="0"/>
                          <a:ea typeface="Yu Gothic" pitchFamily="34" charset="-122"/>
                          <a:cs typeface="Yu Gothic" pitchFamily="34" charset="-120"/>
                        </a:rPr>
                        <a:t>約 1.0 Mbps</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r>
              <a:tr h="502920">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1 店舗・1 日</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c>
                  <a:txBody>
                    <a:bodyPr/>
                    <a:lstStyle/>
                    <a:p>
                      <a:pPr algn="r" indent="0" marL="0">
                        <a:buNone/>
                      </a:pPr>
                      <a:r>
                        <a:rPr lang="en-US" sz="1150" dirty="0">
                          <a:solidFill>
                            <a:srgbClr val="0F0F10"/>
                          </a:solidFill>
                          <a:latin typeface="Yu Gothic" pitchFamily="34" charset="0"/>
                          <a:ea typeface="Yu Gothic" pitchFamily="34" charset="-122"/>
                          <a:cs typeface="Yu Gothic" pitchFamily="34" charset="-120"/>
                        </a:rPr>
                        <a:t>16.6 GB</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2F7A4F"/>
                          </a:solidFill>
                          <a:latin typeface="Yu Gothic" pitchFamily="34" charset="0"/>
                          <a:ea typeface="Yu Gothic" pitchFamily="34" charset="-122"/>
                          <a:cs typeface="Yu Gothic" pitchFamily="34" charset="-120"/>
                        </a:rPr>
                        <a:t>約 460 MB</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r>
              <a:tr h="502920">
                <a:tc>
                  <a:txBody>
                    <a:bodyPr/>
                    <a:lstStyle/>
                    <a:p>
                      <a:pPr algn="l" indent="0" marL="0">
                        <a:buNone/>
                      </a:pPr>
                      <a:r>
                        <a:rPr lang="en-US" sz="1150" b="1" dirty="0">
                          <a:solidFill>
                            <a:srgbClr val="0F0F10"/>
                          </a:solidFill>
                          <a:latin typeface="Yu Gothic" pitchFamily="34" charset="0"/>
                          <a:ea typeface="Yu Gothic" pitchFamily="34" charset="-122"/>
                          <a:cs typeface="Yu Gothic" pitchFamily="34" charset="-120"/>
                        </a:rPr>
                        <a:t>100 店舗・1 ヶ月</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c>
                  <a:txBody>
                    <a:bodyPr/>
                    <a:lstStyle/>
                    <a:p>
                      <a:pPr algn="r" indent="0" marL="0">
                        <a:buNone/>
                      </a:pPr>
                      <a:r>
                        <a:rPr lang="en-US" sz="1150" dirty="0">
                          <a:solidFill>
                            <a:srgbClr val="0F0F10"/>
                          </a:solidFill>
                          <a:latin typeface="Yu Gothic" pitchFamily="34" charset="0"/>
                          <a:ea typeface="Yu Gothic" pitchFamily="34" charset="-122"/>
                          <a:cs typeface="Yu Gothic" pitchFamily="34" charset="-120"/>
                        </a:rPr>
                        <a:t>約 49.8 TB</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c>
                  <a:txBody>
                    <a:bodyPr/>
                    <a:lstStyle/>
                    <a:p>
                      <a:pPr algn="r" indent="0" marL="0">
                        <a:buNone/>
                      </a:pPr>
                      <a:r>
                        <a:rPr lang="en-US" sz="1150" b="1" dirty="0">
                          <a:solidFill>
                            <a:srgbClr val="2F7A4F"/>
                          </a:solidFill>
                          <a:latin typeface="Yu Gothic" pitchFamily="34" charset="0"/>
                          <a:ea typeface="Yu Gothic" pitchFamily="34" charset="-122"/>
                          <a:cs typeface="Yu Gothic" pitchFamily="34" charset="-120"/>
                        </a:rPr>
                        <a:t>約 1.4 TB</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r>
            </a:tbl>
          </a:graphicData>
        </a:graphic>
      </p:graphicFrame>
      <p:sp>
        <p:nvSpPr>
          <p:cNvPr id="5" name="Shape 1"/>
          <p:cNvSpPr/>
          <p:nvPr/>
        </p:nvSpPr>
        <p:spPr>
          <a:xfrm>
            <a:off x="6373368" y="4325112"/>
            <a:ext cx="5251399" cy="960120"/>
          </a:xfrm>
          <a:prstGeom prst="roundRect">
            <a:avLst>
              <a:gd name="adj" fmla="val 4762"/>
            </a:avLst>
          </a:prstGeom>
          <a:solidFill>
            <a:srgbClr val="E4EAF3"/>
          </a:solidFill>
          <a:ln w="12700">
            <a:solidFill>
              <a:srgbClr val="2C4A7E"/>
            </a:solidFill>
            <a:prstDash val="solid"/>
          </a:ln>
        </p:spPr>
      </p:sp>
      <p:sp>
        <p:nvSpPr>
          <p:cNvPr id="6" name="Text 2"/>
          <p:cNvSpPr/>
          <p:nvPr/>
        </p:nvSpPr>
        <p:spPr>
          <a:xfrm>
            <a:off x="6611112" y="4325112"/>
            <a:ext cx="4775911" cy="960120"/>
          </a:xfrm>
          <a:prstGeom prst="rect">
            <a:avLst/>
          </a:prstGeom>
          <a:noFill/>
          <a:ln/>
        </p:spPr>
        <p:txBody>
          <a:bodyPr wrap="square" lIns="0" tIns="0" rIns="0" bIns="0" rtlCol="0" anchor="ctr"/>
          <a:lstStyle/>
          <a:p>
            <a:pPr indent="0" marL="0">
              <a:lnSpc>
                <a:spcPct val="135000"/>
              </a:lnSpc>
              <a:buNone/>
            </a:pPr>
            <a:r>
              <a:rPr lang="en-US" sz="1250" b="1" dirty="0">
                <a:solidFill>
                  <a:srgbClr val="2C4A7E"/>
                </a:solidFill>
                <a:latin typeface="Yu Gothic" pitchFamily="34" charset="0"/>
                <a:ea typeface="Yu Gothic" pitchFamily="34" charset="-122"/>
                <a:cs typeface="Yu Gothic" pitchFamily="34" charset="-120"/>
              </a:rPr>
              <a:t>ピーク時でも、現在の常時通信量を下回ります。回線設備の増強は不要です。</a:t>
            </a:r>
            <a:endParaRPr lang="en-US" sz="1250" dirty="0"/>
          </a:p>
        </p:txBody>
      </p:sp>
      <p:sp>
        <p:nvSpPr>
          <p:cNvPr id="7" name="Text 3"/>
          <p:cNvSpPr/>
          <p:nvPr/>
        </p:nvSpPr>
        <p:spPr>
          <a:xfrm>
            <a:off x="566928" y="5449824"/>
            <a:ext cx="11057839" cy="402336"/>
          </a:xfrm>
          <a:prstGeom prst="rect">
            <a:avLst/>
          </a:prstGeom>
          <a:noFill/>
          <a:ln/>
        </p:spPr>
        <p:txBody>
          <a:bodyPr wrap="square" lIns="0" tIns="0" rIns="0" bIns="0" rtlCol="0" anchor="t"/>
          <a:lstStyle/>
          <a:p>
            <a:pPr indent="0" marL="0">
              <a:lnSpc>
                <a:spcPct val="130000"/>
              </a:lnSpc>
              <a:buNone/>
            </a:pPr>
            <a:r>
              <a:rPr lang="en-US" sz="1000" dirty="0">
                <a:solidFill>
                  <a:srgbClr val="5B5B5F"/>
                </a:solidFill>
                <a:latin typeface="Yu Gothic" pitchFamily="34" charset="0"/>
                <a:ea typeface="Yu Gothic" pitchFamily="34" charset="-122"/>
                <a:cs typeface="Yu Gothic" pitchFamily="34" charset="-120"/>
              </a:rPr>
              <a:t>試算前提: 768 kbps × 2 台。1 検査あたり 1 分 × 2 台 ＝ 約 11.5 MB。1 店舗 1 日 40 件。ピークは開店前・閉店後の 1 時間に集中すると想定。実測値で補正いたします。</a:t>
            </a:r>
            <a:endParaRPr lang="en-US" sz="1000" dirty="0"/>
          </a:p>
        </p:txBody>
      </p:sp>
      <p:sp>
        <p:nvSpPr>
          <p:cNvPr id="8" name="Text 4"/>
          <p:cNvSpPr/>
          <p:nvPr/>
        </p:nvSpPr>
        <p:spPr>
          <a:xfrm>
            <a:off x="566928" y="6419088"/>
            <a:ext cx="5486400" cy="256032"/>
          </a:xfrm>
          <a:prstGeom prst="rect">
            <a:avLst/>
          </a:prstGeom>
          <a:noFill/>
          <a:ln/>
        </p:spPr>
        <p:txBody>
          <a:bodyPr wrap="square" lIns="0" tIns="0" rIns="0" bIns="0" rtlCol="0" anchor="ctr"/>
          <a:lstStyle/>
          <a:p>
            <a:pPr indent="0" marL="0">
              <a:buNone/>
            </a:pPr>
            <a:r>
              <a:rPr lang="en-US" sz="950" dirty="0">
                <a:solidFill>
                  <a:srgbClr val="5B5B5F"/>
                </a:solidFill>
                <a:latin typeface="Yu Gothic" pitchFamily="34" charset="0"/>
                <a:ea typeface="Yu Gothic" pitchFamily="34" charset="-122"/>
                <a:cs typeface="Yu Gothic" pitchFamily="34" charset="-120"/>
              </a:rPr>
              <a:t>Recorder Monitor ／ 株式会社ジェネシス・エッジ</a:t>
            </a:r>
            <a:endParaRPr lang="en-US" sz="950" dirty="0"/>
          </a:p>
        </p:txBody>
      </p:sp>
      <p:sp>
        <p:nvSpPr>
          <p:cNvPr id="9" name="Text 5"/>
          <p:cNvSpPr/>
          <p:nvPr/>
        </p:nvSpPr>
        <p:spPr>
          <a:xfrm>
            <a:off x="10710367" y="6419088"/>
            <a:ext cx="914400" cy="256032"/>
          </a:xfrm>
          <a:prstGeom prst="rect">
            <a:avLst/>
          </a:prstGeom>
          <a:noFill/>
          <a:ln/>
        </p:spPr>
        <p:txBody>
          <a:bodyPr wrap="square" lIns="0" tIns="0" rIns="0" bIns="0" rtlCol="0" anchor="ctr"/>
          <a:lstStyle/>
          <a:p>
            <a:pPr algn="r" indent="0" marL="0">
              <a:buNone/>
            </a:pPr>
            <a:r>
              <a:rPr lang="en-US" sz="950" dirty="0">
                <a:solidFill>
                  <a:srgbClr val="5B5B5F"/>
                </a:solidFill>
                <a:latin typeface="Yu Gothic" pitchFamily="34" charset="0"/>
                <a:ea typeface="Yu Gothic" pitchFamily="34" charset="-122"/>
                <a:cs typeface="Yu Gothic"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F1"/>
        </a:solidFill>
      </p:bgPr>
    </p:bg>
    <p:spTree>
      <p:nvGrpSpPr>
        <p:cNvPr id="1" name=""/>
        <p:cNvGrpSpPr/>
        <p:nvPr/>
      </p:nvGrpSpPr>
      <p:grpSpPr>
        <a:xfrm>
          <a:off x="0" y="0"/>
          <a:ext cx="0" cy="0"/>
          <a:chOff x="0" y="0"/>
          <a:chExt cx="0" cy="0"/>
        </a:xfrm>
      </p:grpSpPr>
      <p:sp>
        <p:nvSpPr>
          <p:cNvPr id="2" name="Text 0"/>
          <p:cNvSpPr/>
          <p:nvPr/>
        </p:nvSpPr>
        <p:spPr>
          <a:xfrm>
            <a:off x="566928" y="402336"/>
            <a:ext cx="11057839" cy="475488"/>
          </a:xfrm>
          <a:prstGeom prst="rect">
            <a:avLst/>
          </a:prstGeom>
          <a:noFill/>
          <a:ln/>
        </p:spPr>
        <p:txBody>
          <a:bodyPr wrap="square" lIns="0" tIns="0" rIns="0" bIns="0" rtlCol="0" anchor="t"/>
          <a:lstStyle/>
          <a:p>
            <a:pPr indent="0" marL="0">
              <a:buNone/>
            </a:pPr>
            <a:r>
              <a:rPr lang="en-US" sz="2700" b="1" dirty="0">
                <a:solidFill>
                  <a:srgbClr val="0F0F10"/>
                </a:solidFill>
                <a:latin typeface="Yu Gothic" pitchFamily="34" charset="0"/>
                <a:ea typeface="Yu Gothic" pitchFamily="34" charset="-122"/>
                <a:cs typeface="Yu Gothic" pitchFamily="34" charset="-120"/>
              </a:rPr>
              <a:t>効果 ②  検査証跡が、より確実に残ります</a:t>
            </a:r>
            <a:endParaRPr lang="en-US" sz="2700" dirty="0"/>
          </a:p>
        </p:txBody>
      </p:sp>
      <p:sp>
        <p:nvSpPr>
          <p:cNvPr id="3" name="Text 1"/>
          <p:cNvSpPr/>
          <p:nvPr/>
        </p:nvSpPr>
        <p:spPr>
          <a:xfrm>
            <a:off x="566928" y="932688"/>
            <a:ext cx="11057839" cy="384048"/>
          </a:xfrm>
          <a:prstGeom prst="rect">
            <a:avLst/>
          </a:prstGeom>
          <a:noFill/>
          <a:ln/>
        </p:spPr>
        <p:txBody>
          <a:bodyPr wrap="square" lIns="0" tIns="0" rIns="0" bIns="0" rtlCol="0" anchor="t"/>
          <a:lstStyle/>
          <a:p>
            <a:pPr indent="0" marL="0">
              <a:lnSpc>
                <a:spcPct val="135000"/>
              </a:lnSpc>
              <a:buNone/>
            </a:pPr>
            <a:r>
              <a:rPr lang="en-US" sz="1300" dirty="0">
                <a:solidFill>
                  <a:srgbClr val="5B5B5F"/>
                </a:solidFill>
                <a:latin typeface="Yu Gothic" pitchFamily="34" charset="0"/>
                <a:ea typeface="Yu Gothic" pitchFamily="34" charset="-122"/>
                <a:cs typeface="Yu Gothic" pitchFamily="34" charset="-120"/>
              </a:rPr>
              <a:t>当社は検査のたびにクリップを切り出し、数分でクラウドへ退避します。14 日分をレコーダーに貯めておいて後から取りに行く構造ではありません。</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1773936"/>
          <a:ext cx="11057839" cy="914400"/>
        </p:xfrm>
        <a:graphic>
          <a:graphicData uri="http://schemas.openxmlformats.org/drawingml/2006/table">
            <a:tbl>
              <a:tblPr/>
              <a:tblGrid>
                <a:gridCol w="3291840"/>
                <a:gridCol w="3566160"/>
                <a:gridCol w="4197096"/>
              </a:tblGrid>
              <a:tr h="621792">
                <a:tc>
                  <a:txBody>
                    <a:bodyPr/>
                    <a:lstStyle/>
                    <a:p>
                      <a:pPr algn="l" indent="0" marL="0">
                        <a:buNone/>
                      </a:pPr>
                      <a:r>
                        <a:rPr lang="en-US" sz="1100" b="1" dirty="0">
                          <a:solidFill>
                            <a:srgbClr val="2A2A2C"/>
                          </a:solidFill>
                          <a:latin typeface="Yu Gothic" pitchFamily="34" charset="0"/>
                          <a:ea typeface="Yu Gothic" pitchFamily="34" charset="-122"/>
                          <a:cs typeface="Yu Gothic" pitchFamily="34" charset="-120"/>
                        </a:rPr>
                        <a:t>観点</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7F5F1"/>
                    </a:solidFill>
                  </a:tcPr>
                </a:tc>
                <a:tc>
                  <a:txBody>
                    <a:bodyPr/>
                    <a:lstStyle/>
                    <a:p>
                      <a:pPr algn="l" indent="0" marL="0">
                        <a:buNone/>
                      </a:pPr>
                      <a:r>
                        <a:rPr lang="en-US" sz="1100" b="1" dirty="0">
                          <a:solidFill>
                            <a:srgbClr val="2A2A2C"/>
                          </a:solidFill>
                          <a:latin typeface="Yu Gothic" pitchFamily="34" charset="0"/>
                          <a:ea typeface="Yu Gothic" pitchFamily="34" charset="-122"/>
                          <a:cs typeface="Yu Gothic" pitchFamily="34" charset="-120"/>
                        </a:rPr>
                        <a:t>現行</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7F5F1"/>
                    </a:solidFill>
                  </a:tcPr>
                </a:tc>
                <a:tc>
                  <a:txBody>
                    <a:bodyPr/>
                    <a:lstStyle/>
                    <a:p>
                      <a:pPr algn="l" indent="0" marL="0">
                        <a:buNone/>
                      </a:pPr>
                      <a:r>
                        <a:rPr lang="en-US" sz="1100" b="1" dirty="0">
                          <a:solidFill>
                            <a:srgbClr val="2A2A2C"/>
                          </a:solidFill>
                          <a:latin typeface="Yu Gothic" pitchFamily="34" charset="0"/>
                          <a:ea typeface="Yu Gothic" pitchFamily="34" charset="-122"/>
                          <a:cs typeface="Yu Gothic" pitchFamily="34" charset="-120"/>
                        </a:rPr>
                        <a:t>ご提案</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7F5F1"/>
                    </a:solidFill>
                  </a:tcPr>
                </a:tc>
              </a:tr>
              <a:tr h="621792">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保管先</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クラウド録画サービス</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当社クラウド（国内リージョン）</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r>
              <a:tr h="621792">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保持期間</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ご契約による</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c>
                  <a:txBody>
                    <a:bodyPr/>
                    <a:lstStyle/>
                    <a:p>
                      <a:pPr algn="l" indent="0" marL="0">
                        <a:buNone/>
                      </a:pPr>
                      <a:r>
                        <a:rPr lang="en-US" sz="1150" b="1" dirty="0">
                          <a:solidFill>
                            <a:srgbClr val="2C4A7E"/>
                          </a:solidFill>
                          <a:latin typeface="Yu Gothic" pitchFamily="34" charset="0"/>
                          <a:ea typeface="Yu Gothic" pitchFamily="34" charset="-122"/>
                          <a:cs typeface="Yu Gothic" pitchFamily="34" charset="-120"/>
                        </a:rPr>
                        <a:t>60 日（店舗ごとに設定変更可）</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r>
              <a:tr h="621792">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クラウドへ渡る契機</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常時転送</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2C4A7E"/>
                          </a:solidFill>
                          <a:latin typeface="Yu Gothic" pitchFamily="34" charset="0"/>
                          <a:ea typeface="Yu Gothic" pitchFamily="34" charset="-122"/>
                          <a:cs typeface="Yu Gothic" pitchFamily="34" charset="-120"/>
                        </a:rPr>
                        <a:t>検査ごとに即時（数分以内）</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r>
              <a:tr h="621792">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レコーダー故障時</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クラウド側に依存</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c>
                  <a:txBody>
                    <a:bodyPr/>
                    <a:lstStyle/>
                    <a:p>
                      <a:pPr algn="l" indent="0" marL="0">
                        <a:buNone/>
                      </a:pPr>
                      <a:r>
                        <a:rPr lang="en-US" sz="1150" b="1" dirty="0">
                          <a:solidFill>
                            <a:srgbClr val="2F7A4F"/>
                          </a:solidFill>
                          <a:latin typeface="Yu Gothic" pitchFamily="34" charset="0"/>
                          <a:ea typeface="Yu Gothic" pitchFamily="34" charset="-122"/>
                          <a:cs typeface="Yu Gothic" pitchFamily="34" charset="-120"/>
                        </a:rPr>
                        <a:t>退避済みのため、過去分は残ります</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r>
              <a:tr h="621792">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回線断とレコーダー故障の同時発生</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証跡が失われます</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2F7A4F"/>
                          </a:solidFill>
                          <a:latin typeface="Yu Gothic" pitchFamily="34" charset="0"/>
                          <a:ea typeface="Yu Gothic" pitchFamily="34" charset="-122"/>
                          <a:cs typeface="Yu Gothic" pitchFamily="34" charset="-120"/>
                        </a:rPr>
                        <a:t>退避済みのため影響ありません</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r>
            </a:tbl>
          </a:graphicData>
        </a:graphic>
      </p:graphicFrame>
      <p:sp>
        <p:nvSpPr>
          <p:cNvPr id="5" name="Text 2"/>
          <p:cNvSpPr/>
          <p:nvPr/>
        </p:nvSpPr>
        <p:spPr>
          <a:xfrm>
            <a:off x="566928" y="6419088"/>
            <a:ext cx="5486400" cy="256032"/>
          </a:xfrm>
          <a:prstGeom prst="rect">
            <a:avLst/>
          </a:prstGeom>
          <a:noFill/>
          <a:ln/>
        </p:spPr>
        <p:txBody>
          <a:bodyPr wrap="square" lIns="0" tIns="0" rIns="0" bIns="0" rtlCol="0" anchor="ctr"/>
          <a:lstStyle/>
          <a:p>
            <a:pPr indent="0" marL="0">
              <a:buNone/>
            </a:pPr>
            <a:r>
              <a:rPr lang="en-US" sz="950" dirty="0">
                <a:solidFill>
                  <a:srgbClr val="5B5B5F"/>
                </a:solidFill>
                <a:latin typeface="Yu Gothic" pitchFamily="34" charset="0"/>
                <a:ea typeface="Yu Gothic" pitchFamily="34" charset="-122"/>
                <a:cs typeface="Yu Gothic" pitchFamily="34" charset="-120"/>
              </a:rPr>
              <a:t>Recorder Monitor ／ 株式会社ジェネシス・エッジ</a:t>
            </a:r>
            <a:endParaRPr lang="en-US" sz="950" dirty="0"/>
          </a:p>
        </p:txBody>
      </p:sp>
      <p:sp>
        <p:nvSpPr>
          <p:cNvPr id="6" name="Text 3"/>
          <p:cNvSpPr/>
          <p:nvPr/>
        </p:nvSpPr>
        <p:spPr>
          <a:xfrm>
            <a:off x="10710367" y="6419088"/>
            <a:ext cx="914400" cy="256032"/>
          </a:xfrm>
          <a:prstGeom prst="rect">
            <a:avLst/>
          </a:prstGeom>
          <a:noFill/>
          <a:ln/>
        </p:spPr>
        <p:txBody>
          <a:bodyPr wrap="square" lIns="0" tIns="0" rIns="0" bIns="0" rtlCol="0" anchor="ctr"/>
          <a:lstStyle/>
          <a:p>
            <a:pPr algn="r" indent="0" marL="0">
              <a:buNone/>
            </a:pPr>
            <a:r>
              <a:rPr lang="en-US" sz="950" dirty="0">
                <a:solidFill>
                  <a:srgbClr val="5B5B5F"/>
                </a:solidFill>
                <a:latin typeface="Yu Gothic" pitchFamily="34" charset="0"/>
                <a:ea typeface="Yu Gothic" pitchFamily="34" charset="-122"/>
                <a:cs typeface="Yu Gothic"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F1"/>
        </a:solidFill>
      </p:bgPr>
    </p:bg>
    <p:spTree>
      <p:nvGrpSpPr>
        <p:cNvPr id="1" name=""/>
        <p:cNvGrpSpPr/>
        <p:nvPr/>
      </p:nvGrpSpPr>
      <p:grpSpPr>
        <a:xfrm>
          <a:off x="0" y="0"/>
          <a:ext cx="0" cy="0"/>
          <a:chOff x="0" y="0"/>
          <a:chExt cx="0" cy="0"/>
        </a:xfrm>
      </p:grpSpPr>
      <p:sp>
        <p:nvSpPr>
          <p:cNvPr id="2" name="Text 0"/>
          <p:cNvSpPr/>
          <p:nvPr/>
        </p:nvSpPr>
        <p:spPr>
          <a:xfrm>
            <a:off x="566928" y="402336"/>
            <a:ext cx="11057839" cy="475488"/>
          </a:xfrm>
          <a:prstGeom prst="rect">
            <a:avLst/>
          </a:prstGeom>
          <a:noFill/>
          <a:ln/>
        </p:spPr>
        <p:txBody>
          <a:bodyPr wrap="square" lIns="0" tIns="0" rIns="0" bIns="0" rtlCol="0" anchor="t"/>
          <a:lstStyle/>
          <a:p>
            <a:pPr indent="0" marL="0">
              <a:buNone/>
            </a:pPr>
            <a:r>
              <a:rPr lang="en-US" sz="2700" b="1" dirty="0">
                <a:solidFill>
                  <a:srgbClr val="0F0F10"/>
                </a:solidFill>
                <a:latin typeface="Yu Gothic" pitchFamily="34" charset="0"/>
                <a:ea typeface="Yu Gothic" pitchFamily="34" charset="-122"/>
                <a:cs typeface="Yu Gothic" pitchFamily="34" charset="-120"/>
              </a:rPr>
              <a:t>追加される機能</a:t>
            </a:r>
            <a:endParaRPr lang="en-US" sz="2700" dirty="0"/>
          </a:p>
        </p:txBody>
      </p:sp>
      <p:sp>
        <p:nvSpPr>
          <p:cNvPr id="3" name="Text 1"/>
          <p:cNvSpPr/>
          <p:nvPr/>
        </p:nvSpPr>
        <p:spPr>
          <a:xfrm>
            <a:off x="566928" y="932688"/>
            <a:ext cx="11057839" cy="384048"/>
          </a:xfrm>
          <a:prstGeom prst="rect">
            <a:avLst/>
          </a:prstGeom>
          <a:noFill/>
          <a:ln/>
        </p:spPr>
        <p:txBody>
          <a:bodyPr wrap="square" lIns="0" tIns="0" rIns="0" bIns="0" rtlCol="0" anchor="t"/>
          <a:lstStyle/>
          <a:p>
            <a:pPr indent="0" marL="0">
              <a:lnSpc>
                <a:spcPct val="135000"/>
              </a:lnSpc>
              <a:buNone/>
            </a:pPr>
            <a:r>
              <a:rPr lang="en-US" sz="1300" dirty="0">
                <a:solidFill>
                  <a:srgbClr val="5B5B5F"/>
                </a:solidFill>
                <a:latin typeface="Yu Gothic" pitchFamily="34" charset="0"/>
                <a:ea typeface="Yu Gothic" pitchFamily="34" charset="-122"/>
                <a:cs typeface="Yu Gothic" pitchFamily="34" charset="-120"/>
              </a:rPr>
              <a:t>現在ご利用のシステムには無い機能が、標準で付きます。</a:t>
            </a:r>
            <a:endParaRPr lang="en-US" sz="1300" dirty="0"/>
          </a:p>
        </p:txBody>
      </p:sp>
      <p:sp>
        <p:nvSpPr>
          <p:cNvPr id="4" name="Shape 2"/>
          <p:cNvSpPr/>
          <p:nvPr/>
        </p:nvSpPr>
        <p:spPr>
          <a:xfrm>
            <a:off x="566928" y="1645920"/>
            <a:ext cx="5410048" cy="2176272"/>
          </a:xfrm>
          <a:prstGeom prst="roundRect">
            <a:avLst>
              <a:gd name="adj" fmla="val 2101"/>
            </a:avLst>
          </a:prstGeom>
          <a:solidFill>
            <a:srgbClr val="FFFFFF"/>
          </a:solidFill>
          <a:ln w="12700">
            <a:solidFill>
              <a:srgbClr val="D6CFC1"/>
            </a:solidFill>
            <a:prstDash val="solid"/>
          </a:ln>
        </p:spPr>
      </p:sp>
      <p:sp>
        <p:nvSpPr>
          <p:cNvPr id="5" name="Text 3"/>
          <p:cNvSpPr/>
          <p:nvPr/>
        </p:nvSpPr>
        <p:spPr>
          <a:xfrm>
            <a:off x="841248" y="1847088"/>
            <a:ext cx="4861408" cy="274320"/>
          </a:xfrm>
          <a:prstGeom prst="rect">
            <a:avLst/>
          </a:prstGeom>
          <a:noFill/>
          <a:ln/>
        </p:spPr>
        <p:txBody>
          <a:bodyPr wrap="square" lIns="0" tIns="0" rIns="0" bIns="0" rtlCol="0" anchor="t"/>
          <a:lstStyle/>
          <a:p>
            <a:pPr indent="0" marL="0">
              <a:buNone/>
            </a:pPr>
            <a:r>
              <a:rPr lang="en-US" sz="1500" b="1" dirty="0">
                <a:solidFill>
                  <a:srgbClr val="0F0F10"/>
                </a:solidFill>
                <a:latin typeface="Yu Gothic" pitchFamily="34" charset="0"/>
                <a:ea typeface="Yu Gothic" pitchFamily="34" charset="-122"/>
                <a:cs typeface="Yu Gothic" pitchFamily="34" charset="-120"/>
              </a:rPr>
              <a:t>レコーダー・カメラの死活監視</a:t>
            </a:r>
            <a:endParaRPr lang="en-US" sz="1500" dirty="0"/>
          </a:p>
        </p:txBody>
      </p:sp>
      <p:sp>
        <p:nvSpPr>
          <p:cNvPr id="6" name="Text 4"/>
          <p:cNvSpPr/>
          <p:nvPr/>
        </p:nvSpPr>
        <p:spPr>
          <a:xfrm>
            <a:off x="841248" y="2212848"/>
            <a:ext cx="4861408" cy="1097280"/>
          </a:xfrm>
          <a:prstGeom prst="rect">
            <a:avLst/>
          </a:prstGeom>
          <a:noFill/>
          <a:ln/>
        </p:spPr>
        <p:txBody>
          <a:bodyPr wrap="square" lIns="0" tIns="0" rIns="0" bIns="0" rtlCol="0" anchor="t"/>
          <a:lstStyle/>
          <a:p>
            <a:pPr indent="0" marL="0">
              <a:lnSpc>
                <a:spcPct val="140000"/>
              </a:lnSpc>
              <a:buNone/>
            </a:pPr>
            <a:r>
              <a:rPr lang="en-US" sz="1200" dirty="0">
                <a:solidFill>
                  <a:srgbClr val="5B5B5F"/>
                </a:solidFill>
                <a:latin typeface="Yu Gothic" pitchFamily="34" charset="0"/>
                <a:ea typeface="Yu Gothic" pitchFamily="34" charset="-122"/>
                <a:cs typeface="Yu Gothic" pitchFamily="34" charset="-120"/>
              </a:rPr>
              <a:t>現在は証跡がクラウド側にあるため、店舗のレコーダーが故障していても気づけません。</a:t>
            </a:r>
            <a:endParaRPr lang="en-US" sz="1200" dirty="0"/>
          </a:p>
          <a:p>
            <a:pPr indent="0" marL="0">
              <a:lnSpc>
                <a:spcPct val="140000"/>
              </a:lnSpc>
              <a:buNone/>
            </a:pPr>
            <a:r>
              <a:rPr lang="en-US" sz="1200" dirty="0">
                <a:solidFill>
                  <a:srgbClr val="5B5B5F"/>
                </a:solidFill>
                <a:latin typeface="Yu Gothic" pitchFamily="34" charset="0"/>
                <a:ea typeface="Yu Gothic" pitchFamily="34" charset="-122"/>
                <a:cs typeface="Yu Gothic" pitchFamily="34" charset="-120"/>
              </a:rPr>
              <a:t>本提案では機器の異常を本部で検知できるようになります。基本機能に含まれます。</a:t>
            </a:r>
            <a:endParaRPr lang="en-US" sz="1200" dirty="0"/>
          </a:p>
        </p:txBody>
      </p:sp>
      <p:sp>
        <p:nvSpPr>
          <p:cNvPr id="7" name="Shape 5"/>
          <p:cNvSpPr/>
          <p:nvPr/>
        </p:nvSpPr>
        <p:spPr>
          <a:xfrm>
            <a:off x="6214720" y="1645920"/>
            <a:ext cx="5410048" cy="2176272"/>
          </a:xfrm>
          <a:prstGeom prst="roundRect">
            <a:avLst>
              <a:gd name="adj" fmla="val 2101"/>
            </a:avLst>
          </a:prstGeom>
          <a:solidFill>
            <a:srgbClr val="FFFFFF"/>
          </a:solidFill>
          <a:ln w="12700">
            <a:solidFill>
              <a:srgbClr val="2C4A7E"/>
            </a:solidFill>
            <a:prstDash val="solid"/>
          </a:ln>
        </p:spPr>
      </p:sp>
      <p:sp>
        <p:nvSpPr>
          <p:cNvPr id="8" name="Text 6"/>
          <p:cNvSpPr/>
          <p:nvPr/>
        </p:nvSpPr>
        <p:spPr>
          <a:xfrm>
            <a:off x="6489040" y="1847088"/>
            <a:ext cx="4861408" cy="274320"/>
          </a:xfrm>
          <a:prstGeom prst="rect">
            <a:avLst/>
          </a:prstGeom>
          <a:noFill/>
          <a:ln/>
        </p:spPr>
        <p:txBody>
          <a:bodyPr wrap="square" lIns="0" tIns="0" rIns="0" bIns="0" rtlCol="0" anchor="t"/>
          <a:lstStyle/>
          <a:p>
            <a:pPr indent="0" marL="0">
              <a:buNone/>
            </a:pPr>
            <a:r>
              <a:rPr lang="en-US" sz="1500" b="1" dirty="0">
                <a:solidFill>
                  <a:srgbClr val="2C4A7E"/>
                </a:solidFill>
                <a:latin typeface="Yu Gothic" pitchFamily="34" charset="0"/>
                <a:ea typeface="Yu Gothic" pitchFamily="34" charset="-122"/>
                <a:cs typeface="Yu Gothic" pitchFamily="34" charset="-120"/>
              </a:rPr>
              <a:t>BCP（災害時映像の自動取得）　標準・無償</a:t>
            </a:r>
            <a:endParaRPr lang="en-US" sz="1500" dirty="0"/>
          </a:p>
        </p:txBody>
      </p:sp>
      <p:sp>
        <p:nvSpPr>
          <p:cNvPr id="9" name="Text 7"/>
          <p:cNvSpPr/>
          <p:nvPr/>
        </p:nvSpPr>
        <p:spPr>
          <a:xfrm>
            <a:off x="6489040" y="2212848"/>
            <a:ext cx="4861408" cy="1097280"/>
          </a:xfrm>
          <a:prstGeom prst="rect">
            <a:avLst/>
          </a:prstGeom>
          <a:noFill/>
          <a:ln/>
        </p:spPr>
        <p:txBody>
          <a:bodyPr wrap="square" lIns="0" tIns="0" rIns="0" bIns="0" rtlCol="0" anchor="t"/>
          <a:lstStyle/>
          <a:p>
            <a:pPr indent="0" marL="0">
              <a:lnSpc>
                <a:spcPct val="140000"/>
              </a:lnSpc>
              <a:buNone/>
            </a:pPr>
            <a:r>
              <a:rPr lang="en-US" sz="1200" dirty="0">
                <a:solidFill>
                  <a:srgbClr val="5B5B5F"/>
                </a:solidFill>
                <a:latin typeface="Yu Gothic" pitchFamily="34" charset="0"/>
                <a:ea typeface="Yu Gothic" pitchFamily="34" charset="-122"/>
                <a:cs typeface="Yu Gothic" pitchFamily="34" charset="-120"/>
              </a:rPr>
              <a:t>J アラートを受信すると、発令時刻を基準に 8 時点の店内映像を現地レコーダーから自動取得します。</a:t>
            </a:r>
            <a:endParaRPr lang="en-US" sz="1200" dirty="0"/>
          </a:p>
          <a:p>
            <a:pPr indent="0" marL="0">
              <a:lnSpc>
                <a:spcPct val="140000"/>
              </a:lnSpc>
              <a:buNone/>
            </a:pPr>
            <a:r>
              <a:rPr lang="en-US" sz="1200" dirty="0">
                <a:solidFill>
                  <a:srgbClr val="5B5B5F"/>
                </a:solidFill>
                <a:latin typeface="Yu Gothic" pitchFamily="34" charset="0"/>
                <a:ea typeface="Yu Gothic" pitchFamily="34" charset="-122"/>
                <a:cs typeface="Yu Gothic" pitchFamily="34" charset="-120"/>
              </a:rPr>
              <a:t>報告書 PDF も自動生成します。人が操作して間に合うものではないため、自動化しています。</a:t>
            </a:r>
            <a:endParaRPr lang="en-US" sz="1200" dirty="0"/>
          </a:p>
        </p:txBody>
      </p:sp>
      <p:sp>
        <p:nvSpPr>
          <p:cNvPr id="10" name="Shape 8"/>
          <p:cNvSpPr/>
          <p:nvPr/>
        </p:nvSpPr>
        <p:spPr>
          <a:xfrm>
            <a:off x="566928" y="4078224"/>
            <a:ext cx="1270216" cy="548640"/>
          </a:xfrm>
          <a:prstGeom prst="roundRect">
            <a:avLst>
              <a:gd name="adj" fmla="val 8333"/>
            </a:avLst>
          </a:prstGeom>
          <a:solidFill>
            <a:srgbClr val="FFFFFF"/>
          </a:solidFill>
          <a:ln w="12700">
            <a:solidFill>
              <a:srgbClr val="D6CFC1"/>
            </a:solidFill>
            <a:prstDash val="solid"/>
          </a:ln>
        </p:spPr>
      </p:sp>
      <p:sp>
        <p:nvSpPr>
          <p:cNvPr id="11" name="Text 9"/>
          <p:cNvSpPr/>
          <p:nvPr/>
        </p:nvSpPr>
        <p:spPr>
          <a:xfrm>
            <a:off x="566928" y="4078224"/>
            <a:ext cx="1270216" cy="548640"/>
          </a:xfrm>
          <a:prstGeom prst="rect">
            <a:avLst/>
          </a:prstGeom>
          <a:noFill/>
          <a:ln/>
        </p:spPr>
        <p:txBody>
          <a:bodyPr wrap="square" lIns="0" tIns="0" rIns="0" bIns="0" rtlCol="0" anchor="ctr"/>
          <a:lstStyle/>
          <a:p>
            <a:pPr algn="ctr" indent="0" marL="0">
              <a:buNone/>
            </a:pPr>
            <a:r>
              <a:rPr lang="en-US" sz="1150" dirty="0">
                <a:solidFill>
                  <a:srgbClr val="2A2A2C"/>
                </a:solidFill>
                <a:latin typeface="Yu Gothic" pitchFamily="34" charset="0"/>
                <a:ea typeface="Yu Gothic" pitchFamily="34" charset="-122"/>
                <a:cs typeface="Yu Gothic" pitchFamily="34" charset="-120"/>
              </a:rPr>
              <a:t>5 分前</a:t>
            </a:r>
            <a:endParaRPr lang="en-US" sz="1150" dirty="0"/>
          </a:p>
        </p:txBody>
      </p:sp>
      <p:sp>
        <p:nvSpPr>
          <p:cNvPr id="12" name="Shape 10"/>
          <p:cNvSpPr/>
          <p:nvPr/>
        </p:nvSpPr>
        <p:spPr>
          <a:xfrm>
            <a:off x="1965160" y="4078224"/>
            <a:ext cx="1270216" cy="548640"/>
          </a:xfrm>
          <a:prstGeom prst="roundRect">
            <a:avLst>
              <a:gd name="adj" fmla="val 8333"/>
            </a:avLst>
          </a:prstGeom>
          <a:solidFill>
            <a:srgbClr val="E4EAF3"/>
          </a:solidFill>
          <a:ln w="12700">
            <a:solidFill>
              <a:srgbClr val="2C4A7E"/>
            </a:solidFill>
            <a:prstDash val="solid"/>
          </a:ln>
        </p:spPr>
      </p:sp>
      <p:sp>
        <p:nvSpPr>
          <p:cNvPr id="13" name="Text 11"/>
          <p:cNvSpPr/>
          <p:nvPr/>
        </p:nvSpPr>
        <p:spPr>
          <a:xfrm>
            <a:off x="1965160" y="4078224"/>
            <a:ext cx="1270216" cy="548640"/>
          </a:xfrm>
          <a:prstGeom prst="rect">
            <a:avLst/>
          </a:prstGeom>
          <a:noFill/>
          <a:ln/>
        </p:spPr>
        <p:txBody>
          <a:bodyPr wrap="square" lIns="0" tIns="0" rIns="0" bIns="0" rtlCol="0" anchor="ctr"/>
          <a:lstStyle/>
          <a:p>
            <a:pPr algn="ctr" indent="0" marL="0">
              <a:buNone/>
            </a:pPr>
            <a:r>
              <a:rPr lang="en-US" sz="1150" b="1" dirty="0">
                <a:solidFill>
                  <a:srgbClr val="2C4A7E"/>
                </a:solidFill>
                <a:latin typeface="Yu Gothic" pitchFamily="34" charset="0"/>
                <a:ea typeface="Yu Gothic" pitchFamily="34" charset="-122"/>
                <a:cs typeface="Yu Gothic" pitchFamily="34" charset="-120"/>
              </a:rPr>
              <a:t>発生時</a:t>
            </a:r>
            <a:endParaRPr lang="en-US" sz="1150" dirty="0"/>
          </a:p>
        </p:txBody>
      </p:sp>
      <p:sp>
        <p:nvSpPr>
          <p:cNvPr id="14" name="Shape 12"/>
          <p:cNvSpPr/>
          <p:nvPr/>
        </p:nvSpPr>
        <p:spPr>
          <a:xfrm>
            <a:off x="3363392" y="4078224"/>
            <a:ext cx="1270216" cy="548640"/>
          </a:xfrm>
          <a:prstGeom prst="roundRect">
            <a:avLst>
              <a:gd name="adj" fmla="val 8333"/>
            </a:avLst>
          </a:prstGeom>
          <a:solidFill>
            <a:srgbClr val="FFFFFF"/>
          </a:solidFill>
          <a:ln w="12700">
            <a:solidFill>
              <a:srgbClr val="D6CFC1"/>
            </a:solidFill>
            <a:prstDash val="solid"/>
          </a:ln>
        </p:spPr>
      </p:sp>
      <p:sp>
        <p:nvSpPr>
          <p:cNvPr id="15" name="Text 13"/>
          <p:cNvSpPr/>
          <p:nvPr/>
        </p:nvSpPr>
        <p:spPr>
          <a:xfrm>
            <a:off x="3363392" y="4078224"/>
            <a:ext cx="1270216" cy="548640"/>
          </a:xfrm>
          <a:prstGeom prst="rect">
            <a:avLst/>
          </a:prstGeom>
          <a:noFill/>
          <a:ln/>
        </p:spPr>
        <p:txBody>
          <a:bodyPr wrap="square" lIns="0" tIns="0" rIns="0" bIns="0" rtlCol="0" anchor="ctr"/>
          <a:lstStyle/>
          <a:p>
            <a:pPr algn="ctr" indent="0" marL="0">
              <a:buNone/>
            </a:pPr>
            <a:r>
              <a:rPr lang="en-US" sz="1150" dirty="0">
                <a:solidFill>
                  <a:srgbClr val="2A2A2C"/>
                </a:solidFill>
                <a:latin typeface="Yu Gothic" pitchFamily="34" charset="0"/>
                <a:ea typeface="Yu Gothic" pitchFamily="34" charset="-122"/>
                <a:cs typeface="Yu Gothic" pitchFamily="34" charset="-120"/>
              </a:rPr>
              <a:t>5 分後</a:t>
            </a:r>
            <a:endParaRPr lang="en-US" sz="1150" dirty="0"/>
          </a:p>
        </p:txBody>
      </p:sp>
      <p:sp>
        <p:nvSpPr>
          <p:cNvPr id="16" name="Shape 14"/>
          <p:cNvSpPr/>
          <p:nvPr/>
        </p:nvSpPr>
        <p:spPr>
          <a:xfrm>
            <a:off x="4761624" y="4078224"/>
            <a:ext cx="1270216" cy="548640"/>
          </a:xfrm>
          <a:prstGeom prst="roundRect">
            <a:avLst>
              <a:gd name="adj" fmla="val 8333"/>
            </a:avLst>
          </a:prstGeom>
          <a:solidFill>
            <a:srgbClr val="FFFFFF"/>
          </a:solidFill>
          <a:ln w="12700">
            <a:solidFill>
              <a:srgbClr val="D6CFC1"/>
            </a:solidFill>
            <a:prstDash val="solid"/>
          </a:ln>
        </p:spPr>
      </p:sp>
      <p:sp>
        <p:nvSpPr>
          <p:cNvPr id="17" name="Text 15"/>
          <p:cNvSpPr/>
          <p:nvPr/>
        </p:nvSpPr>
        <p:spPr>
          <a:xfrm>
            <a:off x="4761624" y="4078224"/>
            <a:ext cx="1270216" cy="548640"/>
          </a:xfrm>
          <a:prstGeom prst="rect">
            <a:avLst/>
          </a:prstGeom>
          <a:noFill/>
          <a:ln/>
        </p:spPr>
        <p:txBody>
          <a:bodyPr wrap="square" lIns="0" tIns="0" rIns="0" bIns="0" rtlCol="0" anchor="ctr"/>
          <a:lstStyle/>
          <a:p>
            <a:pPr algn="ctr" indent="0" marL="0">
              <a:buNone/>
            </a:pPr>
            <a:r>
              <a:rPr lang="en-US" sz="1150" dirty="0">
                <a:solidFill>
                  <a:srgbClr val="2A2A2C"/>
                </a:solidFill>
                <a:latin typeface="Yu Gothic" pitchFamily="34" charset="0"/>
                <a:ea typeface="Yu Gothic" pitchFamily="34" charset="-122"/>
                <a:cs typeface="Yu Gothic" pitchFamily="34" charset="-120"/>
              </a:rPr>
              <a:t>10 分後</a:t>
            </a:r>
            <a:endParaRPr lang="en-US" sz="1150" dirty="0"/>
          </a:p>
        </p:txBody>
      </p:sp>
      <p:sp>
        <p:nvSpPr>
          <p:cNvPr id="18" name="Shape 16"/>
          <p:cNvSpPr/>
          <p:nvPr/>
        </p:nvSpPr>
        <p:spPr>
          <a:xfrm>
            <a:off x="6159856" y="4078224"/>
            <a:ext cx="1270216" cy="548640"/>
          </a:xfrm>
          <a:prstGeom prst="roundRect">
            <a:avLst>
              <a:gd name="adj" fmla="val 8333"/>
            </a:avLst>
          </a:prstGeom>
          <a:solidFill>
            <a:srgbClr val="FFFFFF"/>
          </a:solidFill>
          <a:ln w="12700">
            <a:solidFill>
              <a:srgbClr val="D6CFC1"/>
            </a:solidFill>
            <a:prstDash val="solid"/>
          </a:ln>
        </p:spPr>
      </p:sp>
      <p:sp>
        <p:nvSpPr>
          <p:cNvPr id="19" name="Text 17"/>
          <p:cNvSpPr/>
          <p:nvPr/>
        </p:nvSpPr>
        <p:spPr>
          <a:xfrm>
            <a:off x="6159856" y="4078224"/>
            <a:ext cx="1270216" cy="548640"/>
          </a:xfrm>
          <a:prstGeom prst="rect">
            <a:avLst/>
          </a:prstGeom>
          <a:noFill/>
          <a:ln/>
        </p:spPr>
        <p:txBody>
          <a:bodyPr wrap="square" lIns="0" tIns="0" rIns="0" bIns="0" rtlCol="0" anchor="ctr"/>
          <a:lstStyle/>
          <a:p>
            <a:pPr algn="ctr" indent="0" marL="0">
              <a:buNone/>
            </a:pPr>
            <a:r>
              <a:rPr lang="en-US" sz="1150" dirty="0">
                <a:solidFill>
                  <a:srgbClr val="2A2A2C"/>
                </a:solidFill>
                <a:latin typeface="Yu Gothic" pitchFamily="34" charset="0"/>
                <a:ea typeface="Yu Gothic" pitchFamily="34" charset="-122"/>
                <a:cs typeface="Yu Gothic" pitchFamily="34" charset="-120"/>
              </a:rPr>
              <a:t>15 分後</a:t>
            </a:r>
            <a:endParaRPr lang="en-US" sz="1150" dirty="0"/>
          </a:p>
        </p:txBody>
      </p:sp>
      <p:sp>
        <p:nvSpPr>
          <p:cNvPr id="20" name="Shape 18"/>
          <p:cNvSpPr/>
          <p:nvPr/>
        </p:nvSpPr>
        <p:spPr>
          <a:xfrm>
            <a:off x="7558088" y="4078224"/>
            <a:ext cx="1270216" cy="548640"/>
          </a:xfrm>
          <a:prstGeom prst="roundRect">
            <a:avLst>
              <a:gd name="adj" fmla="val 8333"/>
            </a:avLst>
          </a:prstGeom>
          <a:solidFill>
            <a:srgbClr val="FFFFFF"/>
          </a:solidFill>
          <a:ln w="12700">
            <a:solidFill>
              <a:srgbClr val="D6CFC1"/>
            </a:solidFill>
            <a:prstDash val="solid"/>
          </a:ln>
        </p:spPr>
      </p:sp>
      <p:sp>
        <p:nvSpPr>
          <p:cNvPr id="21" name="Text 19"/>
          <p:cNvSpPr/>
          <p:nvPr/>
        </p:nvSpPr>
        <p:spPr>
          <a:xfrm>
            <a:off x="7558088" y="4078224"/>
            <a:ext cx="1270216" cy="548640"/>
          </a:xfrm>
          <a:prstGeom prst="rect">
            <a:avLst/>
          </a:prstGeom>
          <a:noFill/>
          <a:ln/>
        </p:spPr>
        <p:txBody>
          <a:bodyPr wrap="square" lIns="0" tIns="0" rIns="0" bIns="0" rtlCol="0" anchor="ctr"/>
          <a:lstStyle/>
          <a:p>
            <a:pPr algn="ctr" indent="0" marL="0">
              <a:buNone/>
            </a:pPr>
            <a:r>
              <a:rPr lang="en-US" sz="1150" dirty="0">
                <a:solidFill>
                  <a:srgbClr val="2A2A2C"/>
                </a:solidFill>
                <a:latin typeface="Yu Gothic" pitchFamily="34" charset="0"/>
                <a:ea typeface="Yu Gothic" pitchFamily="34" charset="-122"/>
                <a:cs typeface="Yu Gothic" pitchFamily="34" charset="-120"/>
              </a:rPr>
              <a:t>20 分後</a:t>
            </a:r>
            <a:endParaRPr lang="en-US" sz="1150" dirty="0"/>
          </a:p>
        </p:txBody>
      </p:sp>
      <p:sp>
        <p:nvSpPr>
          <p:cNvPr id="22" name="Shape 20"/>
          <p:cNvSpPr/>
          <p:nvPr/>
        </p:nvSpPr>
        <p:spPr>
          <a:xfrm>
            <a:off x="8956319" y="4078224"/>
            <a:ext cx="1270216" cy="548640"/>
          </a:xfrm>
          <a:prstGeom prst="roundRect">
            <a:avLst>
              <a:gd name="adj" fmla="val 8333"/>
            </a:avLst>
          </a:prstGeom>
          <a:solidFill>
            <a:srgbClr val="FFFFFF"/>
          </a:solidFill>
          <a:ln w="12700">
            <a:solidFill>
              <a:srgbClr val="D6CFC1"/>
            </a:solidFill>
            <a:prstDash val="solid"/>
          </a:ln>
        </p:spPr>
      </p:sp>
      <p:sp>
        <p:nvSpPr>
          <p:cNvPr id="23" name="Text 21"/>
          <p:cNvSpPr/>
          <p:nvPr/>
        </p:nvSpPr>
        <p:spPr>
          <a:xfrm>
            <a:off x="8956319" y="4078224"/>
            <a:ext cx="1270216" cy="548640"/>
          </a:xfrm>
          <a:prstGeom prst="rect">
            <a:avLst/>
          </a:prstGeom>
          <a:noFill/>
          <a:ln/>
        </p:spPr>
        <p:txBody>
          <a:bodyPr wrap="square" lIns="0" tIns="0" rIns="0" bIns="0" rtlCol="0" anchor="ctr"/>
          <a:lstStyle/>
          <a:p>
            <a:pPr algn="ctr" indent="0" marL="0">
              <a:buNone/>
            </a:pPr>
            <a:r>
              <a:rPr lang="en-US" sz="1150" dirty="0">
                <a:solidFill>
                  <a:srgbClr val="2A2A2C"/>
                </a:solidFill>
                <a:latin typeface="Yu Gothic" pitchFamily="34" charset="0"/>
                <a:ea typeface="Yu Gothic" pitchFamily="34" charset="-122"/>
                <a:cs typeface="Yu Gothic" pitchFamily="34" charset="-120"/>
              </a:rPr>
              <a:t>25 分後</a:t>
            </a:r>
            <a:endParaRPr lang="en-US" sz="1150" dirty="0"/>
          </a:p>
        </p:txBody>
      </p:sp>
      <p:sp>
        <p:nvSpPr>
          <p:cNvPr id="24" name="Shape 22"/>
          <p:cNvSpPr/>
          <p:nvPr/>
        </p:nvSpPr>
        <p:spPr>
          <a:xfrm>
            <a:off x="10354551" y="4078224"/>
            <a:ext cx="1270216" cy="548640"/>
          </a:xfrm>
          <a:prstGeom prst="roundRect">
            <a:avLst>
              <a:gd name="adj" fmla="val 8333"/>
            </a:avLst>
          </a:prstGeom>
          <a:solidFill>
            <a:srgbClr val="FFFFFF"/>
          </a:solidFill>
          <a:ln w="12700">
            <a:solidFill>
              <a:srgbClr val="D6CFC1"/>
            </a:solidFill>
            <a:prstDash val="solid"/>
          </a:ln>
        </p:spPr>
      </p:sp>
      <p:sp>
        <p:nvSpPr>
          <p:cNvPr id="25" name="Text 23"/>
          <p:cNvSpPr/>
          <p:nvPr/>
        </p:nvSpPr>
        <p:spPr>
          <a:xfrm>
            <a:off x="10354551" y="4078224"/>
            <a:ext cx="1270216" cy="548640"/>
          </a:xfrm>
          <a:prstGeom prst="rect">
            <a:avLst/>
          </a:prstGeom>
          <a:noFill/>
          <a:ln/>
        </p:spPr>
        <p:txBody>
          <a:bodyPr wrap="square" lIns="0" tIns="0" rIns="0" bIns="0" rtlCol="0" anchor="ctr"/>
          <a:lstStyle/>
          <a:p>
            <a:pPr algn="ctr" indent="0" marL="0">
              <a:buNone/>
            </a:pPr>
            <a:r>
              <a:rPr lang="en-US" sz="1150" dirty="0">
                <a:solidFill>
                  <a:srgbClr val="2A2A2C"/>
                </a:solidFill>
                <a:latin typeface="Yu Gothic" pitchFamily="34" charset="0"/>
                <a:ea typeface="Yu Gothic" pitchFamily="34" charset="-122"/>
                <a:cs typeface="Yu Gothic" pitchFamily="34" charset="-120"/>
              </a:rPr>
              <a:t>30 分後</a:t>
            </a:r>
            <a:endParaRPr lang="en-US" sz="1150" dirty="0"/>
          </a:p>
        </p:txBody>
      </p:sp>
      <p:sp>
        <p:nvSpPr>
          <p:cNvPr id="26" name="Shape 24"/>
          <p:cNvSpPr/>
          <p:nvPr/>
        </p:nvSpPr>
        <p:spPr>
          <a:xfrm>
            <a:off x="566928" y="4846320"/>
            <a:ext cx="11057839" cy="987552"/>
          </a:xfrm>
          <a:prstGeom prst="roundRect">
            <a:avLst>
              <a:gd name="adj" fmla="val 4630"/>
            </a:avLst>
          </a:prstGeom>
          <a:solidFill>
            <a:srgbClr val="F6EFE2"/>
          </a:solidFill>
          <a:ln w="12700">
            <a:solidFill>
              <a:srgbClr val="B5761A"/>
            </a:solidFill>
            <a:prstDash val="solid"/>
          </a:ln>
        </p:spPr>
      </p:sp>
      <p:sp>
        <p:nvSpPr>
          <p:cNvPr id="27" name="Text 25"/>
          <p:cNvSpPr/>
          <p:nvPr/>
        </p:nvSpPr>
        <p:spPr>
          <a:xfrm>
            <a:off x="841248" y="4846320"/>
            <a:ext cx="10509199" cy="987552"/>
          </a:xfrm>
          <a:prstGeom prst="rect">
            <a:avLst/>
          </a:prstGeom>
          <a:noFill/>
          <a:ln/>
        </p:spPr>
        <p:txBody>
          <a:bodyPr wrap="square" lIns="0" tIns="0" rIns="0" bIns="0" rtlCol="0" anchor="ctr"/>
          <a:lstStyle/>
          <a:p>
            <a:pPr indent="0" marL="0">
              <a:lnSpc>
                <a:spcPct val="135000"/>
              </a:lnSpc>
              <a:buNone/>
            </a:pPr>
            <a:r>
              <a:rPr lang="en-US" sz="1200" dirty="0">
                <a:solidFill>
                  <a:srgbClr val="2A2A2C"/>
                </a:solidFill>
                <a:latin typeface="Yu Gothic" pitchFamily="34" charset="0"/>
                <a:ea typeface="Yu Gothic" pitchFamily="34" charset="-122"/>
                <a:cs typeface="Yu Gothic" pitchFamily="34" charset="-120"/>
              </a:rPr>
              <a:t>あわせてご検討ください — レコーダーのハードディスクは消耗品です。移行の初年度に故障が集中する可能性があります。</a:t>
            </a:r>
            <a:endParaRPr lang="en-US" sz="1200" dirty="0"/>
          </a:p>
          <a:p>
            <a:pPr indent="0" marL="0">
              <a:lnSpc>
                <a:spcPct val="135000"/>
              </a:lnSpc>
              <a:buNone/>
            </a:pPr>
            <a:r>
              <a:rPr lang="en-US" sz="1200" dirty="0">
                <a:solidFill>
                  <a:srgbClr val="2A2A2C"/>
                </a:solidFill>
                <a:latin typeface="Yu Gothic" pitchFamily="34" charset="0"/>
                <a:ea typeface="Yu Gothic" pitchFamily="34" charset="-122"/>
                <a:cs typeface="Yu Gothic" pitchFamily="34" charset="-120"/>
              </a:rPr>
              <a:t>100 台の稼働時間の棚卸し・年間交換台数の予算化・異常検知時の通知先と交換手配の体制を、あわせてご提案いたします。</a:t>
            </a:r>
            <a:endParaRPr lang="en-US" sz="1200" dirty="0"/>
          </a:p>
        </p:txBody>
      </p:sp>
      <p:sp>
        <p:nvSpPr>
          <p:cNvPr id="28" name="Text 26"/>
          <p:cNvSpPr/>
          <p:nvPr/>
        </p:nvSpPr>
        <p:spPr>
          <a:xfrm>
            <a:off x="566928" y="6419088"/>
            <a:ext cx="5486400" cy="256032"/>
          </a:xfrm>
          <a:prstGeom prst="rect">
            <a:avLst/>
          </a:prstGeom>
          <a:noFill/>
          <a:ln/>
        </p:spPr>
        <p:txBody>
          <a:bodyPr wrap="square" lIns="0" tIns="0" rIns="0" bIns="0" rtlCol="0" anchor="ctr"/>
          <a:lstStyle/>
          <a:p>
            <a:pPr indent="0" marL="0">
              <a:buNone/>
            </a:pPr>
            <a:r>
              <a:rPr lang="en-US" sz="950" dirty="0">
                <a:solidFill>
                  <a:srgbClr val="5B5B5F"/>
                </a:solidFill>
                <a:latin typeface="Yu Gothic" pitchFamily="34" charset="0"/>
                <a:ea typeface="Yu Gothic" pitchFamily="34" charset="-122"/>
                <a:cs typeface="Yu Gothic" pitchFamily="34" charset="-120"/>
              </a:rPr>
              <a:t>Recorder Monitor ／ 株式会社ジェネシス・エッジ</a:t>
            </a:r>
            <a:endParaRPr lang="en-US" sz="950" dirty="0"/>
          </a:p>
        </p:txBody>
      </p:sp>
      <p:sp>
        <p:nvSpPr>
          <p:cNvPr id="29" name="Text 27"/>
          <p:cNvSpPr/>
          <p:nvPr/>
        </p:nvSpPr>
        <p:spPr>
          <a:xfrm>
            <a:off x="10710367" y="6419088"/>
            <a:ext cx="914400" cy="256032"/>
          </a:xfrm>
          <a:prstGeom prst="rect">
            <a:avLst/>
          </a:prstGeom>
          <a:noFill/>
          <a:ln/>
        </p:spPr>
        <p:txBody>
          <a:bodyPr wrap="square" lIns="0" tIns="0" rIns="0" bIns="0" rtlCol="0" anchor="ctr"/>
          <a:lstStyle/>
          <a:p>
            <a:pPr algn="r" indent="0" marL="0">
              <a:buNone/>
            </a:pPr>
            <a:r>
              <a:rPr lang="en-US" sz="950" dirty="0">
                <a:solidFill>
                  <a:srgbClr val="5B5B5F"/>
                </a:solidFill>
                <a:latin typeface="Yu Gothic" pitchFamily="34" charset="0"/>
                <a:ea typeface="Yu Gothic" pitchFamily="34" charset="-122"/>
                <a:cs typeface="Yu Gothic"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F1"/>
        </a:solidFill>
      </p:bgPr>
    </p:bg>
    <p:spTree>
      <p:nvGrpSpPr>
        <p:cNvPr id="1" name=""/>
        <p:cNvGrpSpPr/>
        <p:nvPr/>
      </p:nvGrpSpPr>
      <p:grpSpPr>
        <a:xfrm>
          <a:off x="0" y="0"/>
          <a:ext cx="0" cy="0"/>
          <a:chOff x="0" y="0"/>
          <a:chExt cx="0" cy="0"/>
        </a:xfrm>
      </p:grpSpPr>
      <p:sp>
        <p:nvSpPr>
          <p:cNvPr id="2" name="Text 0"/>
          <p:cNvSpPr/>
          <p:nvPr/>
        </p:nvSpPr>
        <p:spPr>
          <a:xfrm>
            <a:off x="566928" y="402336"/>
            <a:ext cx="11057839" cy="475488"/>
          </a:xfrm>
          <a:prstGeom prst="rect">
            <a:avLst/>
          </a:prstGeom>
          <a:noFill/>
          <a:ln/>
        </p:spPr>
        <p:txBody>
          <a:bodyPr wrap="square" lIns="0" tIns="0" rIns="0" bIns="0" rtlCol="0" anchor="t"/>
          <a:lstStyle/>
          <a:p>
            <a:pPr indent="0" marL="0">
              <a:buNone/>
            </a:pPr>
            <a:r>
              <a:rPr lang="en-US" sz="2700" b="1" dirty="0">
                <a:solidFill>
                  <a:srgbClr val="0F0F10"/>
                </a:solidFill>
                <a:latin typeface="Yu Gothic" pitchFamily="34" charset="0"/>
                <a:ea typeface="Yu Gothic" pitchFamily="34" charset="-122"/>
                <a:cs typeface="Yu Gothic" pitchFamily="34" charset="-120"/>
              </a:rPr>
              <a:t>機能比較</a:t>
            </a:r>
            <a:endParaRPr lang="en-US" sz="27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 y="1170432"/>
          <a:ext cx="11057839" cy="914400"/>
        </p:xfrm>
        <a:graphic>
          <a:graphicData uri="http://schemas.openxmlformats.org/drawingml/2006/table">
            <a:tbl>
              <a:tblPr/>
              <a:tblGrid>
                <a:gridCol w="4206240"/>
                <a:gridCol w="2011680"/>
                <a:gridCol w="4837176"/>
              </a:tblGrid>
              <a:tr h="301752">
                <a:tc>
                  <a:txBody>
                    <a:bodyPr/>
                    <a:lstStyle/>
                    <a:p>
                      <a:pPr algn="l" indent="0" marL="0">
                        <a:buNone/>
                      </a:pPr>
                      <a:r>
                        <a:rPr lang="en-US" sz="1100" b="1" dirty="0">
                          <a:solidFill>
                            <a:srgbClr val="2A2A2C"/>
                          </a:solidFill>
                          <a:latin typeface="Yu Gothic" pitchFamily="34" charset="0"/>
                          <a:ea typeface="Yu Gothic" pitchFamily="34" charset="-122"/>
                          <a:cs typeface="Yu Gothic" pitchFamily="34" charset="-120"/>
                        </a:rPr>
                        <a:t>機能</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7F5F1"/>
                    </a:solidFill>
                  </a:tcPr>
                </a:tc>
                <a:tc>
                  <a:txBody>
                    <a:bodyPr/>
                    <a:lstStyle/>
                    <a:p>
                      <a:pPr algn="l" indent="0" marL="0">
                        <a:buNone/>
                      </a:pPr>
                      <a:r>
                        <a:rPr lang="en-US" sz="1100" b="1" dirty="0">
                          <a:solidFill>
                            <a:srgbClr val="2A2A2C"/>
                          </a:solidFill>
                          <a:latin typeface="Yu Gothic" pitchFamily="34" charset="0"/>
                          <a:ea typeface="Yu Gothic" pitchFamily="34" charset="-122"/>
                          <a:cs typeface="Yu Gothic" pitchFamily="34" charset="-120"/>
                        </a:rPr>
                        <a:t>現行</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7F5F1"/>
                    </a:solidFill>
                  </a:tcPr>
                </a:tc>
                <a:tc>
                  <a:txBody>
                    <a:bodyPr/>
                    <a:lstStyle/>
                    <a:p>
                      <a:pPr algn="l" indent="0" marL="0">
                        <a:buNone/>
                      </a:pPr>
                      <a:r>
                        <a:rPr lang="en-US" sz="1100" b="1" dirty="0">
                          <a:solidFill>
                            <a:srgbClr val="2A2A2C"/>
                          </a:solidFill>
                          <a:latin typeface="Yu Gothic" pitchFamily="34" charset="0"/>
                          <a:ea typeface="Yu Gothic" pitchFamily="34" charset="-122"/>
                          <a:cs typeface="Yu Gothic" pitchFamily="34" charset="-120"/>
                        </a:rPr>
                        <a:t>Recorder Monitor</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7F5F1"/>
                    </a:solidFill>
                  </a:tcPr>
                </a:tc>
              </a:tr>
              <a:tr h="301752">
                <a:tc>
                  <a:txBody>
                    <a:bodyPr/>
                    <a:lstStyle/>
                    <a:p>
                      <a:pPr algn="l" indent="0" marL="0">
                        <a:buNone/>
                      </a:pPr>
                      <a:r>
                        <a:rPr lang="en-US" sz="1100" dirty="0">
                          <a:solidFill>
                            <a:srgbClr val="0F0F10"/>
                          </a:solidFill>
                          <a:latin typeface="Yu Gothic" pitchFamily="34" charset="0"/>
                          <a:ea typeface="Yu Gothic" pitchFamily="34" charset="-122"/>
                          <a:cs typeface="Yu Gothic" pitchFamily="34" charset="-120"/>
                        </a:rPr>
                        <a:t>従業員の入退室記録</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F7A4F"/>
                          </a:solidFill>
                          <a:latin typeface="Yu Gothic" pitchFamily="34" charset="0"/>
                          <a:ea typeface="Yu Gothic" pitchFamily="34" charset="-122"/>
                          <a:cs typeface="Yu Gothic" pitchFamily="34" charset="-120"/>
                        </a:rPr>
                        <a:t>あり</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F7A4F"/>
                          </a:solidFill>
                          <a:latin typeface="Yu Gothic" pitchFamily="34" charset="0"/>
                          <a:ea typeface="Yu Gothic" pitchFamily="34" charset="-122"/>
                          <a:cs typeface="Yu Gothic" pitchFamily="34" charset="-120"/>
                        </a:rPr>
                        <a:t>あり</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r>
              <a:tr h="301752">
                <a:tc>
                  <a:txBody>
                    <a:bodyPr/>
                    <a:lstStyle/>
                    <a:p>
                      <a:pPr algn="l" indent="0" marL="0">
                        <a:buNone/>
                      </a:pPr>
                      <a:r>
                        <a:rPr lang="en-US" sz="1100" dirty="0">
                          <a:solidFill>
                            <a:srgbClr val="0F0F10"/>
                          </a:solidFill>
                          <a:latin typeface="Yu Gothic" pitchFamily="34" charset="0"/>
                          <a:ea typeface="Yu Gothic" pitchFamily="34" charset="-122"/>
                          <a:cs typeface="Yu Gothic" pitchFamily="34" charset="-120"/>
                        </a:rPr>
                        <a:t>顔認証による本人確認</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c>
                  <a:txBody>
                    <a:bodyPr/>
                    <a:lstStyle/>
                    <a:p>
                      <a:pPr algn="ctr" indent="0" marL="0">
                        <a:buNone/>
                      </a:pPr>
                      <a:r>
                        <a:rPr lang="en-US" sz="1100" b="1" dirty="0">
                          <a:solidFill>
                            <a:srgbClr val="2F7A4F"/>
                          </a:solidFill>
                          <a:latin typeface="Yu Gothic" pitchFamily="34" charset="0"/>
                          <a:ea typeface="Yu Gothic" pitchFamily="34" charset="-122"/>
                          <a:cs typeface="Yu Gothic" pitchFamily="34" charset="-120"/>
                        </a:rPr>
                        <a:t>あり</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c>
                  <a:txBody>
                    <a:bodyPr/>
                    <a:lstStyle/>
                    <a:p>
                      <a:pPr algn="ctr" indent="0" marL="0">
                        <a:buNone/>
                      </a:pPr>
                      <a:r>
                        <a:rPr lang="en-US" sz="1100" b="1" dirty="0">
                          <a:solidFill>
                            <a:srgbClr val="2F7A4F"/>
                          </a:solidFill>
                          <a:latin typeface="Yu Gothic" pitchFamily="34" charset="0"/>
                          <a:ea typeface="Yu Gothic" pitchFamily="34" charset="-122"/>
                          <a:cs typeface="Yu Gothic" pitchFamily="34" charset="-120"/>
                        </a:rPr>
                        <a:t>あり</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r>
              <a:tr h="301752">
                <a:tc>
                  <a:txBody>
                    <a:bodyPr/>
                    <a:lstStyle/>
                    <a:p>
                      <a:pPr algn="l" indent="0" marL="0">
                        <a:buNone/>
                      </a:pPr>
                      <a:r>
                        <a:rPr lang="en-US" sz="1100" dirty="0">
                          <a:solidFill>
                            <a:srgbClr val="0F0F10"/>
                          </a:solidFill>
                          <a:latin typeface="Yu Gothic" pitchFamily="34" charset="0"/>
                          <a:ea typeface="Yu Gothic" pitchFamily="34" charset="-122"/>
                          <a:cs typeface="Yu Gothic" pitchFamily="34" charset="-120"/>
                        </a:rPr>
                        <a:t>検査手順の音声読み上げ</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F7A4F"/>
                          </a:solidFill>
                          <a:latin typeface="Yu Gothic" pitchFamily="34" charset="0"/>
                          <a:ea typeface="Yu Gothic" pitchFamily="34" charset="-122"/>
                          <a:cs typeface="Yu Gothic" pitchFamily="34" charset="-120"/>
                        </a:rPr>
                        <a:t>あり</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F7A4F"/>
                          </a:solidFill>
                          <a:latin typeface="Yu Gothic" pitchFamily="34" charset="0"/>
                          <a:ea typeface="Yu Gothic" pitchFamily="34" charset="-122"/>
                          <a:cs typeface="Yu Gothic" pitchFamily="34" charset="-120"/>
                        </a:rPr>
                        <a:t>あり（文言は店舗ごとに設定可）</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r>
              <a:tr h="301752">
                <a:tc>
                  <a:txBody>
                    <a:bodyPr/>
                    <a:lstStyle/>
                    <a:p>
                      <a:pPr algn="l" indent="0" marL="0">
                        <a:buNone/>
                      </a:pPr>
                      <a:r>
                        <a:rPr lang="en-US" sz="1100" dirty="0">
                          <a:solidFill>
                            <a:srgbClr val="0F0F10"/>
                          </a:solidFill>
                          <a:latin typeface="Yu Gothic" pitchFamily="34" charset="0"/>
                          <a:ea typeface="Yu Gothic" pitchFamily="34" charset="-122"/>
                          <a:cs typeface="Yu Gothic" pitchFamily="34" charset="-120"/>
                        </a:rPr>
                        <a:t>検査時の映像証跡</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c>
                  <a:txBody>
                    <a:bodyPr/>
                    <a:lstStyle/>
                    <a:p>
                      <a:pPr algn="ctr" indent="0" marL="0">
                        <a:buNone/>
                      </a:pPr>
                      <a:r>
                        <a:rPr lang="en-US" sz="1100" b="1" dirty="0">
                          <a:solidFill>
                            <a:srgbClr val="2F7A4F"/>
                          </a:solidFill>
                          <a:latin typeface="Yu Gothic" pitchFamily="34" charset="0"/>
                          <a:ea typeface="Yu Gothic" pitchFamily="34" charset="-122"/>
                          <a:cs typeface="Yu Gothic" pitchFamily="34" charset="-120"/>
                        </a:rPr>
                        <a:t>あり</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c>
                  <a:txBody>
                    <a:bodyPr/>
                    <a:lstStyle/>
                    <a:p>
                      <a:pPr algn="ctr" indent="0" marL="0">
                        <a:buNone/>
                      </a:pPr>
                      <a:r>
                        <a:rPr lang="en-US" sz="1100" b="1" dirty="0">
                          <a:solidFill>
                            <a:srgbClr val="2F7A4F"/>
                          </a:solidFill>
                          <a:latin typeface="Yu Gothic" pitchFamily="34" charset="0"/>
                          <a:ea typeface="Yu Gothic" pitchFamily="34" charset="-122"/>
                          <a:cs typeface="Yu Gothic" pitchFamily="34" charset="-120"/>
                        </a:rPr>
                        <a:t>あり（60 日保管）</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r>
              <a:tr h="301752">
                <a:tc>
                  <a:txBody>
                    <a:bodyPr/>
                    <a:lstStyle/>
                    <a:p>
                      <a:pPr algn="l" indent="0" marL="0">
                        <a:buNone/>
                      </a:pPr>
                      <a:r>
                        <a:rPr lang="en-US" sz="1100" dirty="0">
                          <a:solidFill>
                            <a:srgbClr val="0F0F10"/>
                          </a:solidFill>
                          <a:latin typeface="Yu Gothic" pitchFamily="34" charset="0"/>
                          <a:ea typeface="Yu Gothic" pitchFamily="34" charset="-122"/>
                          <a:cs typeface="Yu Gothic" pitchFamily="34" charset="-120"/>
                        </a:rPr>
                        <a:t>一時退室・一時入室の記録</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F7A4F"/>
                          </a:solidFill>
                          <a:latin typeface="Yu Gothic" pitchFamily="34" charset="0"/>
                          <a:ea typeface="Yu Gothic" pitchFamily="34" charset="-122"/>
                          <a:cs typeface="Yu Gothic" pitchFamily="34" charset="-120"/>
                        </a:rPr>
                        <a:t>あり</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F7A4F"/>
                          </a:solidFill>
                          <a:latin typeface="Yu Gothic" pitchFamily="34" charset="0"/>
                          <a:ea typeface="Yu Gothic" pitchFamily="34" charset="-122"/>
                          <a:cs typeface="Yu Gothic" pitchFamily="34" charset="-120"/>
                        </a:rPr>
                        <a:t>あり</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r>
              <a:tr h="301752">
                <a:tc>
                  <a:txBody>
                    <a:bodyPr/>
                    <a:lstStyle/>
                    <a:p>
                      <a:pPr algn="l" indent="0" marL="0">
                        <a:buNone/>
                      </a:pPr>
                      <a:r>
                        <a:rPr lang="en-US" sz="1100" dirty="0">
                          <a:solidFill>
                            <a:srgbClr val="0F0F10"/>
                          </a:solidFill>
                          <a:latin typeface="Yu Gothic" pitchFamily="34" charset="0"/>
                          <a:ea typeface="Yu Gothic" pitchFamily="34" charset="-122"/>
                          <a:cs typeface="Yu Gothic" pitchFamily="34" charset="-120"/>
                        </a:rPr>
                        <a:t>日次の集計・レポート</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c>
                  <a:txBody>
                    <a:bodyPr/>
                    <a:lstStyle/>
                    <a:p>
                      <a:pPr algn="ctr" indent="0" marL="0">
                        <a:buNone/>
                      </a:pPr>
                      <a:r>
                        <a:rPr lang="en-US" sz="1100" b="1" dirty="0">
                          <a:solidFill>
                            <a:srgbClr val="2F7A4F"/>
                          </a:solidFill>
                          <a:latin typeface="Yu Gothic" pitchFamily="34" charset="0"/>
                          <a:ea typeface="Yu Gothic" pitchFamily="34" charset="-122"/>
                          <a:cs typeface="Yu Gothic" pitchFamily="34" charset="-120"/>
                        </a:rPr>
                        <a:t>あり</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c>
                  <a:txBody>
                    <a:bodyPr/>
                    <a:lstStyle/>
                    <a:p>
                      <a:pPr algn="ctr" indent="0" marL="0">
                        <a:buNone/>
                      </a:pPr>
                      <a:r>
                        <a:rPr lang="en-US" sz="1100" b="1" dirty="0">
                          <a:solidFill>
                            <a:srgbClr val="2F7A4F"/>
                          </a:solidFill>
                          <a:latin typeface="Yu Gothic" pitchFamily="34" charset="0"/>
                          <a:ea typeface="Yu Gothic" pitchFamily="34" charset="-122"/>
                          <a:cs typeface="Yu Gothic" pitchFamily="34" charset="-120"/>
                        </a:rPr>
                        <a:t>あり</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r>
              <a:tr h="301752">
                <a:tc>
                  <a:txBody>
                    <a:bodyPr/>
                    <a:lstStyle/>
                    <a:p>
                      <a:pPr algn="l" indent="0" marL="0">
                        <a:buNone/>
                      </a:pPr>
                      <a:r>
                        <a:rPr lang="en-US" sz="1100" dirty="0">
                          <a:solidFill>
                            <a:srgbClr val="0F0F10"/>
                          </a:solidFill>
                          <a:latin typeface="Yu Gothic" pitchFamily="34" charset="0"/>
                          <a:ea typeface="Yu Gothic" pitchFamily="34" charset="-122"/>
                          <a:cs typeface="Yu Gothic" pitchFamily="34" charset="-120"/>
                        </a:rPr>
                        <a:t>個人情報取扱い同意の記録</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B5B5F"/>
                          </a:solidFill>
                          <a:latin typeface="Yu Gothic" pitchFamily="34" charset="0"/>
                          <a:ea typeface="Yu Gothic" pitchFamily="34" charset="-122"/>
                          <a:cs typeface="Yu Gothic" pitchFamily="34" charset="-120"/>
                        </a:rPr>
                        <a:t>—</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C4A7E"/>
                          </a:solidFill>
                          <a:latin typeface="Yu Gothic" pitchFamily="34" charset="0"/>
                          <a:ea typeface="Yu Gothic" pitchFamily="34" charset="-122"/>
                          <a:cs typeface="Yu Gothic" pitchFamily="34" charset="-120"/>
                        </a:rPr>
                        <a:t>あり（同意文言と版を記録）</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r>
              <a:tr h="301752">
                <a:tc>
                  <a:txBody>
                    <a:bodyPr/>
                    <a:lstStyle/>
                    <a:p>
                      <a:pPr algn="l" indent="0" marL="0">
                        <a:buNone/>
                      </a:pPr>
                      <a:r>
                        <a:rPr lang="en-US" sz="1100" dirty="0">
                          <a:solidFill>
                            <a:srgbClr val="0F0F10"/>
                          </a:solidFill>
                          <a:latin typeface="Yu Gothic" pitchFamily="34" charset="0"/>
                          <a:ea typeface="Yu Gothic" pitchFamily="34" charset="-122"/>
                          <a:cs typeface="Yu Gothic" pitchFamily="34" charset="-120"/>
                        </a:rPr>
                        <a:t>レコーダー・カメラの死活監視</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c>
                  <a:txBody>
                    <a:bodyPr/>
                    <a:lstStyle/>
                    <a:p>
                      <a:pPr algn="ctr" indent="0" marL="0">
                        <a:buNone/>
                      </a:pPr>
                      <a:r>
                        <a:rPr lang="en-US" sz="1100" dirty="0">
                          <a:solidFill>
                            <a:srgbClr val="5B5B5F"/>
                          </a:solidFill>
                          <a:latin typeface="Yu Gothic" pitchFamily="34" charset="0"/>
                          <a:ea typeface="Yu Gothic" pitchFamily="34" charset="-122"/>
                          <a:cs typeface="Yu Gothic" pitchFamily="34" charset="-120"/>
                        </a:rPr>
                        <a:t>—</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c>
                  <a:txBody>
                    <a:bodyPr/>
                    <a:lstStyle/>
                    <a:p>
                      <a:pPr algn="ctr" indent="0" marL="0">
                        <a:buNone/>
                      </a:pPr>
                      <a:r>
                        <a:rPr lang="en-US" sz="1100" b="1" dirty="0">
                          <a:solidFill>
                            <a:srgbClr val="2C4A7E"/>
                          </a:solidFill>
                          <a:latin typeface="Yu Gothic" pitchFamily="34" charset="0"/>
                          <a:ea typeface="Yu Gothic" pitchFamily="34" charset="-122"/>
                          <a:cs typeface="Yu Gothic" pitchFamily="34" charset="-120"/>
                        </a:rPr>
                        <a:t>標準搭載</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r>
              <a:tr h="301752">
                <a:tc>
                  <a:txBody>
                    <a:bodyPr/>
                    <a:lstStyle/>
                    <a:p>
                      <a:pPr algn="l" indent="0" marL="0">
                        <a:buNone/>
                      </a:pPr>
                      <a:r>
                        <a:rPr lang="en-US" sz="1100" dirty="0">
                          <a:solidFill>
                            <a:srgbClr val="0F0F10"/>
                          </a:solidFill>
                          <a:latin typeface="Yu Gothic" pitchFamily="34" charset="0"/>
                          <a:ea typeface="Yu Gothic" pitchFamily="34" charset="-122"/>
                          <a:cs typeface="Yu Gothic" pitchFamily="34" charset="-120"/>
                        </a:rPr>
                        <a:t>BCP（災害時映像の自動取得・報告書）</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B5B5F"/>
                          </a:solidFill>
                          <a:latin typeface="Yu Gothic" pitchFamily="34" charset="0"/>
                          <a:ea typeface="Yu Gothic" pitchFamily="34" charset="-122"/>
                          <a:cs typeface="Yu Gothic" pitchFamily="34" charset="-120"/>
                        </a:rPr>
                        <a:t>—</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C4A7E"/>
                          </a:solidFill>
                          <a:latin typeface="Yu Gothic" pitchFamily="34" charset="0"/>
                          <a:ea typeface="Yu Gothic" pitchFamily="34" charset="-122"/>
                          <a:cs typeface="Yu Gothic" pitchFamily="34" charset="-120"/>
                        </a:rPr>
                        <a:t>標準搭載・無償</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r>
              <a:tr h="301752">
                <a:tc>
                  <a:txBody>
                    <a:bodyPr/>
                    <a:lstStyle/>
                    <a:p>
                      <a:pPr algn="l" indent="0" marL="0">
                        <a:buNone/>
                      </a:pPr>
                      <a:r>
                        <a:rPr lang="en-US" sz="1100" dirty="0">
                          <a:solidFill>
                            <a:srgbClr val="0F0F10"/>
                          </a:solidFill>
                          <a:latin typeface="Yu Gothic" pitchFamily="34" charset="0"/>
                          <a:ea typeface="Yu Gothic" pitchFamily="34" charset="-122"/>
                          <a:cs typeface="Yu Gothic" pitchFamily="34" charset="-120"/>
                        </a:rPr>
                        <a:t>本部からの全店映像確認</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c>
                  <a:txBody>
                    <a:bodyPr/>
                    <a:lstStyle/>
                    <a:p>
                      <a:pPr algn="ctr" indent="0" marL="0">
                        <a:buNone/>
                      </a:pPr>
                      <a:r>
                        <a:rPr lang="en-US" sz="1100" dirty="0">
                          <a:solidFill>
                            <a:srgbClr val="5B5B5F"/>
                          </a:solidFill>
                          <a:latin typeface="Yu Gothic" pitchFamily="34" charset="0"/>
                          <a:ea typeface="Yu Gothic" pitchFamily="34" charset="-122"/>
                          <a:cs typeface="Yu Gothic" pitchFamily="34" charset="-120"/>
                        </a:rPr>
                        <a:t>—</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c>
                  <a:txBody>
                    <a:bodyPr/>
                    <a:lstStyle/>
                    <a:p>
                      <a:pPr algn="ctr" indent="0" marL="0">
                        <a:buNone/>
                      </a:pPr>
                      <a:r>
                        <a:rPr lang="en-US" sz="1100" b="1" dirty="0">
                          <a:solidFill>
                            <a:srgbClr val="2C4A7E"/>
                          </a:solidFill>
                          <a:latin typeface="Yu Gothic" pitchFamily="34" charset="0"/>
                          <a:ea typeface="Yu Gothic" pitchFamily="34" charset="-122"/>
                          <a:cs typeface="Yu Gothic" pitchFamily="34" charset="-120"/>
                        </a:rPr>
                        <a:t>あり</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r>
              <a:tr h="301752">
                <a:tc>
                  <a:txBody>
                    <a:bodyPr/>
                    <a:lstStyle/>
                    <a:p>
                      <a:pPr algn="l" indent="0" marL="0">
                        <a:buNone/>
                      </a:pPr>
                      <a:r>
                        <a:rPr lang="en-US" sz="1100" dirty="0">
                          <a:solidFill>
                            <a:srgbClr val="0F0F10"/>
                          </a:solidFill>
                          <a:latin typeface="Yu Gothic" pitchFamily="34" charset="0"/>
                          <a:ea typeface="Yu Gothic" pitchFamily="34" charset="-122"/>
                          <a:cs typeface="Yu Gothic" pitchFamily="34" charset="-120"/>
                        </a:rPr>
                        <a:t>巡回点検＋レポート</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B5B5F"/>
                          </a:solidFill>
                          <a:latin typeface="Yu Gothic" pitchFamily="34" charset="0"/>
                          <a:ea typeface="Yu Gothic" pitchFamily="34" charset="-122"/>
                          <a:cs typeface="Yu Gothic" pitchFamily="34" charset="-120"/>
                        </a:rPr>
                        <a:t>—</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C4A7E"/>
                          </a:solidFill>
                          <a:latin typeface="Yu Gothic" pitchFamily="34" charset="0"/>
                          <a:ea typeface="Yu Gothic" pitchFamily="34" charset="-122"/>
                          <a:cs typeface="Yu Gothic" pitchFamily="34" charset="-120"/>
                        </a:rPr>
                        <a:t>オプション</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r>
              <a:tr h="301752">
                <a:tc>
                  <a:txBody>
                    <a:bodyPr/>
                    <a:lstStyle/>
                    <a:p>
                      <a:pPr algn="l" indent="0" marL="0">
                        <a:buNone/>
                      </a:pPr>
                      <a:r>
                        <a:rPr lang="en-US" sz="1100" dirty="0">
                          <a:solidFill>
                            <a:srgbClr val="0F0F10"/>
                          </a:solidFill>
                          <a:latin typeface="Yu Gothic" pitchFamily="34" charset="0"/>
                          <a:ea typeface="Yu Gothic" pitchFamily="34" charset="-122"/>
                          <a:cs typeface="Yu Gothic" pitchFamily="34" charset="-120"/>
                        </a:rPr>
                        <a:t>警報装置との連携</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c>
                  <a:txBody>
                    <a:bodyPr/>
                    <a:lstStyle/>
                    <a:p>
                      <a:pPr algn="ctr" indent="0" marL="0">
                        <a:buNone/>
                      </a:pPr>
                      <a:r>
                        <a:rPr lang="en-US" sz="1100" dirty="0">
                          <a:solidFill>
                            <a:srgbClr val="5B5B5F"/>
                          </a:solidFill>
                          <a:latin typeface="Yu Gothic" pitchFamily="34" charset="0"/>
                          <a:ea typeface="Yu Gothic" pitchFamily="34" charset="-122"/>
                          <a:cs typeface="Yu Gothic" pitchFamily="34" charset="-120"/>
                        </a:rPr>
                        <a:t>—</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c>
                  <a:txBody>
                    <a:bodyPr/>
                    <a:lstStyle/>
                    <a:p>
                      <a:pPr algn="ctr" indent="0" marL="0">
                        <a:buNone/>
                      </a:pPr>
                      <a:r>
                        <a:rPr lang="en-US" sz="1100" b="1" dirty="0">
                          <a:solidFill>
                            <a:srgbClr val="2C4A7E"/>
                          </a:solidFill>
                          <a:latin typeface="Yu Gothic" pitchFamily="34" charset="0"/>
                          <a:ea typeface="Yu Gothic" pitchFamily="34" charset="-122"/>
                          <a:cs typeface="Yu Gothic" pitchFamily="34" charset="-120"/>
                        </a:rPr>
                        <a:t>オプション</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r>
              <a:tr h="301752">
                <a:tc>
                  <a:txBody>
                    <a:bodyPr/>
                    <a:lstStyle/>
                    <a:p>
                      <a:pPr algn="l" indent="0" marL="0">
                        <a:buNone/>
                      </a:pPr>
                      <a:r>
                        <a:rPr lang="en-US" sz="1100" dirty="0">
                          <a:solidFill>
                            <a:srgbClr val="0F0F10"/>
                          </a:solidFill>
                          <a:latin typeface="Yu Gothic" pitchFamily="34" charset="0"/>
                          <a:ea typeface="Yu Gothic" pitchFamily="34" charset="-122"/>
                          <a:cs typeface="Yu Gothic" pitchFamily="34" charset="-120"/>
                        </a:rPr>
                        <a:t>クラウド録画（24 時間の全映像保管）</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F7A4F"/>
                          </a:solidFill>
                          <a:latin typeface="Yu Gothic" pitchFamily="34" charset="0"/>
                          <a:ea typeface="Yu Gothic" pitchFamily="34" charset="-122"/>
                          <a:cs typeface="Yu Gothic" pitchFamily="34" charset="-120"/>
                        </a:rPr>
                        <a:t>あり</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5B5B5F"/>
                          </a:solidFill>
                          <a:latin typeface="Yu Gothic" pitchFamily="34" charset="0"/>
                          <a:ea typeface="Yu Gothic" pitchFamily="34" charset="-122"/>
                          <a:cs typeface="Yu Gothic" pitchFamily="34" charset="-120"/>
                        </a:rPr>
                        <a:t>対象外（検査以外のご利用が無いため）</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r>
              <a:tr h="301752">
                <a:tc>
                  <a:txBody>
                    <a:bodyPr/>
                    <a:lstStyle/>
                    <a:p>
                      <a:pPr algn="l" indent="0" marL="0">
                        <a:buNone/>
                      </a:pPr>
                      <a:r>
                        <a:rPr lang="en-US" sz="1100" dirty="0">
                          <a:solidFill>
                            <a:srgbClr val="0F0F10"/>
                          </a:solidFill>
                          <a:latin typeface="Yu Gothic" pitchFamily="34" charset="0"/>
                          <a:ea typeface="Yu Gothic" pitchFamily="34" charset="-122"/>
                          <a:cs typeface="Yu Gothic" pitchFamily="34" charset="-120"/>
                        </a:rPr>
                        <a:t>高画質ライブ配信</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c>
                  <a:txBody>
                    <a:bodyPr/>
                    <a:lstStyle/>
                    <a:p>
                      <a:pPr algn="ctr" indent="0" marL="0">
                        <a:buNone/>
                      </a:pPr>
                      <a:r>
                        <a:rPr lang="en-US" sz="1100" dirty="0">
                          <a:solidFill>
                            <a:srgbClr val="5B5B5F"/>
                          </a:solidFill>
                          <a:latin typeface="Yu Gothic" pitchFamily="34" charset="0"/>
                          <a:ea typeface="Yu Gothic" pitchFamily="34" charset="-122"/>
                          <a:cs typeface="Yu Gothic" pitchFamily="34" charset="-120"/>
                        </a:rPr>
                        <a:t>—</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c>
                  <a:txBody>
                    <a:bodyPr/>
                    <a:lstStyle/>
                    <a:p>
                      <a:pPr algn="ctr" indent="0" marL="0">
                        <a:buNone/>
                      </a:pPr>
                      <a:r>
                        <a:rPr lang="en-US" sz="1100" dirty="0">
                          <a:solidFill>
                            <a:srgbClr val="5B5B5F"/>
                          </a:solidFill>
                          <a:latin typeface="Yu Gothic" pitchFamily="34" charset="0"/>
                          <a:ea typeface="Yu Gothic" pitchFamily="34" charset="-122"/>
                          <a:cs typeface="Yu Gothic" pitchFamily="34" charset="-120"/>
                        </a:rPr>
                        <a:t>本構成では対象外</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r>
            </a:tbl>
          </a:graphicData>
        </a:graphic>
      </p:graphicFrame>
      <p:sp>
        <p:nvSpPr>
          <p:cNvPr id="4" name="Text 1"/>
          <p:cNvSpPr/>
          <p:nvPr/>
        </p:nvSpPr>
        <p:spPr>
          <a:xfrm>
            <a:off x="566928" y="6419088"/>
            <a:ext cx="5486400" cy="256032"/>
          </a:xfrm>
          <a:prstGeom prst="rect">
            <a:avLst/>
          </a:prstGeom>
          <a:noFill/>
          <a:ln/>
        </p:spPr>
        <p:txBody>
          <a:bodyPr wrap="square" lIns="0" tIns="0" rIns="0" bIns="0" rtlCol="0" anchor="ctr"/>
          <a:lstStyle/>
          <a:p>
            <a:pPr indent="0" marL="0">
              <a:buNone/>
            </a:pPr>
            <a:r>
              <a:rPr lang="en-US" sz="950" dirty="0">
                <a:solidFill>
                  <a:srgbClr val="5B5B5F"/>
                </a:solidFill>
                <a:latin typeface="Yu Gothic" pitchFamily="34" charset="0"/>
                <a:ea typeface="Yu Gothic" pitchFamily="34" charset="-122"/>
                <a:cs typeface="Yu Gothic" pitchFamily="34" charset="-120"/>
              </a:rPr>
              <a:t>Recorder Monitor ／ 株式会社ジェネシス・エッジ</a:t>
            </a:r>
            <a:endParaRPr lang="en-US" sz="950" dirty="0"/>
          </a:p>
        </p:txBody>
      </p:sp>
      <p:sp>
        <p:nvSpPr>
          <p:cNvPr id="5" name="Text 2"/>
          <p:cNvSpPr/>
          <p:nvPr/>
        </p:nvSpPr>
        <p:spPr>
          <a:xfrm>
            <a:off x="10710367" y="6419088"/>
            <a:ext cx="914400" cy="256032"/>
          </a:xfrm>
          <a:prstGeom prst="rect">
            <a:avLst/>
          </a:prstGeom>
          <a:noFill/>
          <a:ln/>
        </p:spPr>
        <p:txBody>
          <a:bodyPr wrap="square" lIns="0" tIns="0" rIns="0" bIns="0" rtlCol="0" anchor="ctr"/>
          <a:lstStyle/>
          <a:p>
            <a:pPr algn="r" indent="0" marL="0">
              <a:buNone/>
            </a:pPr>
            <a:r>
              <a:rPr lang="en-US" sz="950" dirty="0">
                <a:solidFill>
                  <a:srgbClr val="5B5B5F"/>
                </a:solidFill>
                <a:latin typeface="Yu Gothic" pitchFamily="34" charset="0"/>
                <a:ea typeface="Yu Gothic" pitchFamily="34" charset="-122"/>
                <a:cs typeface="Yu Gothic"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F1"/>
        </a:solidFill>
      </p:bgPr>
    </p:bg>
    <p:spTree>
      <p:nvGrpSpPr>
        <p:cNvPr id="1" name=""/>
        <p:cNvGrpSpPr/>
        <p:nvPr/>
      </p:nvGrpSpPr>
      <p:grpSpPr>
        <a:xfrm>
          <a:off x="0" y="0"/>
          <a:ext cx="0" cy="0"/>
          <a:chOff x="0" y="0"/>
          <a:chExt cx="0" cy="0"/>
        </a:xfrm>
      </p:grpSpPr>
      <p:sp>
        <p:nvSpPr>
          <p:cNvPr id="2" name="Text 0"/>
          <p:cNvSpPr/>
          <p:nvPr/>
        </p:nvSpPr>
        <p:spPr>
          <a:xfrm>
            <a:off x="566928" y="402336"/>
            <a:ext cx="11057839" cy="475488"/>
          </a:xfrm>
          <a:prstGeom prst="rect">
            <a:avLst/>
          </a:prstGeom>
          <a:noFill/>
          <a:ln/>
        </p:spPr>
        <p:txBody>
          <a:bodyPr wrap="square" lIns="0" tIns="0" rIns="0" bIns="0" rtlCol="0" anchor="t"/>
          <a:lstStyle/>
          <a:p>
            <a:pPr indent="0" marL="0">
              <a:buNone/>
            </a:pPr>
            <a:r>
              <a:rPr lang="en-US" sz="2700" b="1" dirty="0">
                <a:solidFill>
                  <a:srgbClr val="0F0F10"/>
                </a:solidFill>
                <a:latin typeface="Yu Gothic" pitchFamily="34" charset="0"/>
                <a:ea typeface="Yu Gothic" pitchFamily="34" charset="-122"/>
                <a:cs typeface="Yu Gothic" pitchFamily="34" charset="-120"/>
              </a:rPr>
              <a:t>ご費用 ①  月額（税別・1 店舗あたり）</a:t>
            </a:r>
            <a:endParaRPr lang="en-US" sz="27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66928" y="1316736"/>
          <a:ext cx="11057839" cy="914400"/>
        </p:xfrm>
        <a:graphic>
          <a:graphicData uri="http://schemas.openxmlformats.org/drawingml/2006/table">
            <a:tbl>
              <a:tblPr/>
              <a:tblGrid>
                <a:gridCol w="3840480"/>
                <a:gridCol w="2011680"/>
                <a:gridCol w="5202936"/>
              </a:tblGrid>
              <a:tr h="493776">
                <a:tc>
                  <a:txBody>
                    <a:bodyPr/>
                    <a:lstStyle/>
                    <a:p>
                      <a:pPr algn="l" indent="0" marL="0">
                        <a:buNone/>
                      </a:pPr>
                      <a:r>
                        <a:rPr lang="en-US" sz="1100" b="1" dirty="0">
                          <a:solidFill>
                            <a:srgbClr val="2A2A2C"/>
                          </a:solidFill>
                          <a:latin typeface="Yu Gothic" pitchFamily="34" charset="0"/>
                          <a:ea typeface="Yu Gothic" pitchFamily="34" charset="-122"/>
                          <a:cs typeface="Yu Gothic" pitchFamily="34" charset="-120"/>
                        </a:rPr>
                        <a:t>項目</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7F5F1"/>
                    </a:solidFill>
                  </a:tcPr>
                </a:tc>
                <a:tc>
                  <a:txBody>
                    <a:bodyPr/>
                    <a:lstStyle/>
                    <a:p>
                      <a:pPr algn="l" indent="0" marL="0">
                        <a:buNone/>
                      </a:pPr>
                      <a:r>
                        <a:rPr lang="en-US" sz="1100" b="1" dirty="0">
                          <a:solidFill>
                            <a:srgbClr val="2A2A2C"/>
                          </a:solidFill>
                          <a:latin typeface="Yu Gothic" pitchFamily="34" charset="0"/>
                          <a:ea typeface="Yu Gothic" pitchFamily="34" charset="-122"/>
                          <a:cs typeface="Yu Gothic" pitchFamily="34" charset="-120"/>
                        </a:rPr>
                        <a:t>単価</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7F5F1"/>
                    </a:solidFill>
                  </a:tcPr>
                </a:tc>
                <a:tc>
                  <a:txBody>
                    <a:bodyPr/>
                    <a:lstStyle/>
                    <a:p>
                      <a:pPr algn="l" indent="0" marL="0">
                        <a:buNone/>
                      </a:pPr>
                      <a:r>
                        <a:rPr lang="en-US" sz="1100" b="1" dirty="0">
                          <a:solidFill>
                            <a:srgbClr val="2A2A2C"/>
                          </a:solidFill>
                          <a:latin typeface="Yu Gothic" pitchFamily="34" charset="0"/>
                          <a:ea typeface="Yu Gothic" pitchFamily="34" charset="-122"/>
                          <a:cs typeface="Yu Gothic" pitchFamily="34" charset="-120"/>
                        </a:rPr>
                        <a:t>内容</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7F5F1"/>
                    </a:solidFill>
                  </a:tcPr>
                </a:tc>
              </a:tr>
              <a:tr h="493776">
                <a:tc>
                  <a:txBody>
                    <a:bodyPr/>
                    <a:lstStyle/>
                    <a:p>
                      <a:pPr algn="l" indent="0" marL="0">
                        <a:buNone/>
                      </a:pPr>
                      <a:r>
                        <a:rPr lang="en-US" sz="1150" b="1" dirty="0">
                          <a:solidFill>
                            <a:srgbClr val="0F0F10"/>
                          </a:solidFill>
                          <a:latin typeface="Yu Gothic" pitchFamily="34" charset="0"/>
                          <a:ea typeface="Yu Gothic" pitchFamily="34" charset="-122"/>
                          <a:cs typeface="Yu Gothic" pitchFamily="34" charset="-120"/>
                        </a:rPr>
                        <a:t>基本</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c>
                  <a:txBody>
                    <a:bodyPr/>
                    <a:lstStyle/>
                    <a:p>
                      <a:pPr algn="r" indent="0" marL="0">
                        <a:buNone/>
                      </a:pPr>
                      <a:r>
                        <a:rPr lang="en-US" sz="1150" dirty="0">
                          <a:solidFill>
                            <a:srgbClr val="0F0F10"/>
                          </a:solidFill>
                          <a:latin typeface="Yu Gothic" pitchFamily="34" charset="0"/>
                          <a:ea typeface="Yu Gothic" pitchFamily="34" charset="-122"/>
                          <a:cs typeface="Yu Gothic" pitchFamily="34" charset="-120"/>
                        </a:rPr>
                        <a:t>3,200 円</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レコーダー・カメラ死活監視、本部からの映像確認、BCP</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r>
              <a:tr h="493776">
                <a:tc>
                  <a:txBody>
                    <a:bodyPr/>
                    <a:lstStyle/>
                    <a:p>
                      <a:pPr algn="l" indent="0" marL="0">
                        <a:buNone/>
                      </a:pPr>
                      <a:r>
                        <a:rPr lang="en-US" sz="1150" b="1" dirty="0">
                          <a:solidFill>
                            <a:srgbClr val="0F0F10"/>
                          </a:solidFill>
                          <a:latin typeface="Yu Gothic" pitchFamily="34" charset="0"/>
                          <a:ea typeface="Yu Gothic" pitchFamily="34" charset="-122"/>
                          <a:cs typeface="Yu Gothic" pitchFamily="34" charset="-120"/>
                        </a:rPr>
                        <a:t>手荷物検査オプション</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c>
                  <a:txBody>
                    <a:bodyPr/>
                    <a:lstStyle/>
                    <a:p>
                      <a:pPr algn="r" indent="0" marL="0">
                        <a:buNone/>
                      </a:pPr>
                      <a:r>
                        <a:rPr lang="en-US" sz="1150" dirty="0">
                          <a:solidFill>
                            <a:srgbClr val="0F0F10"/>
                          </a:solidFill>
                          <a:latin typeface="Yu Gothic" pitchFamily="34" charset="0"/>
                          <a:ea typeface="Yu Gothic" pitchFamily="34" charset="-122"/>
                          <a:cs typeface="Yu Gothic" pitchFamily="34" charset="-120"/>
                        </a:rPr>
                        <a:t>12,800 円</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顔認証、検査フロー、証跡クリップ、日次レポート</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r>
              <a:tr h="493776">
                <a:tc>
                  <a:txBody>
                    <a:bodyPr/>
                    <a:lstStyle/>
                    <a:p>
                      <a:pPr algn="l" indent="0" marL="0">
                        <a:buNone/>
                      </a:pPr>
                      <a:r>
                        <a:rPr lang="en-US" sz="1150" b="1" dirty="0">
                          <a:solidFill>
                            <a:srgbClr val="2C4A7E"/>
                          </a:solidFill>
                          <a:latin typeface="Yu Gothic" pitchFamily="34" charset="0"/>
                          <a:ea typeface="Yu Gothic" pitchFamily="34" charset="-122"/>
                          <a:cs typeface="Yu Gothic" pitchFamily="34" charset="-120"/>
                        </a:rPr>
                        <a:t>ご提案構成 合計</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E4EAF3"/>
                    </a:solidFill>
                  </a:tcPr>
                </a:tc>
                <a:tc>
                  <a:txBody>
                    <a:bodyPr/>
                    <a:lstStyle/>
                    <a:p>
                      <a:pPr algn="r" indent="0" marL="0">
                        <a:buNone/>
                      </a:pPr>
                      <a:r>
                        <a:rPr lang="en-US" sz="1150" b="1" dirty="0">
                          <a:solidFill>
                            <a:srgbClr val="2C4A7E"/>
                          </a:solidFill>
                          <a:latin typeface="Yu Gothic" pitchFamily="34" charset="0"/>
                          <a:ea typeface="Yu Gothic" pitchFamily="34" charset="-122"/>
                          <a:cs typeface="Yu Gothic" pitchFamily="34" charset="-120"/>
                        </a:rPr>
                        <a:t>16,000 円</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E4EAF3"/>
                    </a:solidFill>
                  </a:tcPr>
                </a:tc>
                <a:tc>
                  <a:txBody>
                    <a:bodyPr/>
                    <a:lstStyle/>
                    <a:p>
                      <a:pPr algn="l" indent="0" marL="0">
                        <a:buNone/>
                      </a:pPr>
                      <a:r>
                        <a:rPr lang="en-US" sz="1150" b="1" dirty="0">
                          <a:solidFill>
                            <a:srgbClr val="2C4A7E"/>
                          </a:solidFill>
                          <a:latin typeface="Yu Gothic" pitchFamily="34" charset="0"/>
                          <a:ea typeface="Yu Gothic" pitchFamily="34" charset="-122"/>
                          <a:cs typeface="Yu Gothic" pitchFamily="34" charset="-120"/>
                        </a:rPr>
                        <a:t>現行機能のすべて ＋ 監視 ＋ BCP</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E4EAF3"/>
                    </a:solidFill>
                  </a:tcPr>
                </a:tc>
              </a:tr>
              <a:tr h="493776">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巡回点検＋レポート（任意）</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c>
                  <a:txBody>
                    <a:bodyPr/>
                    <a:lstStyle/>
                    <a:p>
                      <a:pPr algn="r" indent="0" marL="0">
                        <a:buNone/>
                      </a:pPr>
                      <a:r>
                        <a:rPr lang="en-US" sz="1150" dirty="0">
                          <a:solidFill>
                            <a:srgbClr val="0F0F10"/>
                          </a:solidFill>
                          <a:latin typeface="Yu Gothic" pitchFamily="34" charset="0"/>
                          <a:ea typeface="Yu Gothic" pitchFamily="34" charset="-122"/>
                          <a:cs typeface="Yu Gothic" pitchFamily="34" charset="-120"/>
                        </a:rPr>
                        <a:t>+1,500 円</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定期的な店内状況の記録とレポート化</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r>
              <a:tr h="493776">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警報装置連携（任意）</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c>
                  <a:txBody>
                    <a:bodyPr/>
                    <a:lstStyle/>
                    <a:p>
                      <a:pPr algn="r" indent="0" marL="0">
                        <a:buNone/>
                      </a:pPr>
                      <a:r>
                        <a:rPr lang="en-US" sz="1150" dirty="0">
                          <a:solidFill>
                            <a:srgbClr val="0F0F10"/>
                          </a:solidFill>
                          <a:latin typeface="Yu Gothic" pitchFamily="34" charset="0"/>
                          <a:ea typeface="Yu Gothic" pitchFamily="34" charset="-122"/>
                          <a:cs typeface="Yu Gothic" pitchFamily="34" charset="-120"/>
                        </a:rPr>
                        <a:t>+1,000 円</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発報時の映像自動取得と通知</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r>
              <a:tr h="493776">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フル構成（すべて含む）</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c>
                  <a:txBody>
                    <a:bodyPr/>
                    <a:lstStyle/>
                    <a:p>
                      <a:pPr algn="r" indent="0" marL="0">
                        <a:buNone/>
                      </a:pPr>
                      <a:r>
                        <a:rPr lang="en-US" sz="1150" dirty="0">
                          <a:solidFill>
                            <a:srgbClr val="0F0F10"/>
                          </a:solidFill>
                          <a:latin typeface="Yu Gothic" pitchFamily="34" charset="0"/>
                          <a:ea typeface="Yu Gothic" pitchFamily="34" charset="-122"/>
                          <a:cs typeface="Yu Gothic" pitchFamily="34" charset="-120"/>
                        </a:rPr>
                        <a:t>18,500 円</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r>
            </a:tbl>
          </a:graphicData>
        </a:graphic>
      </p:graphicFrame>
      <p:sp>
        <p:nvSpPr>
          <p:cNvPr id="4" name="Shape 1"/>
          <p:cNvSpPr/>
          <p:nvPr/>
        </p:nvSpPr>
        <p:spPr>
          <a:xfrm>
            <a:off x="566928" y="5010912"/>
            <a:ext cx="11057839" cy="950976"/>
          </a:xfrm>
          <a:prstGeom prst="roundRect">
            <a:avLst>
              <a:gd name="adj" fmla="val 4808"/>
            </a:avLst>
          </a:prstGeom>
          <a:solidFill>
            <a:srgbClr val="E4EAF3"/>
          </a:solidFill>
          <a:ln w="12700">
            <a:solidFill>
              <a:srgbClr val="2C4A7E"/>
            </a:solidFill>
            <a:prstDash val="solid"/>
          </a:ln>
        </p:spPr>
      </p:sp>
      <p:sp>
        <p:nvSpPr>
          <p:cNvPr id="5" name="Text 2"/>
          <p:cNvSpPr/>
          <p:nvPr/>
        </p:nvSpPr>
        <p:spPr>
          <a:xfrm>
            <a:off x="841248" y="5010912"/>
            <a:ext cx="10509199" cy="950976"/>
          </a:xfrm>
          <a:prstGeom prst="rect">
            <a:avLst/>
          </a:prstGeom>
          <a:noFill/>
          <a:ln/>
        </p:spPr>
        <p:txBody>
          <a:bodyPr wrap="square" lIns="0" tIns="0" rIns="0" bIns="0" rtlCol="0" anchor="ctr"/>
          <a:lstStyle/>
          <a:p>
            <a:pPr indent="0" marL="0">
              <a:lnSpc>
                <a:spcPct val="135000"/>
              </a:lnSpc>
              <a:buNone/>
            </a:pPr>
            <a:r>
              <a:rPr lang="en-US" sz="1250" b="1" dirty="0">
                <a:solidFill>
                  <a:srgbClr val="2C4A7E"/>
                </a:solidFill>
                <a:latin typeface="Yu Gothic" pitchFamily="34" charset="0"/>
                <a:ea typeface="Yu Gothic" pitchFamily="34" charset="-122"/>
                <a:cs typeface="Yu Gothic" pitchFamily="34" charset="-120"/>
              </a:rPr>
              <a:t>現行費用との比較 — 検査サービス 15,000 円 → 12,800 円 ／ 映像基盤（クラウド録画 2,500 円 × 2 台）5,000 円 → 基本 3,200 円。</a:t>
            </a:r>
            <a:endParaRPr lang="en-US" sz="1250" dirty="0"/>
          </a:p>
          <a:p>
            <a:pPr indent="0" marL="0">
              <a:lnSpc>
                <a:spcPct val="135000"/>
              </a:lnSpc>
              <a:buNone/>
            </a:pPr>
            <a:r>
              <a:rPr lang="en-US" sz="1250" b="1" dirty="0">
                <a:solidFill>
                  <a:srgbClr val="2C4A7E"/>
                </a:solidFill>
                <a:latin typeface="Yu Gothic" pitchFamily="34" charset="0"/>
                <a:ea typeface="Yu Gothic" pitchFamily="34" charset="-122"/>
                <a:cs typeface="Yu Gothic" pitchFamily="34" charset="-120"/>
              </a:rPr>
              <a:t>どちらの区分でも現行を下回り、合計 20,000 円 → 16,000 円（− 20 %）。100 店舗で年間 4,800,000 円の削減となり、死活監視・BCP が加わります。</a:t>
            </a:r>
            <a:endParaRPr lang="en-US" sz="1250" dirty="0"/>
          </a:p>
        </p:txBody>
      </p:sp>
      <p:sp>
        <p:nvSpPr>
          <p:cNvPr id="6" name="Text 3"/>
          <p:cNvSpPr/>
          <p:nvPr/>
        </p:nvSpPr>
        <p:spPr>
          <a:xfrm>
            <a:off x="566928" y="6419088"/>
            <a:ext cx="5486400" cy="256032"/>
          </a:xfrm>
          <a:prstGeom prst="rect">
            <a:avLst/>
          </a:prstGeom>
          <a:noFill/>
          <a:ln/>
        </p:spPr>
        <p:txBody>
          <a:bodyPr wrap="square" lIns="0" tIns="0" rIns="0" bIns="0" rtlCol="0" anchor="ctr"/>
          <a:lstStyle/>
          <a:p>
            <a:pPr indent="0" marL="0">
              <a:buNone/>
            </a:pPr>
            <a:r>
              <a:rPr lang="en-US" sz="950" dirty="0">
                <a:solidFill>
                  <a:srgbClr val="5B5B5F"/>
                </a:solidFill>
                <a:latin typeface="Yu Gothic" pitchFamily="34" charset="0"/>
                <a:ea typeface="Yu Gothic" pitchFamily="34" charset="-122"/>
                <a:cs typeface="Yu Gothic" pitchFamily="34" charset="-120"/>
              </a:rPr>
              <a:t>Recorder Monitor ／ 株式会社ジェネシス・エッジ</a:t>
            </a:r>
            <a:endParaRPr lang="en-US" sz="950" dirty="0"/>
          </a:p>
        </p:txBody>
      </p:sp>
      <p:sp>
        <p:nvSpPr>
          <p:cNvPr id="7" name="Text 4"/>
          <p:cNvSpPr/>
          <p:nvPr/>
        </p:nvSpPr>
        <p:spPr>
          <a:xfrm>
            <a:off x="10710367" y="6419088"/>
            <a:ext cx="914400" cy="256032"/>
          </a:xfrm>
          <a:prstGeom prst="rect">
            <a:avLst/>
          </a:prstGeom>
          <a:noFill/>
          <a:ln/>
        </p:spPr>
        <p:txBody>
          <a:bodyPr wrap="square" lIns="0" tIns="0" rIns="0" bIns="0" rtlCol="0" anchor="ctr"/>
          <a:lstStyle/>
          <a:p>
            <a:pPr algn="r" indent="0" marL="0">
              <a:buNone/>
            </a:pPr>
            <a:r>
              <a:rPr lang="en-US" sz="950" dirty="0">
                <a:solidFill>
                  <a:srgbClr val="5B5B5F"/>
                </a:solidFill>
                <a:latin typeface="Yu Gothic" pitchFamily="34" charset="0"/>
                <a:ea typeface="Yu Gothic" pitchFamily="34" charset="-122"/>
                <a:cs typeface="Yu Gothic"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F1"/>
        </a:solidFill>
      </p:bgPr>
    </p:bg>
    <p:spTree>
      <p:nvGrpSpPr>
        <p:cNvPr id="1" name=""/>
        <p:cNvGrpSpPr/>
        <p:nvPr/>
      </p:nvGrpSpPr>
      <p:grpSpPr>
        <a:xfrm>
          <a:off x="0" y="0"/>
          <a:ext cx="0" cy="0"/>
          <a:chOff x="0" y="0"/>
          <a:chExt cx="0" cy="0"/>
        </a:xfrm>
      </p:grpSpPr>
      <p:sp>
        <p:nvSpPr>
          <p:cNvPr id="2" name="Text 0"/>
          <p:cNvSpPr/>
          <p:nvPr/>
        </p:nvSpPr>
        <p:spPr>
          <a:xfrm>
            <a:off x="566928" y="402336"/>
            <a:ext cx="11057839" cy="475488"/>
          </a:xfrm>
          <a:prstGeom prst="rect">
            <a:avLst/>
          </a:prstGeom>
          <a:noFill/>
          <a:ln/>
        </p:spPr>
        <p:txBody>
          <a:bodyPr wrap="square" lIns="0" tIns="0" rIns="0" bIns="0" rtlCol="0" anchor="t"/>
          <a:lstStyle/>
          <a:p>
            <a:pPr indent="0" marL="0">
              <a:buNone/>
            </a:pPr>
            <a:r>
              <a:rPr lang="en-US" sz="2700" b="1" dirty="0">
                <a:solidFill>
                  <a:srgbClr val="0F0F10"/>
                </a:solidFill>
                <a:latin typeface="Yu Gothic" pitchFamily="34" charset="0"/>
                <a:ea typeface="Yu Gothic" pitchFamily="34" charset="-122"/>
                <a:cs typeface="Yu Gothic" pitchFamily="34" charset="-120"/>
              </a:rPr>
              <a:t>ご費用 ②  100 店舗での月額と初期費用</a:t>
            </a:r>
            <a:endParaRPr lang="en-US" sz="2700" dirty="0"/>
          </a:p>
        </p:txBody>
      </p:sp>
      <p:sp>
        <p:nvSpPr>
          <p:cNvPr id="3" name="Shape 1"/>
          <p:cNvSpPr/>
          <p:nvPr/>
        </p:nvSpPr>
        <p:spPr>
          <a:xfrm>
            <a:off x="566928" y="1207008"/>
            <a:ext cx="5419192" cy="1591056"/>
          </a:xfrm>
          <a:prstGeom prst="roundRect">
            <a:avLst>
              <a:gd name="adj" fmla="val 2874"/>
            </a:avLst>
          </a:prstGeom>
          <a:solidFill>
            <a:srgbClr val="FFFFFF"/>
          </a:solidFill>
          <a:ln w="12700">
            <a:solidFill>
              <a:srgbClr val="D6CFC1"/>
            </a:solidFill>
            <a:prstDash val="solid"/>
          </a:ln>
        </p:spPr>
      </p:sp>
      <p:sp>
        <p:nvSpPr>
          <p:cNvPr id="4" name="Text 2"/>
          <p:cNvSpPr/>
          <p:nvPr/>
        </p:nvSpPr>
        <p:spPr>
          <a:xfrm>
            <a:off x="822960" y="1408176"/>
            <a:ext cx="4907128" cy="237744"/>
          </a:xfrm>
          <a:prstGeom prst="rect">
            <a:avLst/>
          </a:prstGeom>
          <a:noFill/>
          <a:ln/>
        </p:spPr>
        <p:txBody>
          <a:bodyPr wrap="square" lIns="0" tIns="0" rIns="0" bIns="0" rtlCol="0" anchor="t"/>
          <a:lstStyle/>
          <a:p>
            <a:pPr indent="0" marL="0">
              <a:buNone/>
            </a:pPr>
            <a:r>
              <a:rPr lang="en-US" sz="1150" dirty="0">
                <a:solidFill>
                  <a:srgbClr val="5B5B5F"/>
                </a:solidFill>
                <a:latin typeface="Yu Gothic" pitchFamily="34" charset="0"/>
                <a:ea typeface="Yu Gothic" pitchFamily="34" charset="-122"/>
                <a:cs typeface="Yu Gothic" pitchFamily="34" charset="-120"/>
              </a:rPr>
              <a:t>ご提案構成（基本＋手荷物検査）</a:t>
            </a:r>
            <a:endParaRPr lang="en-US" sz="1150" dirty="0"/>
          </a:p>
        </p:txBody>
      </p:sp>
      <p:sp>
        <p:nvSpPr>
          <p:cNvPr id="5" name="Text 3"/>
          <p:cNvSpPr/>
          <p:nvPr/>
        </p:nvSpPr>
        <p:spPr>
          <a:xfrm>
            <a:off x="822960" y="1682496"/>
            <a:ext cx="4907128" cy="530352"/>
          </a:xfrm>
          <a:prstGeom prst="rect">
            <a:avLst/>
          </a:prstGeom>
          <a:noFill/>
          <a:ln/>
        </p:spPr>
        <p:txBody>
          <a:bodyPr wrap="square" lIns="0" tIns="0" rIns="0" bIns="0" rtlCol="0" anchor="t"/>
          <a:lstStyle/>
          <a:p>
            <a:pPr indent="0" marL="0">
              <a:buNone/>
            </a:pPr>
            <a:r>
              <a:rPr lang="en-US" sz="2700" b="1" dirty="0">
                <a:solidFill>
                  <a:srgbClr val="2C4A7E"/>
                </a:solidFill>
                <a:latin typeface="Yu Gothic" pitchFamily="34" charset="0"/>
                <a:ea typeface="Yu Gothic" pitchFamily="34" charset="-122"/>
                <a:cs typeface="Yu Gothic" pitchFamily="34" charset="-120"/>
              </a:rPr>
              <a:t>1,600,000 円 ／ 月</a:t>
            </a:r>
            <a:endParaRPr lang="en-US" sz="2700" dirty="0"/>
          </a:p>
        </p:txBody>
      </p:sp>
      <p:sp>
        <p:nvSpPr>
          <p:cNvPr id="6" name="Text 4"/>
          <p:cNvSpPr/>
          <p:nvPr/>
        </p:nvSpPr>
        <p:spPr>
          <a:xfrm>
            <a:off x="822960" y="2249424"/>
            <a:ext cx="4907128" cy="402336"/>
          </a:xfrm>
          <a:prstGeom prst="rect">
            <a:avLst/>
          </a:prstGeom>
          <a:noFill/>
          <a:ln/>
        </p:spPr>
        <p:txBody>
          <a:bodyPr wrap="square" lIns="0" tIns="0" rIns="0" bIns="0" rtlCol="0" anchor="t"/>
          <a:lstStyle/>
          <a:p>
            <a:pPr indent="0" marL="0">
              <a:lnSpc>
                <a:spcPct val="130000"/>
              </a:lnSpc>
              <a:buNone/>
            </a:pPr>
            <a:r>
              <a:rPr lang="en-US" sz="1100" dirty="0">
                <a:solidFill>
                  <a:srgbClr val="5B5B5F"/>
                </a:solidFill>
                <a:latin typeface="Yu Gothic" pitchFamily="34" charset="0"/>
                <a:ea typeface="Yu Gothic" pitchFamily="34" charset="-122"/>
                <a:cs typeface="Yu Gothic" pitchFamily="34" charset="-120"/>
              </a:rPr>
              <a:t>年額 19,200,000 円（現行比 年間 − 4,800,000 円）</a:t>
            </a:r>
            <a:endParaRPr lang="en-US" sz="1100" dirty="0"/>
          </a:p>
        </p:txBody>
      </p:sp>
      <p:sp>
        <p:nvSpPr>
          <p:cNvPr id="7" name="Shape 5"/>
          <p:cNvSpPr/>
          <p:nvPr/>
        </p:nvSpPr>
        <p:spPr>
          <a:xfrm>
            <a:off x="6205576" y="1207008"/>
            <a:ext cx="5419192" cy="1591056"/>
          </a:xfrm>
          <a:prstGeom prst="roundRect">
            <a:avLst>
              <a:gd name="adj" fmla="val 2874"/>
            </a:avLst>
          </a:prstGeom>
          <a:solidFill>
            <a:srgbClr val="FFFFFF"/>
          </a:solidFill>
          <a:ln w="12700">
            <a:solidFill>
              <a:srgbClr val="D6CFC1"/>
            </a:solidFill>
            <a:prstDash val="solid"/>
          </a:ln>
        </p:spPr>
      </p:sp>
      <p:sp>
        <p:nvSpPr>
          <p:cNvPr id="8" name="Text 6"/>
          <p:cNvSpPr/>
          <p:nvPr/>
        </p:nvSpPr>
        <p:spPr>
          <a:xfrm>
            <a:off x="6461608" y="1408176"/>
            <a:ext cx="4907128" cy="237744"/>
          </a:xfrm>
          <a:prstGeom prst="rect">
            <a:avLst/>
          </a:prstGeom>
          <a:noFill/>
          <a:ln/>
        </p:spPr>
        <p:txBody>
          <a:bodyPr wrap="square" lIns="0" tIns="0" rIns="0" bIns="0" rtlCol="0" anchor="t"/>
          <a:lstStyle/>
          <a:p>
            <a:pPr indent="0" marL="0">
              <a:buNone/>
            </a:pPr>
            <a:r>
              <a:rPr lang="en-US" sz="1150" dirty="0">
                <a:solidFill>
                  <a:srgbClr val="5B5B5F"/>
                </a:solidFill>
                <a:latin typeface="Yu Gothic" pitchFamily="34" charset="0"/>
                <a:ea typeface="Yu Gothic" pitchFamily="34" charset="-122"/>
                <a:cs typeface="Yu Gothic" pitchFamily="34" charset="-120"/>
              </a:rPr>
              <a:t>フル構成（＋巡回点検＋警報連携）</a:t>
            </a:r>
            <a:endParaRPr lang="en-US" sz="1150" dirty="0"/>
          </a:p>
        </p:txBody>
      </p:sp>
      <p:sp>
        <p:nvSpPr>
          <p:cNvPr id="9" name="Text 7"/>
          <p:cNvSpPr/>
          <p:nvPr/>
        </p:nvSpPr>
        <p:spPr>
          <a:xfrm>
            <a:off x="6461608" y="1682496"/>
            <a:ext cx="4907128" cy="530352"/>
          </a:xfrm>
          <a:prstGeom prst="rect">
            <a:avLst/>
          </a:prstGeom>
          <a:noFill/>
          <a:ln/>
        </p:spPr>
        <p:txBody>
          <a:bodyPr wrap="square" lIns="0" tIns="0" rIns="0" bIns="0" rtlCol="0" anchor="t"/>
          <a:lstStyle/>
          <a:p>
            <a:pPr indent="0" marL="0">
              <a:buNone/>
            </a:pPr>
            <a:r>
              <a:rPr lang="en-US" sz="2700" b="1" dirty="0">
                <a:solidFill>
                  <a:srgbClr val="0F0F10"/>
                </a:solidFill>
                <a:latin typeface="Yu Gothic" pitchFamily="34" charset="0"/>
                <a:ea typeface="Yu Gothic" pitchFamily="34" charset="-122"/>
                <a:cs typeface="Yu Gothic" pitchFamily="34" charset="-120"/>
              </a:rPr>
              <a:t>1,850,000 円 ／ 月</a:t>
            </a:r>
            <a:endParaRPr lang="en-US" sz="2700" dirty="0"/>
          </a:p>
        </p:txBody>
      </p:sp>
      <p:sp>
        <p:nvSpPr>
          <p:cNvPr id="10" name="Text 8"/>
          <p:cNvSpPr/>
          <p:nvPr/>
        </p:nvSpPr>
        <p:spPr>
          <a:xfrm>
            <a:off x="6461608" y="2249424"/>
            <a:ext cx="4907128" cy="402336"/>
          </a:xfrm>
          <a:prstGeom prst="rect">
            <a:avLst/>
          </a:prstGeom>
          <a:noFill/>
          <a:ln/>
        </p:spPr>
        <p:txBody>
          <a:bodyPr wrap="square" lIns="0" tIns="0" rIns="0" bIns="0" rtlCol="0" anchor="t"/>
          <a:lstStyle/>
          <a:p>
            <a:pPr indent="0" marL="0">
              <a:lnSpc>
                <a:spcPct val="130000"/>
              </a:lnSpc>
              <a:buNone/>
            </a:pPr>
            <a:r>
              <a:rPr lang="en-US" sz="1100" dirty="0">
                <a:solidFill>
                  <a:srgbClr val="5B5B5F"/>
                </a:solidFill>
                <a:latin typeface="Yu Gothic" pitchFamily="34" charset="0"/>
                <a:ea typeface="Yu Gothic" pitchFamily="34" charset="-122"/>
                <a:cs typeface="Yu Gothic" pitchFamily="34" charset="-120"/>
              </a:rPr>
              <a:t>年額 22,200,000 円</a:t>
            </a:r>
            <a:endParaRPr lang="en-US" sz="1100" dirty="0"/>
          </a:p>
        </p:txBody>
      </p:sp>
      <p:sp>
        <p:nvSpPr>
          <p:cNvPr id="11" name="Text 9"/>
          <p:cNvSpPr/>
          <p:nvPr/>
        </p:nvSpPr>
        <p:spPr>
          <a:xfrm>
            <a:off x="566928" y="3017520"/>
            <a:ext cx="11057839" cy="274320"/>
          </a:xfrm>
          <a:prstGeom prst="rect">
            <a:avLst/>
          </a:prstGeom>
          <a:noFill/>
          <a:ln/>
        </p:spPr>
        <p:txBody>
          <a:bodyPr wrap="square" lIns="0" tIns="0" rIns="0" bIns="0" rtlCol="0" anchor="t"/>
          <a:lstStyle/>
          <a:p>
            <a:pPr indent="0" marL="0">
              <a:buNone/>
            </a:pPr>
            <a:r>
              <a:rPr lang="en-US" sz="1500" b="1" dirty="0">
                <a:solidFill>
                  <a:srgbClr val="0F0F10"/>
                </a:solidFill>
                <a:latin typeface="Yu Gothic" pitchFamily="34" charset="0"/>
                <a:ea typeface="Yu Gothic" pitchFamily="34" charset="-122"/>
                <a:cs typeface="Yu Gothic" pitchFamily="34" charset="-120"/>
              </a:rPr>
              <a:t>初期費用</a:t>
            </a:r>
            <a:endParaRPr lang="en-US" sz="15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3328416"/>
          <a:ext cx="11057839" cy="914400"/>
        </p:xfrm>
        <a:graphic>
          <a:graphicData uri="http://schemas.openxmlformats.org/drawingml/2006/table">
            <a:tbl>
              <a:tblPr/>
              <a:tblGrid>
                <a:gridCol w="3840480"/>
                <a:gridCol w="2011680"/>
                <a:gridCol w="5202936"/>
              </a:tblGrid>
              <a:tr h="374904">
                <a:tc>
                  <a:txBody>
                    <a:bodyPr/>
                    <a:lstStyle/>
                    <a:p>
                      <a:pPr algn="l" indent="0" marL="0">
                        <a:buNone/>
                      </a:pPr>
                      <a:r>
                        <a:rPr lang="en-US" sz="1100" b="1" dirty="0">
                          <a:solidFill>
                            <a:srgbClr val="2A2A2C"/>
                          </a:solidFill>
                          <a:latin typeface="Yu Gothic" pitchFamily="34" charset="0"/>
                          <a:ea typeface="Yu Gothic" pitchFamily="34" charset="-122"/>
                          <a:cs typeface="Yu Gothic" pitchFamily="34" charset="-120"/>
                        </a:rPr>
                        <a:t>項目</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7F5F1"/>
                    </a:solidFill>
                  </a:tcPr>
                </a:tc>
                <a:tc>
                  <a:txBody>
                    <a:bodyPr/>
                    <a:lstStyle/>
                    <a:p>
                      <a:pPr algn="l" indent="0" marL="0">
                        <a:buNone/>
                      </a:pPr>
                      <a:r>
                        <a:rPr lang="en-US" sz="1100" b="1" dirty="0">
                          <a:solidFill>
                            <a:srgbClr val="2A2A2C"/>
                          </a:solidFill>
                          <a:latin typeface="Yu Gothic" pitchFamily="34" charset="0"/>
                          <a:ea typeface="Yu Gothic" pitchFamily="34" charset="-122"/>
                          <a:cs typeface="Yu Gothic" pitchFamily="34" charset="-120"/>
                        </a:rPr>
                        <a:t>金額</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7F5F1"/>
                    </a:solidFill>
                  </a:tcPr>
                </a:tc>
                <a:tc>
                  <a:txBody>
                    <a:bodyPr/>
                    <a:lstStyle/>
                    <a:p>
                      <a:pPr algn="l" indent="0" marL="0">
                        <a:buNone/>
                      </a:pPr>
                      <a:r>
                        <a:rPr lang="en-US" sz="1100" b="1" dirty="0">
                          <a:solidFill>
                            <a:srgbClr val="2A2A2C"/>
                          </a:solidFill>
                          <a:latin typeface="Yu Gothic" pitchFamily="34" charset="0"/>
                          <a:ea typeface="Yu Gothic" pitchFamily="34" charset="-122"/>
                          <a:cs typeface="Yu Gothic" pitchFamily="34" charset="-120"/>
                        </a:rPr>
                        <a:t>備考</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7F5F1"/>
                    </a:solidFill>
                  </a:tcPr>
                </a:tc>
              </a:tr>
              <a:tr h="374904">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中継機の調達</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2F7A4F"/>
                          </a:solidFill>
                          <a:latin typeface="Yu Gothic" pitchFamily="34" charset="0"/>
                          <a:ea typeface="Yu Gothic" pitchFamily="34" charset="-122"/>
                          <a:cs typeface="Yu Gothic" pitchFamily="34" charset="-120"/>
                        </a:rPr>
                        <a:t>0 円</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既設 MA-E320 を流用します</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r>
              <a:tr h="374904">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レコーダー・カメラの調達</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c>
                  <a:txBody>
                    <a:bodyPr/>
                    <a:lstStyle/>
                    <a:p>
                      <a:pPr algn="r" indent="0" marL="0">
                        <a:buNone/>
                      </a:pPr>
                      <a:r>
                        <a:rPr lang="en-US" sz="1150" b="1" dirty="0">
                          <a:solidFill>
                            <a:srgbClr val="2F7A4F"/>
                          </a:solidFill>
                          <a:latin typeface="Yu Gothic" pitchFamily="34" charset="0"/>
                          <a:ea typeface="Yu Gothic" pitchFamily="34" charset="-122"/>
                          <a:cs typeface="Yu Gothic" pitchFamily="34" charset="-120"/>
                        </a:rPr>
                        <a:t>0 円</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既設 WJ-NU101 とカメラをそのまま使用します</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r>
              <a:tr h="374904">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設置工事</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2F7A4F"/>
                          </a:solidFill>
                          <a:latin typeface="Yu Gothic" pitchFamily="34" charset="0"/>
                          <a:ea typeface="Yu Gothic" pitchFamily="34" charset="-122"/>
                          <a:cs typeface="Yu Gothic" pitchFamily="34" charset="-120"/>
                        </a:rPr>
                        <a:t>0 円</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SD カードの差し替えのみ。技術者の訪問は不要です</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r>
              <a:tr h="374904">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中継機の入れ替え用 SD カード</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c>
                  <a:txBody>
                    <a:bodyPr/>
                    <a:lstStyle/>
                    <a:p>
                      <a:pPr algn="r" indent="0" marL="0">
                        <a:buNone/>
                      </a:pPr>
                      <a:r>
                        <a:rPr lang="en-US" sz="1150" dirty="0">
                          <a:solidFill>
                            <a:srgbClr val="0F0F10"/>
                          </a:solidFill>
                          <a:latin typeface="Yu Gothic" pitchFamily="34" charset="0"/>
                          <a:ea typeface="Yu Gothic" pitchFamily="34" charset="-122"/>
                          <a:cs typeface="Yu Gothic" pitchFamily="34" charset="-120"/>
                        </a:rPr>
                        <a:t>別途お見積り</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100 店舗分 ＋ 予備</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r>
              <a:tr h="374904">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検査端末（iPad）</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c>
                  <a:txBody>
                    <a:bodyPr/>
                    <a:lstStyle/>
                    <a:p>
                      <a:pPr algn="r" indent="0" marL="0">
                        <a:buNone/>
                      </a:pPr>
                      <a:r>
                        <a:rPr lang="en-US" sz="1150" dirty="0">
                          <a:solidFill>
                            <a:srgbClr val="0F0F10"/>
                          </a:solidFill>
                          <a:latin typeface="Yu Gothic" pitchFamily="34" charset="0"/>
                          <a:ea typeface="Yu Gothic" pitchFamily="34" charset="-122"/>
                          <a:cs typeface="Yu Gothic" pitchFamily="34" charset="-120"/>
                        </a:rPr>
                        <a:t>別途お見積り</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既存端末の流用可否を確認のうえ確定します</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r>
              <a:tr h="374904">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初期設定・従業員の顔登録支援</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c>
                  <a:txBody>
                    <a:bodyPr/>
                    <a:lstStyle/>
                    <a:p>
                      <a:pPr algn="r" indent="0" marL="0">
                        <a:buNone/>
                      </a:pPr>
                      <a:r>
                        <a:rPr lang="en-US" sz="1150" dirty="0">
                          <a:solidFill>
                            <a:srgbClr val="0F0F10"/>
                          </a:solidFill>
                          <a:latin typeface="Yu Gothic" pitchFamily="34" charset="0"/>
                          <a:ea typeface="Yu Gothic" pitchFamily="34" charset="-122"/>
                          <a:cs typeface="Yu Gothic" pitchFamily="34" charset="-120"/>
                        </a:rPr>
                        <a:t>別途お見積り</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段階移行のため、まとめて行う必要はありません</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r>
            </a:tbl>
          </a:graphicData>
        </a:graphic>
      </p:graphicFrame>
      <p:sp>
        <p:nvSpPr>
          <p:cNvPr id="13" name="Text 10"/>
          <p:cNvSpPr/>
          <p:nvPr/>
        </p:nvSpPr>
        <p:spPr>
          <a:xfrm>
            <a:off x="566928" y="6419088"/>
            <a:ext cx="5486400" cy="256032"/>
          </a:xfrm>
          <a:prstGeom prst="rect">
            <a:avLst/>
          </a:prstGeom>
          <a:noFill/>
          <a:ln/>
        </p:spPr>
        <p:txBody>
          <a:bodyPr wrap="square" lIns="0" tIns="0" rIns="0" bIns="0" rtlCol="0" anchor="ctr"/>
          <a:lstStyle/>
          <a:p>
            <a:pPr indent="0" marL="0">
              <a:buNone/>
            </a:pPr>
            <a:r>
              <a:rPr lang="en-US" sz="950" dirty="0">
                <a:solidFill>
                  <a:srgbClr val="5B5B5F"/>
                </a:solidFill>
                <a:latin typeface="Yu Gothic" pitchFamily="34" charset="0"/>
                <a:ea typeface="Yu Gothic" pitchFamily="34" charset="-122"/>
                <a:cs typeface="Yu Gothic" pitchFamily="34" charset="-120"/>
              </a:rPr>
              <a:t>Recorder Monitor ／ 株式会社ジェネシス・エッジ</a:t>
            </a:r>
            <a:endParaRPr lang="en-US" sz="950" dirty="0"/>
          </a:p>
        </p:txBody>
      </p:sp>
      <p:sp>
        <p:nvSpPr>
          <p:cNvPr id="14" name="Text 11"/>
          <p:cNvSpPr/>
          <p:nvPr/>
        </p:nvSpPr>
        <p:spPr>
          <a:xfrm>
            <a:off x="10710367" y="6419088"/>
            <a:ext cx="914400" cy="256032"/>
          </a:xfrm>
          <a:prstGeom prst="rect">
            <a:avLst/>
          </a:prstGeom>
          <a:noFill/>
          <a:ln/>
        </p:spPr>
        <p:txBody>
          <a:bodyPr wrap="square" lIns="0" tIns="0" rIns="0" bIns="0" rtlCol="0" anchor="ctr"/>
          <a:lstStyle/>
          <a:p>
            <a:pPr algn="r" indent="0" marL="0">
              <a:buNone/>
            </a:pPr>
            <a:r>
              <a:rPr lang="en-US" sz="950" dirty="0">
                <a:solidFill>
                  <a:srgbClr val="5B5B5F"/>
                </a:solidFill>
                <a:latin typeface="Yu Gothic" pitchFamily="34" charset="0"/>
                <a:ea typeface="Yu Gothic" pitchFamily="34" charset="-122"/>
                <a:cs typeface="Yu Gothic"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F1"/>
        </a:solidFill>
      </p:bgPr>
    </p:bg>
    <p:spTree>
      <p:nvGrpSpPr>
        <p:cNvPr id="1" name=""/>
        <p:cNvGrpSpPr/>
        <p:nvPr/>
      </p:nvGrpSpPr>
      <p:grpSpPr>
        <a:xfrm>
          <a:off x="0" y="0"/>
          <a:ext cx="0" cy="0"/>
          <a:chOff x="0" y="0"/>
          <a:chExt cx="0" cy="0"/>
        </a:xfrm>
      </p:grpSpPr>
      <p:sp>
        <p:nvSpPr>
          <p:cNvPr id="2" name="Text 0"/>
          <p:cNvSpPr/>
          <p:nvPr/>
        </p:nvSpPr>
        <p:spPr>
          <a:xfrm>
            <a:off x="566928" y="402336"/>
            <a:ext cx="11057839" cy="475488"/>
          </a:xfrm>
          <a:prstGeom prst="rect">
            <a:avLst/>
          </a:prstGeom>
          <a:noFill/>
          <a:ln/>
        </p:spPr>
        <p:txBody>
          <a:bodyPr wrap="square" lIns="0" tIns="0" rIns="0" bIns="0" rtlCol="0" anchor="t"/>
          <a:lstStyle/>
          <a:p>
            <a:pPr indent="0" marL="0">
              <a:buNone/>
            </a:pPr>
            <a:r>
              <a:rPr lang="en-US" sz="2700" b="1" dirty="0">
                <a:solidFill>
                  <a:srgbClr val="0F0F10"/>
                </a:solidFill>
                <a:latin typeface="Yu Gothic" pitchFamily="34" charset="0"/>
                <a:ea typeface="Yu Gothic" pitchFamily="34" charset="-122"/>
                <a:cs typeface="Yu Gothic" pitchFamily="34" charset="-120"/>
              </a:rPr>
              <a:t>移行スケジュール</a:t>
            </a:r>
            <a:endParaRPr lang="en-US" sz="2700" dirty="0"/>
          </a:p>
        </p:txBody>
      </p:sp>
      <p:sp>
        <p:nvSpPr>
          <p:cNvPr id="3" name="Text 1"/>
          <p:cNvSpPr/>
          <p:nvPr/>
        </p:nvSpPr>
        <p:spPr>
          <a:xfrm>
            <a:off x="566928" y="932688"/>
            <a:ext cx="11057839" cy="384048"/>
          </a:xfrm>
          <a:prstGeom prst="rect">
            <a:avLst/>
          </a:prstGeom>
          <a:noFill/>
          <a:ln/>
        </p:spPr>
        <p:txBody>
          <a:bodyPr wrap="square" lIns="0" tIns="0" rIns="0" bIns="0" rtlCol="0" anchor="t"/>
          <a:lstStyle/>
          <a:p>
            <a:pPr indent="0" marL="0">
              <a:lnSpc>
                <a:spcPct val="135000"/>
              </a:lnSpc>
              <a:buNone/>
            </a:pPr>
            <a:r>
              <a:rPr lang="en-US" sz="1300" dirty="0">
                <a:solidFill>
                  <a:srgbClr val="5B5B5F"/>
                </a:solidFill>
                <a:latin typeface="Yu Gothic" pitchFamily="34" charset="0"/>
                <a:ea typeface="Yu Gothic" pitchFamily="34" charset="-122"/>
                <a:cs typeface="Yu Gothic" pitchFamily="34" charset="-120"/>
              </a:rPr>
              <a:t>合計で約 5〜6 ヶ月を想定しています。</a:t>
            </a:r>
            <a:endParaRPr lang="en-US" sz="1300" dirty="0"/>
          </a:p>
        </p:txBody>
      </p:sp>
      <p:sp>
        <p:nvSpPr>
          <p:cNvPr id="4" name="Shape 2"/>
          <p:cNvSpPr/>
          <p:nvPr/>
        </p:nvSpPr>
        <p:spPr>
          <a:xfrm>
            <a:off x="566928" y="1682496"/>
            <a:ext cx="2599868" cy="2487168"/>
          </a:xfrm>
          <a:prstGeom prst="roundRect">
            <a:avLst>
              <a:gd name="adj" fmla="val 1838"/>
            </a:avLst>
          </a:prstGeom>
          <a:solidFill>
            <a:srgbClr val="FFFFFF"/>
          </a:solidFill>
          <a:ln w="12700">
            <a:solidFill>
              <a:srgbClr val="2C4A7E"/>
            </a:solidFill>
            <a:prstDash val="solid"/>
          </a:ln>
        </p:spPr>
      </p:sp>
      <p:sp>
        <p:nvSpPr>
          <p:cNvPr id="5" name="Shape 3"/>
          <p:cNvSpPr/>
          <p:nvPr/>
        </p:nvSpPr>
        <p:spPr>
          <a:xfrm>
            <a:off x="822960" y="1901952"/>
            <a:ext cx="310896" cy="310896"/>
          </a:xfrm>
          <a:prstGeom prst="roundRect">
            <a:avLst>
              <a:gd name="adj" fmla="val 14706"/>
            </a:avLst>
          </a:prstGeom>
          <a:solidFill>
            <a:srgbClr val="2C4A7E"/>
          </a:solidFill>
          <a:ln w="12700">
            <a:solidFill>
              <a:srgbClr val="2C4A7E"/>
            </a:solidFill>
            <a:prstDash val="solid"/>
          </a:ln>
        </p:spPr>
      </p:sp>
      <p:sp>
        <p:nvSpPr>
          <p:cNvPr id="6" name="Text 4"/>
          <p:cNvSpPr/>
          <p:nvPr/>
        </p:nvSpPr>
        <p:spPr>
          <a:xfrm>
            <a:off x="822960" y="190195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1</a:t>
            </a:r>
            <a:endParaRPr lang="en-US" sz="1300" dirty="0"/>
          </a:p>
        </p:txBody>
      </p:sp>
      <p:sp>
        <p:nvSpPr>
          <p:cNvPr id="7" name="Text 5"/>
          <p:cNvSpPr/>
          <p:nvPr/>
        </p:nvSpPr>
        <p:spPr>
          <a:xfrm>
            <a:off x="822960" y="2322576"/>
            <a:ext cx="2087804" cy="292608"/>
          </a:xfrm>
          <a:prstGeom prst="rect">
            <a:avLst/>
          </a:prstGeom>
          <a:noFill/>
          <a:ln/>
        </p:spPr>
        <p:txBody>
          <a:bodyPr wrap="square" lIns="0" tIns="0" rIns="0" bIns="0" rtlCol="0" anchor="t"/>
          <a:lstStyle/>
          <a:p>
            <a:pPr indent="0" marL="0">
              <a:buNone/>
            </a:pPr>
            <a:r>
              <a:rPr lang="en-US" sz="1450" b="1" dirty="0">
                <a:solidFill>
                  <a:srgbClr val="0F0F10"/>
                </a:solidFill>
                <a:latin typeface="Yu Gothic" pitchFamily="34" charset="0"/>
                <a:ea typeface="Yu Gothic" pitchFamily="34" charset="-122"/>
                <a:cs typeface="Yu Gothic" pitchFamily="34" charset="-120"/>
              </a:rPr>
              <a:t>技術検証</a:t>
            </a:r>
            <a:endParaRPr lang="en-US" sz="1450" dirty="0"/>
          </a:p>
        </p:txBody>
      </p:sp>
      <p:sp>
        <p:nvSpPr>
          <p:cNvPr id="8" name="Text 6"/>
          <p:cNvSpPr/>
          <p:nvPr/>
        </p:nvSpPr>
        <p:spPr>
          <a:xfrm>
            <a:off x="822960" y="2633472"/>
            <a:ext cx="2087804" cy="256032"/>
          </a:xfrm>
          <a:prstGeom prst="rect">
            <a:avLst/>
          </a:prstGeom>
          <a:noFill/>
          <a:ln/>
        </p:spPr>
        <p:txBody>
          <a:bodyPr wrap="square" lIns="0" tIns="0" rIns="0" bIns="0" rtlCol="0" anchor="t"/>
          <a:lstStyle/>
          <a:p>
            <a:pPr indent="0" marL="0">
              <a:buNone/>
            </a:pPr>
            <a:r>
              <a:rPr lang="en-US" sz="1200" b="1" dirty="0">
                <a:solidFill>
                  <a:srgbClr val="2C4A7E"/>
                </a:solidFill>
                <a:latin typeface="Yu Gothic" pitchFamily="34" charset="0"/>
                <a:ea typeface="Yu Gothic" pitchFamily="34" charset="-122"/>
                <a:cs typeface="Yu Gothic" pitchFamily="34" charset="-120"/>
              </a:rPr>
              <a:t>約 4 週間</a:t>
            </a:r>
            <a:endParaRPr lang="en-US" sz="1200" dirty="0"/>
          </a:p>
        </p:txBody>
      </p:sp>
      <p:sp>
        <p:nvSpPr>
          <p:cNvPr id="9" name="Text 7"/>
          <p:cNvSpPr/>
          <p:nvPr/>
        </p:nvSpPr>
        <p:spPr>
          <a:xfrm>
            <a:off x="822960" y="2944368"/>
            <a:ext cx="2087804" cy="1097280"/>
          </a:xfrm>
          <a:prstGeom prst="rect">
            <a:avLst/>
          </a:prstGeom>
          <a:noFill/>
          <a:ln/>
        </p:spPr>
        <p:txBody>
          <a:bodyPr wrap="square" lIns="0" tIns="0" rIns="0" bIns="0" rtlCol="0" anchor="t"/>
          <a:lstStyle/>
          <a:p>
            <a:pPr indent="0" marL="0">
              <a:lnSpc>
                <a:spcPct val="135000"/>
              </a:lnSpc>
              <a:buNone/>
            </a:pPr>
            <a:r>
              <a:rPr lang="en-US" sz="1100" dirty="0">
                <a:solidFill>
                  <a:srgbClr val="5B5B5F"/>
                </a:solidFill>
                <a:latin typeface="Yu Gothic" pitchFamily="34" charset="0"/>
                <a:ea typeface="Yu Gothic" pitchFamily="34" charset="-122"/>
                <a:cs typeface="Yu Gothic" pitchFamily="34" charset="-120"/>
              </a:rPr>
              <a:t>1 店舗で、中継機の入れ替えから証跡の再生までを通します</a:t>
            </a:r>
            <a:endParaRPr lang="en-US" sz="1100" dirty="0"/>
          </a:p>
        </p:txBody>
      </p:sp>
      <p:sp>
        <p:nvSpPr>
          <p:cNvPr id="10" name="Shape 8"/>
          <p:cNvSpPr/>
          <p:nvPr/>
        </p:nvSpPr>
        <p:spPr>
          <a:xfrm>
            <a:off x="3386252" y="1682496"/>
            <a:ext cx="2599868" cy="2487168"/>
          </a:xfrm>
          <a:prstGeom prst="roundRect">
            <a:avLst>
              <a:gd name="adj" fmla="val 1838"/>
            </a:avLst>
          </a:prstGeom>
          <a:solidFill>
            <a:srgbClr val="FFFFFF"/>
          </a:solidFill>
          <a:ln w="12700">
            <a:solidFill>
              <a:srgbClr val="2C4A7E"/>
            </a:solidFill>
            <a:prstDash val="solid"/>
          </a:ln>
        </p:spPr>
      </p:sp>
      <p:sp>
        <p:nvSpPr>
          <p:cNvPr id="11" name="Shape 9"/>
          <p:cNvSpPr/>
          <p:nvPr/>
        </p:nvSpPr>
        <p:spPr>
          <a:xfrm>
            <a:off x="3642284" y="1901952"/>
            <a:ext cx="310896" cy="310896"/>
          </a:xfrm>
          <a:prstGeom prst="roundRect">
            <a:avLst>
              <a:gd name="adj" fmla="val 14706"/>
            </a:avLst>
          </a:prstGeom>
          <a:solidFill>
            <a:srgbClr val="2C4A7E"/>
          </a:solidFill>
          <a:ln w="12700">
            <a:solidFill>
              <a:srgbClr val="2C4A7E"/>
            </a:solidFill>
            <a:prstDash val="solid"/>
          </a:ln>
        </p:spPr>
      </p:sp>
      <p:sp>
        <p:nvSpPr>
          <p:cNvPr id="12" name="Text 10"/>
          <p:cNvSpPr/>
          <p:nvPr/>
        </p:nvSpPr>
        <p:spPr>
          <a:xfrm>
            <a:off x="3642284" y="190195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2</a:t>
            </a:r>
            <a:endParaRPr lang="en-US" sz="1300" dirty="0"/>
          </a:p>
        </p:txBody>
      </p:sp>
      <p:sp>
        <p:nvSpPr>
          <p:cNvPr id="13" name="Text 11"/>
          <p:cNvSpPr/>
          <p:nvPr/>
        </p:nvSpPr>
        <p:spPr>
          <a:xfrm>
            <a:off x="3642284" y="2322576"/>
            <a:ext cx="2087804" cy="292608"/>
          </a:xfrm>
          <a:prstGeom prst="rect">
            <a:avLst/>
          </a:prstGeom>
          <a:noFill/>
          <a:ln/>
        </p:spPr>
        <p:txBody>
          <a:bodyPr wrap="square" lIns="0" tIns="0" rIns="0" bIns="0" rtlCol="0" anchor="t"/>
          <a:lstStyle/>
          <a:p>
            <a:pPr indent="0" marL="0">
              <a:buNone/>
            </a:pPr>
            <a:r>
              <a:rPr lang="en-US" sz="1450" b="1" dirty="0">
                <a:solidFill>
                  <a:srgbClr val="0F0F10"/>
                </a:solidFill>
                <a:latin typeface="Yu Gothic" pitchFamily="34" charset="0"/>
                <a:ea typeface="Yu Gothic" pitchFamily="34" charset="-122"/>
                <a:cs typeface="Yu Gothic" pitchFamily="34" charset="-120"/>
              </a:rPr>
              <a:t>パイロット</a:t>
            </a:r>
            <a:endParaRPr lang="en-US" sz="1450" dirty="0"/>
          </a:p>
        </p:txBody>
      </p:sp>
      <p:sp>
        <p:nvSpPr>
          <p:cNvPr id="14" name="Text 12"/>
          <p:cNvSpPr/>
          <p:nvPr/>
        </p:nvSpPr>
        <p:spPr>
          <a:xfrm>
            <a:off x="3642284" y="2633472"/>
            <a:ext cx="2087804" cy="256032"/>
          </a:xfrm>
          <a:prstGeom prst="rect">
            <a:avLst/>
          </a:prstGeom>
          <a:noFill/>
          <a:ln/>
        </p:spPr>
        <p:txBody>
          <a:bodyPr wrap="square" lIns="0" tIns="0" rIns="0" bIns="0" rtlCol="0" anchor="t"/>
          <a:lstStyle/>
          <a:p>
            <a:pPr indent="0" marL="0">
              <a:buNone/>
            </a:pPr>
            <a:r>
              <a:rPr lang="en-US" sz="1200" b="1" dirty="0">
                <a:solidFill>
                  <a:srgbClr val="2C4A7E"/>
                </a:solidFill>
                <a:latin typeface="Yu Gothic" pitchFamily="34" charset="0"/>
                <a:ea typeface="Yu Gothic" pitchFamily="34" charset="-122"/>
                <a:cs typeface="Yu Gothic" pitchFamily="34" charset="-120"/>
              </a:rPr>
              <a:t>約 4 週間</a:t>
            </a:r>
            <a:endParaRPr lang="en-US" sz="1200" dirty="0"/>
          </a:p>
        </p:txBody>
      </p:sp>
      <p:sp>
        <p:nvSpPr>
          <p:cNvPr id="15" name="Text 13"/>
          <p:cNvSpPr/>
          <p:nvPr/>
        </p:nvSpPr>
        <p:spPr>
          <a:xfrm>
            <a:off x="3642284" y="2944368"/>
            <a:ext cx="2087804" cy="1097280"/>
          </a:xfrm>
          <a:prstGeom prst="rect">
            <a:avLst/>
          </a:prstGeom>
          <a:noFill/>
          <a:ln/>
        </p:spPr>
        <p:txBody>
          <a:bodyPr wrap="square" lIns="0" tIns="0" rIns="0" bIns="0" rtlCol="0" anchor="t"/>
          <a:lstStyle/>
          <a:p>
            <a:pPr indent="0" marL="0">
              <a:lnSpc>
                <a:spcPct val="135000"/>
              </a:lnSpc>
              <a:buNone/>
            </a:pPr>
            <a:r>
              <a:rPr lang="en-US" sz="1100" dirty="0">
                <a:solidFill>
                  <a:srgbClr val="5B5B5F"/>
                </a:solidFill>
                <a:latin typeface="Yu Gothic" pitchFamily="34" charset="0"/>
                <a:ea typeface="Yu Gothic" pitchFamily="34" charset="-122"/>
                <a:cs typeface="Yu Gothic" pitchFamily="34" charset="-120"/>
              </a:rPr>
              <a:t>3〜5 店舗で日常運用を行い、現場の手順を確定します</a:t>
            </a:r>
            <a:endParaRPr lang="en-US" sz="1100" dirty="0"/>
          </a:p>
        </p:txBody>
      </p:sp>
      <p:sp>
        <p:nvSpPr>
          <p:cNvPr id="16" name="Shape 14"/>
          <p:cNvSpPr/>
          <p:nvPr/>
        </p:nvSpPr>
        <p:spPr>
          <a:xfrm>
            <a:off x="6205576" y="1682496"/>
            <a:ext cx="2599868" cy="2487168"/>
          </a:xfrm>
          <a:prstGeom prst="roundRect">
            <a:avLst>
              <a:gd name="adj" fmla="val 1838"/>
            </a:avLst>
          </a:prstGeom>
          <a:solidFill>
            <a:srgbClr val="FFFFFF"/>
          </a:solidFill>
          <a:ln w="12700">
            <a:solidFill>
              <a:srgbClr val="2C4A7E"/>
            </a:solidFill>
            <a:prstDash val="solid"/>
          </a:ln>
        </p:spPr>
      </p:sp>
      <p:sp>
        <p:nvSpPr>
          <p:cNvPr id="17" name="Shape 15"/>
          <p:cNvSpPr/>
          <p:nvPr/>
        </p:nvSpPr>
        <p:spPr>
          <a:xfrm>
            <a:off x="6461608" y="1901952"/>
            <a:ext cx="310896" cy="310896"/>
          </a:xfrm>
          <a:prstGeom prst="roundRect">
            <a:avLst>
              <a:gd name="adj" fmla="val 14706"/>
            </a:avLst>
          </a:prstGeom>
          <a:solidFill>
            <a:srgbClr val="2C4A7E"/>
          </a:solidFill>
          <a:ln w="12700">
            <a:solidFill>
              <a:srgbClr val="2C4A7E"/>
            </a:solidFill>
            <a:prstDash val="solid"/>
          </a:ln>
        </p:spPr>
      </p:sp>
      <p:sp>
        <p:nvSpPr>
          <p:cNvPr id="18" name="Text 16"/>
          <p:cNvSpPr/>
          <p:nvPr/>
        </p:nvSpPr>
        <p:spPr>
          <a:xfrm>
            <a:off x="6461608" y="190195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3</a:t>
            </a:r>
            <a:endParaRPr lang="en-US" sz="1300" dirty="0"/>
          </a:p>
        </p:txBody>
      </p:sp>
      <p:sp>
        <p:nvSpPr>
          <p:cNvPr id="19" name="Text 17"/>
          <p:cNvSpPr/>
          <p:nvPr/>
        </p:nvSpPr>
        <p:spPr>
          <a:xfrm>
            <a:off x="6461608" y="2322576"/>
            <a:ext cx="2087804" cy="292608"/>
          </a:xfrm>
          <a:prstGeom prst="rect">
            <a:avLst/>
          </a:prstGeom>
          <a:noFill/>
          <a:ln/>
        </p:spPr>
        <p:txBody>
          <a:bodyPr wrap="square" lIns="0" tIns="0" rIns="0" bIns="0" rtlCol="0" anchor="t"/>
          <a:lstStyle/>
          <a:p>
            <a:pPr indent="0" marL="0">
              <a:buNone/>
            </a:pPr>
            <a:r>
              <a:rPr lang="en-US" sz="1450" b="1" dirty="0">
                <a:solidFill>
                  <a:srgbClr val="0F0F10"/>
                </a:solidFill>
                <a:latin typeface="Yu Gothic" pitchFamily="34" charset="0"/>
                <a:ea typeface="Yu Gothic" pitchFamily="34" charset="-122"/>
                <a:cs typeface="Yu Gothic" pitchFamily="34" charset="-120"/>
              </a:rPr>
              <a:t>段階展開</a:t>
            </a:r>
            <a:endParaRPr lang="en-US" sz="1450" dirty="0"/>
          </a:p>
        </p:txBody>
      </p:sp>
      <p:sp>
        <p:nvSpPr>
          <p:cNvPr id="20" name="Text 18"/>
          <p:cNvSpPr/>
          <p:nvPr/>
        </p:nvSpPr>
        <p:spPr>
          <a:xfrm>
            <a:off x="6461608" y="2633472"/>
            <a:ext cx="2087804" cy="256032"/>
          </a:xfrm>
          <a:prstGeom prst="rect">
            <a:avLst/>
          </a:prstGeom>
          <a:noFill/>
          <a:ln/>
        </p:spPr>
        <p:txBody>
          <a:bodyPr wrap="square" lIns="0" tIns="0" rIns="0" bIns="0" rtlCol="0" anchor="t"/>
          <a:lstStyle/>
          <a:p>
            <a:pPr indent="0" marL="0">
              <a:buNone/>
            </a:pPr>
            <a:r>
              <a:rPr lang="en-US" sz="1200" b="1" dirty="0">
                <a:solidFill>
                  <a:srgbClr val="2C4A7E"/>
                </a:solidFill>
                <a:latin typeface="Yu Gothic" pitchFamily="34" charset="0"/>
                <a:ea typeface="Yu Gothic" pitchFamily="34" charset="-122"/>
                <a:cs typeface="Yu Gothic" pitchFamily="34" charset="-120"/>
              </a:rPr>
              <a:t>約 8〜12 週間</a:t>
            </a:r>
            <a:endParaRPr lang="en-US" sz="1200" dirty="0"/>
          </a:p>
        </p:txBody>
      </p:sp>
      <p:sp>
        <p:nvSpPr>
          <p:cNvPr id="21" name="Text 19"/>
          <p:cNvSpPr/>
          <p:nvPr/>
        </p:nvSpPr>
        <p:spPr>
          <a:xfrm>
            <a:off x="6461608" y="2944368"/>
            <a:ext cx="2087804" cy="1097280"/>
          </a:xfrm>
          <a:prstGeom prst="rect">
            <a:avLst/>
          </a:prstGeom>
          <a:noFill/>
          <a:ln/>
        </p:spPr>
        <p:txBody>
          <a:bodyPr wrap="square" lIns="0" tIns="0" rIns="0" bIns="0" rtlCol="0" anchor="t"/>
          <a:lstStyle/>
          <a:p>
            <a:pPr indent="0" marL="0">
              <a:lnSpc>
                <a:spcPct val="135000"/>
              </a:lnSpc>
              <a:buNone/>
            </a:pPr>
            <a:r>
              <a:rPr lang="en-US" sz="1100" dirty="0">
                <a:solidFill>
                  <a:srgbClr val="5B5B5F"/>
                </a:solidFill>
                <a:latin typeface="Yu Gothic" pitchFamily="34" charset="0"/>
                <a:ea typeface="Yu Gothic" pitchFamily="34" charset="-122"/>
                <a:cs typeface="Yu Gothic" pitchFamily="34" charset="-120"/>
              </a:rPr>
              <a:t>週 10〜20 店舗ずつ切り替えます</a:t>
            </a:r>
            <a:endParaRPr lang="en-US" sz="1100" dirty="0"/>
          </a:p>
        </p:txBody>
      </p:sp>
      <p:sp>
        <p:nvSpPr>
          <p:cNvPr id="22" name="Shape 20"/>
          <p:cNvSpPr/>
          <p:nvPr/>
        </p:nvSpPr>
        <p:spPr>
          <a:xfrm>
            <a:off x="9024899" y="1682496"/>
            <a:ext cx="2599868" cy="2487168"/>
          </a:xfrm>
          <a:prstGeom prst="roundRect">
            <a:avLst>
              <a:gd name="adj" fmla="val 1838"/>
            </a:avLst>
          </a:prstGeom>
          <a:solidFill>
            <a:srgbClr val="FFFFFF"/>
          </a:solidFill>
          <a:ln w="12700">
            <a:solidFill>
              <a:srgbClr val="D6CFC1"/>
            </a:solidFill>
            <a:prstDash val="solid"/>
          </a:ln>
        </p:spPr>
      </p:sp>
      <p:sp>
        <p:nvSpPr>
          <p:cNvPr id="23" name="Shape 21"/>
          <p:cNvSpPr/>
          <p:nvPr/>
        </p:nvSpPr>
        <p:spPr>
          <a:xfrm>
            <a:off x="9280931" y="1901952"/>
            <a:ext cx="310896" cy="310896"/>
          </a:xfrm>
          <a:prstGeom prst="roundRect">
            <a:avLst>
              <a:gd name="adj" fmla="val 14706"/>
            </a:avLst>
          </a:prstGeom>
          <a:solidFill>
            <a:srgbClr val="B9B0A0"/>
          </a:solidFill>
          <a:ln w="12700">
            <a:solidFill>
              <a:srgbClr val="B9B0A0"/>
            </a:solidFill>
            <a:prstDash val="solid"/>
          </a:ln>
        </p:spPr>
      </p:sp>
      <p:sp>
        <p:nvSpPr>
          <p:cNvPr id="24" name="Text 22"/>
          <p:cNvSpPr/>
          <p:nvPr/>
        </p:nvSpPr>
        <p:spPr>
          <a:xfrm>
            <a:off x="9280931" y="190195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4</a:t>
            </a:r>
            <a:endParaRPr lang="en-US" sz="1300" dirty="0"/>
          </a:p>
        </p:txBody>
      </p:sp>
      <p:sp>
        <p:nvSpPr>
          <p:cNvPr id="25" name="Text 23"/>
          <p:cNvSpPr/>
          <p:nvPr/>
        </p:nvSpPr>
        <p:spPr>
          <a:xfrm>
            <a:off x="9280931" y="2322576"/>
            <a:ext cx="2087804" cy="292608"/>
          </a:xfrm>
          <a:prstGeom prst="rect">
            <a:avLst/>
          </a:prstGeom>
          <a:noFill/>
          <a:ln/>
        </p:spPr>
        <p:txBody>
          <a:bodyPr wrap="square" lIns="0" tIns="0" rIns="0" bIns="0" rtlCol="0" anchor="t"/>
          <a:lstStyle/>
          <a:p>
            <a:pPr indent="0" marL="0">
              <a:buNone/>
            </a:pPr>
            <a:r>
              <a:rPr lang="en-US" sz="1450" b="1" dirty="0">
                <a:solidFill>
                  <a:srgbClr val="0F0F10"/>
                </a:solidFill>
                <a:latin typeface="Yu Gothic" pitchFamily="34" charset="0"/>
                <a:ea typeface="Yu Gothic" pitchFamily="34" charset="-122"/>
                <a:cs typeface="Yu Gothic" pitchFamily="34" charset="-120"/>
              </a:rPr>
              <a:t>現行システム停止</a:t>
            </a:r>
            <a:endParaRPr lang="en-US" sz="1450" dirty="0"/>
          </a:p>
        </p:txBody>
      </p:sp>
      <p:sp>
        <p:nvSpPr>
          <p:cNvPr id="26" name="Text 24"/>
          <p:cNvSpPr/>
          <p:nvPr/>
        </p:nvSpPr>
        <p:spPr>
          <a:xfrm>
            <a:off x="9280931" y="2633472"/>
            <a:ext cx="2087804" cy="256032"/>
          </a:xfrm>
          <a:prstGeom prst="rect">
            <a:avLst/>
          </a:prstGeom>
          <a:noFill/>
          <a:ln/>
        </p:spPr>
        <p:txBody>
          <a:bodyPr wrap="square" lIns="0" tIns="0" rIns="0" bIns="0" rtlCol="0" anchor="t"/>
          <a:lstStyle/>
          <a:p>
            <a:pPr indent="0" marL="0">
              <a:buNone/>
            </a:pPr>
            <a:r>
              <a:rPr lang="en-US" sz="1200" b="1" dirty="0">
                <a:solidFill>
                  <a:srgbClr val="5B5B5F"/>
                </a:solidFill>
                <a:latin typeface="Yu Gothic" pitchFamily="34" charset="0"/>
                <a:ea typeface="Yu Gothic" pitchFamily="34" charset="-122"/>
                <a:cs typeface="Yu Gothic" pitchFamily="34" charset="-120"/>
              </a:rPr>
              <a:t>—</a:t>
            </a:r>
            <a:endParaRPr lang="en-US" sz="1200" dirty="0"/>
          </a:p>
        </p:txBody>
      </p:sp>
      <p:sp>
        <p:nvSpPr>
          <p:cNvPr id="27" name="Text 25"/>
          <p:cNvSpPr/>
          <p:nvPr/>
        </p:nvSpPr>
        <p:spPr>
          <a:xfrm>
            <a:off x="9280931" y="2944368"/>
            <a:ext cx="2087804" cy="1097280"/>
          </a:xfrm>
          <a:prstGeom prst="rect">
            <a:avLst/>
          </a:prstGeom>
          <a:noFill/>
          <a:ln/>
        </p:spPr>
        <p:txBody>
          <a:bodyPr wrap="square" lIns="0" tIns="0" rIns="0" bIns="0" rtlCol="0" anchor="t"/>
          <a:lstStyle/>
          <a:p>
            <a:pPr indent="0" marL="0">
              <a:lnSpc>
                <a:spcPct val="135000"/>
              </a:lnSpc>
              <a:buNone/>
            </a:pPr>
            <a:r>
              <a:rPr lang="en-US" sz="1100" dirty="0">
                <a:solidFill>
                  <a:srgbClr val="5B5B5F"/>
                </a:solidFill>
                <a:latin typeface="Yu Gothic" pitchFamily="34" charset="0"/>
                <a:ea typeface="Yu Gothic" pitchFamily="34" charset="-122"/>
                <a:cs typeface="Yu Gothic" pitchFamily="34" charset="-120"/>
              </a:rPr>
              <a:t>全店の切替完了後、クラウド録画サービスを解約します</a:t>
            </a:r>
            <a:endParaRPr lang="en-US" sz="1100" dirty="0"/>
          </a:p>
        </p:txBody>
      </p:sp>
      <p:sp>
        <p:nvSpPr>
          <p:cNvPr id="28" name="Shape 26"/>
          <p:cNvSpPr/>
          <p:nvPr/>
        </p:nvSpPr>
        <p:spPr>
          <a:xfrm>
            <a:off x="566928" y="4389120"/>
            <a:ext cx="11057839" cy="1097280"/>
          </a:xfrm>
          <a:prstGeom prst="roundRect">
            <a:avLst>
              <a:gd name="adj" fmla="val 4167"/>
            </a:avLst>
          </a:prstGeom>
          <a:solidFill>
            <a:srgbClr val="E4EAF3"/>
          </a:solidFill>
          <a:ln w="12700">
            <a:solidFill>
              <a:srgbClr val="2C4A7E"/>
            </a:solidFill>
            <a:prstDash val="solid"/>
          </a:ln>
        </p:spPr>
      </p:sp>
      <p:sp>
        <p:nvSpPr>
          <p:cNvPr id="29" name="Text 27"/>
          <p:cNvSpPr/>
          <p:nvPr/>
        </p:nvSpPr>
        <p:spPr>
          <a:xfrm>
            <a:off x="841248" y="4553712"/>
            <a:ext cx="10509199" cy="256032"/>
          </a:xfrm>
          <a:prstGeom prst="rect">
            <a:avLst/>
          </a:prstGeom>
          <a:noFill/>
          <a:ln/>
        </p:spPr>
        <p:txBody>
          <a:bodyPr wrap="square" lIns="0" tIns="0" rIns="0" bIns="0" rtlCol="0" anchor="t"/>
          <a:lstStyle/>
          <a:p>
            <a:pPr indent="0" marL="0">
              <a:buNone/>
            </a:pPr>
            <a:r>
              <a:rPr lang="en-US" sz="1300" b="1" dirty="0">
                <a:solidFill>
                  <a:srgbClr val="2C4A7E"/>
                </a:solidFill>
                <a:latin typeface="Yu Gothic" pitchFamily="34" charset="0"/>
                <a:ea typeface="Yu Gothic" pitchFamily="34" charset="-122"/>
                <a:cs typeface="Yu Gothic" pitchFamily="34" charset="-120"/>
              </a:rPr>
              <a:t>店舗単位で切り替えられます</a:t>
            </a:r>
            <a:endParaRPr lang="en-US" sz="1300" dirty="0"/>
          </a:p>
        </p:txBody>
      </p:sp>
      <p:sp>
        <p:nvSpPr>
          <p:cNvPr id="30" name="Text 28"/>
          <p:cNvSpPr/>
          <p:nvPr/>
        </p:nvSpPr>
        <p:spPr>
          <a:xfrm>
            <a:off x="841248" y="4846320"/>
            <a:ext cx="10509199" cy="548640"/>
          </a:xfrm>
          <a:prstGeom prst="rect">
            <a:avLst/>
          </a:prstGeom>
          <a:noFill/>
          <a:ln/>
        </p:spPr>
        <p:txBody>
          <a:bodyPr wrap="square" lIns="0" tIns="0" rIns="0" bIns="0" rtlCol="0" anchor="t"/>
          <a:lstStyle/>
          <a:p>
            <a:pPr indent="0" marL="0">
              <a:lnSpc>
                <a:spcPct val="135000"/>
              </a:lnSpc>
              <a:buNone/>
            </a:pPr>
            <a:r>
              <a:rPr lang="en-US" sz="1200" dirty="0">
                <a:solidFill>
                  <a:srgbClr val="2A2A2C"/>
                </a:solidFill>
                <a:latin typeface="Yu Gothic" pitchFamily="34" charset="0"/>
                <a:ea typeface="Yu Gothic" pitchFamily="34" charset="-122"/>
                <a:cs typeface="Yu Gothic" pitchFamily="34" charset="-120"/>
              </a:rPr>
              <a:t>手荷物検査の有効・無効は店舗ごとの設定です。100 店舗を一斉に切り替える必要はありません。数店舗ずつ移行し、問題があればその店舗だけ現行に戻せます。全社停止のリスクを負わない進め方が可能です。</a:t>
            </a:r>
            <a:endParaRPr lang="en-US" sz="1200" dirty="0"/>
          </a:p>
        </p:txBody>
      </p:sp>
      <p:sp>
        <p:nvSpPr>
          <p:cNvPr id="31" name="Text 29"/>
          <p:cNvSpPr/>
          <p:nvPr/>
        </p:nvSpPr>
        <p:spPr>
          <a:xfrm>
            <a:off x="566928" y="6419088"/>
            <a:ext cx="5486400" cy="256032"/>
          </a:xfrm>
          <a:prstGeom prst="rect">
            <a:avLst/>
          </a:prstGeom>
          <a:noFill/>
          <a:ln/>
        </p:spPr>
        <p:txBody>
          <a:bodyPr wrap="square" lIns="0" tIns="0" rIns="0" bIns="0" rtlCol="0" anchor="ctr"/>
          <a:lstStyle/>
          <a:p>
            <a:pPr indent="0" marL="0">
              <a:buNone/>
            </a:pPr>
            <a:r>
              <a:rPr lang="en-US" sz="950" dirty="0">
                <a:solidFill>
                  <a:srgbClr val="5B5B5F"/>
                </a:solidFill>
                <a:latin typeface="Yu Gothic" pitchFamily="34" charset="0"/>
                <a:ea typeface="Yu Gothic" pitchFamily="34" charset="-122"/>
                <a:cs typeface="Yu Gothic" pitchFamily="34" charset="-120"/>
              </a:rPr>
              <a:t>Recorder Monitor ／ 株式会社ジェネシス・エッジ</a:t>
            </a:r>
            <a:endParaRPr lang="en-US" sz="950" dirty="0"/>
          </a:p>
        </p:txBody>
      </p:sp>
      <p:sp>
        <p:nvSpPr>
          <p:cNvPr id="32" name="Text 30"/>
          <p:cNvSpPr/>
          <p:nvPr/>
        </p:nvSpPr>
        <p:spPr>
          <a:xfrm>
            <a:off x="10710367" y="6419088"/>
            <a:ext cx="914400" cy="256032"/>
          </a:xfrm>
          <a:prstGeom prst="rect">
            <a:avLst/>
          </a:prstGeom>
          <a:noFill/>
          <a:ln/>
        </p:spPr>
        <p:txBody>
          <a:bodyPr wrap="square" lIns="0" tIns="0" rIns="0" bIns="0" rtlCol="0" anchor="ctr"/>
          <a:lstStyle/>
          <a:p>
            <a:pPr algn="r" indent="0" marL="0">
              <a:buNone/>
            </a:pPr>
            <a:r>
              <a:rPr lang="en-US" sz="950" dirty="0">
                <a:solidFill>
                  <a:srgbClr val="5B5B5F"/>
                </a:solidFill>
                <a:latin typeface="Yu Gothic" pitchFamily="34" charset="0"/>
                <a:ea typeface="Yu Gothic" pitchFamily="34" charset="-122"/>
                <a:cs typeface="Yu Gothic" pitchFamily="34" charset="-120"/>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5F1"/>
        </a:solidFill>
      </p:bgPr>
    </p:bg>
    <p:spTree>
      <p:nvGrpSpPr>
        <p:cNvPr id="1" name=""/>
        <p:cNvGrpSpPr/>
        <p:nvPr/>
      </p:nvGrpSpPr>
      <p:grpSpPr>
        <a:xfrm>
          <a:off x="0" y="0"/>
          <a:ext cx="0" cy="0"/>
          <a:chOff x="0" y="0"/>
          <a:chExt cx="0" cy="0"/>
        </a:xfrm>
      </p:grpSpPr>
      <p:sp>
        <p:nvSpPr>
          <p:cNvPr id="2" name="Text 0"/>
          <p:cNvSpPr/>
          <p:nvPr/>
        </p:nvSpPr>
        <p:spPr>
          <a:xfrm>
            <a:off x="566928" y="402336"/>
            <a:ext cx="11057839" cy="475488"/>
          </a:xfrm>
          <a:prstGeom prst="rect">
            <a:avLst/>
          </a:prstGeom>
          <a:noFill/>
          <a:ln/>
        </p:spPr>
        <p:txBody>
          <a:bodyPr wrap="square" lIns="0" tIns="0" rIns="0" bIns="0" rtlCol="0" anchor="t"/>
          <a:lstStyle/>
          <a:p>
            <a:pPr indent="0" marL="0">
              <a:buNone/>
            </a:pPr>
            <a:r>
              <a:rPr lang="en-US" sz="2700" b="1" dirty="0">
                <a:solidFill>
                  <a:srgbClr val="0F0F10"/>
                </a:solidFill>
                <a:latin typeface="Yu Gothic" pitchFamily="34" charset="0"/>
                <a:ea typeface="Yu Gothic" pitchFamily="34" charset="-122"/>
                <a:cs typeface="Yu Gothic" pitchFamily="34" charset="-120"/>
              </a:rPr>
              <a:t>移行にあたってのご説明</a:t>
            </a:r>
            <a:endParaRPr lang="en-US" sz="2700" dirty="0"/>
          </a:p>
        </p:txBody>
      </p:sp>
      <p:sp>
        <p:nvSpPr>
          <p:cNvPr id="3" name="Shape 1"/>
          <p:cNvSpPr/>
          <p:nvPr/>
        </p:nvSpPr>
        <p:spPr>
          <a:xfrm>
            <a:off x="566928" y="1207008"/>
            <a:ext cx="5410048" cy="2880360"/>
          </a:xfrm>
          <a:prstGeom prst="roundRect">
            <a:avLst>
              <a:gd name="adj" fmla="val 1587"/>
            </a:avLst>
          </a:prstGeom>
          <a:solidFill>
            <a:srgbClr val="FFFFFF"/>
          </a:solidFill>
          <a:ln w="12700">
            <a:solidFill>
              <a:srgbClr val="D6CFC1"/>
            </a:solidFill>
            <a:prstDash val="solid"/>
          </a:ln>
        </p:spPr>
      </p:sp>
      <p:sp>
        <p:nvSpPr>
          <p:cNvPr id="4" name="Text 2"/>
          <p:cNvSpPr/>
          <p:nvPr/>
        </p:nvSpPr>
        <p:spPr>
          <a:xfrm>
            <a:off x="841248" y="1444752"/>
            <a:ext cx="4861408" cy="274320"/>
          </a:xfrm>
          <a:prstGeom prst="rect">
            <a:avLst/>
          </a:prstGeom>
          <a:noFill/>
          <a:ln/>
        </p:spPr>
        <p:txBody>
          <a:bodyPr wrap="square" lIns="0" tIns="0" rIns="0" bIns="0" rtlCol="0" anchor="t"/>
          <a:lstStyle/>
          <a:p>
            <a:pPr indent="0" marL="0">
              <a:buNone/>
            </a:pPr>
            <a:r>
              <a:rPr lang="en-US" sz="1500" b="1" dirty="0">
                <a:solidFill>
                  <a:srgbClr val="0F0F10"/>
                </a:solidFill>
                <a:latin typeface="Yu Gothic" pitchFamily="34" charset="0"/>
                <a:ea typeface="Yu Gothic" pitchFamily="34" charset="-122"/>
                <a:cs typeface="Yu Gothic" pitchFamily="34" charset="-120"/>
              </a:rPr>
              <a:t>従業員の顔データについて</a:t>
            </a:r>
            <a:endParaRPr lang="en-US" sz="1500" dirty="0"/>
          </a:p>
        </p:txBody>
      </p:sp>
      <p:sp>
        <p:nvSpPr>
          <p:cNvPr id="5" name="Text 3"/>
          <p:cNvSpPr/>
          <p:nvPr/>
        </p:nvSpPr>
        <p:spPr>
          <a:xfrm>
            <a:off x="841248" y="1828800"/>
            <a:ext cx="4861408" cy="2084832"/>
          </a:xfrm>
          <a:prstGeom prst="rect">
            <a:avLst/>
          </a:prstGeom>
          <a:noFill/>
          <a:ln/>
        </p:spPr>
        <p:txBody>
          <a:bodyPr wrap="square" lIns="0" tIns="0" rIns="0" bIns="0" rtlCol="0" anchor="t"/>
          <a:lstStyle/>
          <a:p>
            <a:pPr indent="0" marL="0">
              <a:lnSpc>
                <a:spcPct val="135000"/>
              </a:lnSpc>
              <a:buNone/>
            </a:pPr>
            <a:r>
              <a:rPr lang="en-US" sz="1150" dirty="0">
                <a:solidFill>
                  <a:srgbClr val="5B5B5F"/>
                </a:solidFill>
                <a:latin typeface="Yu Gothic" pitchFamily="34" charset="0"/>
                <a:ea typeface="Yu Gothic" pitchFamily="34" charset="-122"/>
                <a:cs typeface="Yu Gothic" pitchFamily="34" charset="-120"/>
              </a:rPr>
              <a:t>顔認証のデータは、システムごとに形式が異なるため、そのままの移行ができない場合があります。現行システムが顔写真の形で保管していれば一括登録が可能です。</a:t>
            </a:r>
            <a:endParaRPr lang="en-US" sz="1150" dirty="0"/>
          </a:p>
          <a:p>
            <a:pPr indent="0" marL="0">
              <a:lnSpc>
                <a:spcPct val="135000"/>
              </a:lnSpc>
              <a:buNone/>
            </a:pPr>
            <a:endParaRPr lang="en-US" sz="1150" dirty="0"/>
          </a:p>
          <a:p>
            <a:pPr indent="0" marL="0">
              <a:lnSpc>
                <a:spcPct val="135000"/>
              </a:lnSpc>
              <a:buNone/>
            </a:pPr>
            <a:r>
              <a:rPr lang="en-US" sz="1150" dirty="0">
                <a:solidFill>
                  <a:srgbClr val="5B5B5F"/>
                </a:solidFill>
                <a:latin typeface="Yu Gothic" pitchFamily="34" charset="0"/>
                <a:ea typeface="Yu Gothic" pitchFamily="34" charset="-122"/>
                <a:cs typeface="Yu Gothic" pitchFamily="34" charset="-120"/>
              </a:rPr>
              <a:t>ただし、顔登録が済んでいなくても検査の運用は止まりません。未登録の従業員様は認証をスキップして検査フローを継続する設計です。先にシステムを切り替え、顔登録は後から進めることができます。</a:t>
            </a:r>
            <a:endParaRPr lang="en-US" sz="1150" dirty="0"/>
          </a:p>
        </p:txBody>
      </p:sp>
      <p:sp>
        <p:nvSpPr>
          <p:cNvPr id="6" name="Shape 4"/>
          <p:cNvSpPr/>
          <p:nvPr/>
        </p:nvSpPr>
        <p:spPr>
          <a:xfrm>
            <a:off x="6214720" y="1207008"/>
            <a:ext cx="5410048" cy="2880360"/>
          </a:xfrm>
          <a:prstGeom prst="roundRect">
            <a:avLst>
              <a:gd name="adj" fmla="val 1587"/>
            </a:avLst>
          </a:prstGeom>
          <a:solidFill>
            <a:srgbClr val="F6EFE2"/>
          </a:solidFill>
          <a:ln w="12700">
            <a:solidFill>
              <a:srgbClr val="B5761A"/>
            </a:solidFill>
            <a:prstDash val="solid"/>
          </a:ln>
        </p:spPr>
      </p:sp>
      <p:sp>
        <p:nvSpPr>
          <p:cNvPr id="7" name="Text 5"/>
          <p:cNvSpPr/>
          <p:nvPr/>
        </p:nvSpPr>
        <p:spPr>
          <a:xfrm>
            <a:off x="6489040" y="1444752"/>
            <a:ext cx="4861408" cy="274320"/>
          </a:xfrm>
          <a:prstGeom prst="rect">
            <a:avLst/>
          </a:prstGeom>
          <a:noFill/>
          <a:ln/>
        </p:spPr>
        <p:txBody>
          <a:bodyPr wrap="square" lIns="0" tIns="0" rIns="0" bIns="0" rtlCol="0" anchor="t"/>
          <a:lstStyle/>
          <a:p>
            <a:pPr indent="0" marL="0">
              <a:buNone/>
            </a:pPr>
            <a:r>
              <a:rPr lang="en-US" sz="1500" b="1" dirty="0">
                <a:solidFill>
                  <a:srgbClr val="B5761A"/>
                </a:solidFill>
                <a:latin typeface="Yu Gothic" pitchFamily="34" charset="0"/>
                <a:ea typeface="Yu Gothic" pitchFamily="34" charset="-122"/>
                <a:cs typeface="Yu Gothic" pitchFamily="34" charset="-120"/>
              </a:rPr>
              <a:t>本構成で対象外とする機能</a:t>
            </a:r>
            <a:endParaRPr lang="en-US" sz="1500" dirty="0"/>
          </a:p>
        </p:txBody>
      </p:sp>
      <p:sp>
        <p:nvSpPr>
          <p:cNvPr id="8" name="Text 6"/>
          <p:cNvSpPr/>
          <p:nvPr/>
        </p:nvSpPr>
        <p:spPr>
          <a:xfrm>
            <a:off x="6489040" y="1828800"/>
            <a:ext cx="4861408" cy="2084832"/>
          </a:xfrm>
          <a:prstGeom prst="rect">
            <a:avLst/>
          </a:prstGeom>
          <a:noFill/>
          <a:ln/>
        </p:spPr>
        <p:txBody>
          <a:bodyPr wrap="square" lIns="0" tIns="0" rIns="0" bIns="0" rtlCol="0" anchor="t"/>
          <a:lstStyle/>
          <a:p>
            <a:pPr indent="0" marL="0">
              <a:lnSpc>
                <a:spcPct val="135000"/>
              </a:lnSpc>
              <a:buNone/>
            </a:pPr>
            <a:r>
              <a:rPr lang="en-US" sz="1150" dirty="0">
                <a:solidFill>
                  <a:srgbClr val="2A2A2C"/>
                </a:solidFill>
                <a:latin typeface="Yu Gothic" pitchFamily="34" charset="0"/>
                <a:ea typeface="Yu Gothic" pitchFamily="34" charset="-122"/>
                <a:cs typeface="Yu Gothic" pitchFamily="34" charset="-120"/>
              </a:rPr>
              <a:t>高画質のライブ映像配信は、本構成では提供いたしません。御社のネットワークは出口が 1 箇所に集約されており、映像のリアルタイム配信に必要な通信方式を通せないためです。また既設中継機に映像変換の処理能力がありません。</a:t>
            </a:r>
            <a:endParaRPr lang="en-US" sz="1150" dirty="0"/>
          </a:p>
          <a:p>
            <a:pPr indent="0" marL="0">
              <a:lnSpc>
                <a:spcPct val="135000"/>
              </a:lnSpc>
              <a:buNone/>
            </a:pPr>
            <a:endParaRPr lang="en-US" sz="1150" dirty="0"/>
          </a:p>
          <a:p>
            <a:pPr indent="0" marL="0">
              <a:lnSpc>
                <a:spcPct val="135000"/>
              </a:lnSpc>
              <a:buNone/>
            </a:pPr>
            <a:r>
              <a:rPr lang="en-US" sz="1150" dirty="0">
                <a:solidFill>
                  <a:srgbClr val="2A2A2C"/>
                </a:solidFill>
                <a:latin typeface="Yu Gothic" pitchFamily="34" charset="0"/>
                <a:ea typeface="Yu Gothic" pitchFamily="34" charset="-122"/>
                <a:cs typeface="Yu Gothic" pitchFamily="34" charset="-120"/>
              </a:rPr>
              <a:t>代わりに、静止画を短い間隔で更新する方式で店舗の状況を確認いただきます。現行のカメラ設定（768 kbps）では実用上の差は小さいと考えておりますが、ご要望がある場合は別途ご相談ください。</a:t>
            </a:r>
            <a:endParaRPr lang="en-US" sz="1150" dirty="0"/>
          </a:p>
        </p:txBody>
      </p:sp>
      <p:sp>
        <p:nvSpPr>
          <p:cNvPr id="9" name="Shape 7"/>
          <p:cNvSpPr/>
          <p:nvPr/>
        </p:nvSpPr>
        <p:spPr>
          <a:xfrm>
            <a:off x="566928" y="4297680"/>
            <a:ext cx="11057839" cy="1207008"/>
          </a:xfrm>
          <a:prstGeom prst="roundRect">
            <a:avLst>
              <a:gd name="adj" fmla="val 3788"/>
            </a:avLst>
          </a:prstGeom>
          <a:solidFill>
            <a:srgbClr val="F6EFE2"/>
          </a:solidFill>
          <a:ln w="12700">
            <a:solidFill>
              <a:srgbClr val="B5761A"/>
            </a:solidFill>
            <a:prstDash val="solid"/>
          </a:ln>
        </p:spPr>
      </p:sp>
      <p:sp>
        <p:nvSpPr>
          <p:cNvPr id="10" name="Text 8"/>
          <p:cNvSpPr/>
          <p:nvPr/>
        </p:nvSpPr>
        <p:spPr>
          <a:xfrm>
            <a:off x="841248" y="4443984"/>
            <a:ext cx="10509199" cy="274320"/>
          </a:xfrm>
          <a:prstGeom prst="rect">
            <a:avLst/>
          </a:prstGeom>
          <a:noFill/>
          <a:ln/>
        </p:spPr>
        <p:txBody>
          <a:bodyPr wrap="square" lIns="0" tIns="0" rIns="0" bIns="0" rtlCol="0" anchor="t"/>
          <a:lstStyle/>
          <a:p>
            <a:pPr indent="0" marL="0">
              <a:buNone/>
            </a:pPr>
            <a:r>
              <a:rPr lang="en-US" sz="1350" b="1" dirty="0">
                <a:solidFill>
                  <a:srgbClr val="B5761A"/>
                </a:solidFill>
                <a:latin typeface="Yu Gothic" pitchFamily="34" charset="0"/>
                <a:ea typeface="Yu Gothic" pitchFamily="34" charset="-122"/>
                <a:cs typeface="Yu Gothic" pitchFamily="34" charset="-120"/>
              </a:rPr>
              <a:t>あわせてご相談したいこと — 災害時の通信経路について</a:t>
            </a:r>
            <a:endParaRPr lang="en-US" sz="1350" dirty="0"/>
          </a:p>
        </p:txBody>
      </p:sp>
      <p:sp>
        <p:nvSpPr>
          <p:cNvPr id="11" name="Text 9"/>
          <p:cNvSpPr/>
          <p:nvPr/>
        </p:nvSpPr>
        <p:spPr>
          <a:xfrm>
            <a:off x="841248" y="4754880"/>
            <a:ext cx="10509199" cy="694944"/>
          </a:xfrm>
          <a:prstGeom prst="rect">
            <a:avLst/>
          </a:prstGeom>
          <a:noFill/>
          <a:ln/>
        </p:spPr>
        <p:txBody>
          <a:bodyPr wrap="square" lIns="0" tIns="0" rIns="0" bIns="0" rtlCol="0" anchor="t"/>
          <a:lstStyle/>
          <a:p>
            <a:pPr indent="0" marL="0">
              <a:lnSpc>
                <a:spcPct val="135000"/>
              </a:lnSpc>
              <a:buNone/>
            </a:pPr>
            <a:r>
              <a:rPr lang="en-US" sz="1200" dirty="0">
                <a:solidFill>
                  <a:srgbClr val="2A2A2C"/>
                </a:solidFill>
                <a:latin typeface="Yu Gothic" pitchFamily="34" charset="0"/>
                <a:ea typeface="Yu Gothic" pitchFamily="34" charset="-122"/>
                <a:cs typeface="Yu Gothic" pitchFamily="34" charset="-120"/>
              </a:rPr>
              <a:t>御社のネットワークは出口が 1 箇所に集約されています。その拠点が被災した場合、100 店舗すべてがクラウドから見えなくなります。</a:t>
            </a:r>
            <a:endParaRPr lang="en-US" sz="1200" dirty="0"/>
          </a:p>
          <a:p>
            <a:pPr indent="0" marL="0">
              <a:lnSpc>
                <a:spcPct val="135000"/>
              </a:lnSpc>
              <a:buNone/>
            </a:pPr>
            <a:r>
              <a:rPr lang="en-US" sz="1200" dirty="0">
                <a:solidFill>
                  <a:srgbClr val="2A2A2C"/>
                </a:solidFill>
                <a:latin typeface="Yu Gothic" pitchFamily="34" charset="0"/>
                <a:ea typeface="Yu Gothic" pitchFamily="34" charset="-122"/>
                <a:cs typeface="Yu Gothic" pitchFamily="34" charset="-120"/>
              </a:rPr>
              <a:t>これは現行システムでも同じ構造ですが、BCP 機能をご提供する以上、お伝えしておくべき事項と考えております。BCP 用途に限った副回線（店舗ごとの LTE 等）の要否について、情報システムご担当者様とご相談させてください。</a:t>
            </a:r>
            <a:endParaRPr lang="en-US" sz="1200" dirty="0"/>
          </a:p>
        </p:txBody>
      </p:sp>
      <p:sp>
        <p:nvSpPr>
          <p:cNvPr id="12" name="Text 10"/>
          <p:cNvSpPr/>
          <p:nvPr/>
        </p:nvSpPr>
        <p:spPr>
          <a:xfrm>
            <a:off x="566928" y="6419088"/>
            <a:ext cx="5486400" cy="256032"/>
          </a:xfrm>
          <a:prstGeom prst="rect">
            <a:avLst/>
          </a:prstGeom>
          <a:noFill/>
          <a:ln/>
        </p:spPr>
        <p:txBody>
          <a:bodyPr wrap="square" lIns="0" tIns="0" rIns="0" bIns="0" rtlCol="0" anchor="ctr"/>
          <a:lstStyle/>
          <a:p>
            <a:pPr indent="0" marL="0">
              <a:buNone/>
            </a:pPr>
            <a:r>
              <a:rPr lang="en-US" sz="950" dirty="0">
                <a:solidFill>
                  <a:srgbClr val="5B5B5F"/>
                </a:solidFill>
                <a:latin typeface="Yu Gothic" pitchFamily="34" charset="0"/>
                <a:ea typeface="Yu Gothic" pitchFamily="34" charset="-122"/>
                <a:cs typeface="Yu Gothic" pitchFamily="34" charset="-120"/>
              </a:rPr>
              <a:t>Recorder Monitor ／ 株式会社ジェネシス・エッジ</a:t>
            </a:r>
            <a:endParaRPr lang="en-US" sz="950" dirty="0"/>
          </a:p>
        </p:txBody>
      </p:sp>
      <p:sp>
        <p:nvSpPr>
          <p:cNvPr id="13" name="Text 11"/>
          <p:cNvSpPr/>
          <p:nvPr/>
        </p:nvSpPr>
        <p:spPr>
          <a:xfrm>
            <a:off x="10710367" y="6419088"/>
            <a:ext cx="914400" cy="256032"/>
          </a:xfrm>
          <a:prstGeom prst="rect">
            <a:avLst/>
          </a:prstGeom>
          <a:noFill/>
          <a:ln/>
        </p:spPr>
        <p:txBody>
          <a:bodyPr wrap="square" lIns="0" tIns="0" rIns="0" bIns="0" rtlCol="0" anchor="ctr"/>
          <a:lstStyle/>
          <a:p>
            <a:pPr algn="r" indent="0" marL="0">
              <a:buNone/>
            </a:pPr>
            <a:r>
              <a:rPr lang="en-US" sz="950" dirty="0">
                <a:solidFill>
                  <a:srgbClr val="5B5B5F"/>
                </a:solidFill>
                <a:latin typeface="Yu Gothic" pitchFamily="34" charset="0"/>
                <a:ea typeface="Yu Gothic" pitchFamily="34" charset="-122"/>
                <a:cs typeface="Yu Gothic" pitchFamily="34" charset="-120"/>
              </a:rPr>
              <a:t>14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5F1"/>
        </a:solidFill>
      </p:bgPr>
    </p:bg>
    <p:spTree>
      <p:nvGrpSpPr>
        <p:cNvPr id="1" name=""/>
        <p:cNvGrpSpPr/>
        <p:nvPr/>
      </p:nvGrpSpPr>
      <p:grpSpPr>
        <a:xfrm>
          <a:off x="0" y="0"/>
          <a:ext cx="0" cy="0"/>
          <a:chOff x="0" y="0"/>
          <a:chExt cx="0" cy="0"/>
        </a:xfrm>
      </p:grpSpPr>
      <p:sp>
        <p:nvSpPr>
          <p:cNvPr id="2" name="Text 0"/>
          <p:cNvSpPr/>
          <p:nvPr/>
        </p:nvSpPr>
        <p:spPr>
          <a:xfrm>
            <a:off x="566928" y="402336"/>
            <a:ext cx="11057839" cy="475488"/>
          </a:xfrm>
          <a:prstGeom prst="rect">
            <a:avLst/>
          </a:prstGeom>
          <a:noFill/>
          <a:ln/>
        </p:spPr>
        <p:txBody>
          <a:bodyPr wrap="square" lIns="0" tIns="0" rIns="0" bIns="0" rtlCol="0" anchor="t"/>
          <a:lstStyle/>
          <a:p>
            <a:pPr indent="0" marL="0">
              <a:buNone/>
            </a:pPr>
            <a:r>
              <a:rPr lang="en-US" sz="2700" b="1" dirty="0">
                <a:solidFill>
                  <a:srgbClr val="0F0F10"/>
                </a:solidFill>
                <a:latin typeface="Yu Gothic" pitchFamily="34" charset="0"/>
                <a:ea typeface="Yu Gothic" pitchFamily="34" charset="-122"/>
                <a:cs typeface="Yu Gothic" pitchFamily="34" charset="-120"/>
              </a:rPr>
              <a:t>前提条件と確認事項</a:t>
            </a:r>
            <a:endParaRPr lang="en-US" sz="2700" dirty="0"/>
          </a:p>
        </p:txBody>
      </p:sp>
      <p:sp>
        <p:nvSpPr>
          <p:cNvPr id="3" name="Text 1"/>
          <p:cNvSpPr/>
          <p:nvPr/>
        </p:nvSpPr>
        <p:spPr>
          <a:xfrm>
            <a:off x="566928" y="932688"/>
            <a:ext cx="11057839" cy="384048"/>
          </a:xfrm>
          <a:prstGeom prst="rect">
            <a:avLst/>
          </a:prstGeom>
          <a:noFill/>
          <a:ln/>
        </p:spPr>
        <p:txBody>
          <a:bodyPr wrap="square" lIns="0" tIns="0" rIns="0" bIns="0" rtlCol="0" anchor="t"/>
          <a:lstStyle/>
          <a:p>
            <a:pPr indent="0" marL="0">
              <a:lnSpc>
                <a:spcPct val="135000"/>
              </a:lnSpc>
              <a:buNone/>
            </a:pPr>
            <a:r>
              <a:rPr lang="en-US" sz="1300" dirty="0">
                <a:solidFill>
                  <a:srgbClr val="5B5B5F"/>
                </a:solidFill>
                <a:latin typeface="Yu Gothic" pitchFamily="34" charset="0"/>
                <a:ea typeface="Yu Gothic" pitchFamily="34" charset="-122"/>
                <a:cs typeface="Yu Gothic" pitchFamily="34" charset="-120"/>
              </a:rPr>
              <a:t>「要確認」の項目は、技術検証（段階 1）で確定いたします。</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66928" y="1700784"/>
          <a:ext cx="11057839" cy="914400"/>
        </p:xfrm>
        <a:graphic>
          <a:graphicData uri="http://schemas.openxmlformats.org/drawingml/2006/table">
            <a:tbl>
              <a:tblPr/>
              <a:tblGrid>
                <a:gridCol w="3108960"/>
                <a:gridCol w="1371600"/>
                <a:gridCol w="6574536"/>
              </a:tblGrid>
              <a:tr h="365760">
                <a:tc>
                  <a:txBody>
                    <a:bodyPr/>
                    <a:lstStyle/>
                    <a:p>
                      <a:pPr algn="l" indent="0" marL="0">
                        <a:buNone/>
                      </a:pPr>
                      <a:r>
                        <a:rPr lang="en-US" sz="1100" b="1" dirty="0">
                          <a:solidFill>
                            <a:srgbClr val="2A2A2C"/>
                          </a:solidFill>
                          <a:latin typeface="Yu Gothic" pitchFamily="34" charset="0"/>
                          <a:ea typeface="Yu Gothic" pitchFamily="34" charset="-122"/>
                          <a:cs typeface="Yu Gothic" pitchFamily="34" charset="-120"/>
                        </a:rPr>
                        <a:t>項目</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7F5F1"/>
                    </a:solidFill>
                  </a:tcPr>
                </a:tc>
                <a:tc>
                  <a:txBody>
                    <a:bodyPr/>
                    <a:lstStyle/>
                    <a:p>
                      <a:pPr algn="l" indent="0" marL="0">
                        <a:buNone/>
                      </a:pPr>
                      <a:r>
                        <a:rPr lang="en-US" sz="1100" b="1" dirty="0">
                          <a:solidFill>
                            <a:srgbClr val="2A2A2C"/>
                          </a:solidFill>
                          <a:latin typeface="Yu Gothic" pitchFamily="34" charset="0"/>
                          <a:ea typeface="Yu Gothic" pitchFamily="34" charset="-122"/>
                          <a:cs typeface="Yu Gothic" pitchFamily="34" charset="-120"/>
                        </a:rPr>
                        <a:t>状態</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7F5F1"/>
                    </a:solidFill>
                  </a:tcPr>
                </a:tc>
                <a:tc>
                  <a:txBody>
                    <a:bodyPr/>
                    <a:lstStyle/>
                    <a:p>
                      <a:pPr algn="l" indent="0" marL="0">
                        <a:buNone/>
                      </a:pPr>
                      <a:r>
                        <a:rPr lang="en-US" sz="1100" b="1" dirty="0">
                          <a:solidFill>
                            <a:srgbClr val="2A2A2C"/>
                          </a:solidFill>
                          <a:latin typeface="Yu Gothic" pitchFamily="34" charset="0"/>
                          <a:ea typeface="Yu Gothic" pitchFamily="34" charset="-122"/>
                          <a:cs typeface="Yu Gothic" pitchFamily="34" charset="-120"/>
                        </a:rPr>
                        <a:t>内容</a:t>
                      </a:r>
                      <a:endParaRPr lang="en-US" sz="110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7F5F1"/>
                    </a:solidFill>
                  </a:tcPr>
                </a:tc>
              </a:tr>
              <a:tr h="365760">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レコーダーの常時録画</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F7A4F"/>
                          </a:solidFill>
                          <a:latin typeface="Yu Gothic" pitchFamily="34" charset="0"/>
                          <a:ea typeface="Yu Gothic" pitchFamily="34" charset="-122"/>
                          <a:cs typeface="Yu Gothic" pitchFamily="34" charset="-120"/>
                        </a:rPr>
                        <a:t>確認済</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各店舗で常時録画・14 日保存</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r>
              <a:tr h="365760">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録画の映像形式</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c>
                  <a:txBody>
                    <a:bodyPr/>
                    <a:lstStyle/>
                    <a:p>
                      <a:pPr algn="ctr" indent="0" marL="0">
                        <a:buNone/>
                      </a:pPr>
                      <a:r>
                        <a:rPr lang="en-US" sz="1150" b="1" dirty="0">
                          <a:solidFill>
                            <a:srgbClr val="2F7A4F"/>
                          </a:solidFill>
                          <a:latin typeface="Yu Gothic" pitchFamily="34" charset="0"/>
                          <a:ea typeface="Yu Gothic" pitchFamily="34" charset="-122"/>
                          <a:cs typeface="Yu Gothic" pitchFamily="34" charset="-120"/>
                        </a:rPr>
                        <a:t>確認済</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H.264。変換処理は発生しません</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r>
              <a:tr h="365760">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クラウド録画の用途</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F7A4F"/>
                          </a:solidFill>
                          <a:latin typeface="Yu Gothic" pitchFamily="34" charset="0"/>
                          <a:ea typeface="Yu Gothic" pitchFamily="34" charset="-122"/>
                          <a:cs typeface="Yu Gothic" pitchFamily="34" charset="-120"/>
                        </a:rPr>
                        <a:t>確認済</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手荷物検査の証跡のみ。他用途でのご利用なし</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r>
              <a:tr h="365760">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検査台のカメラ</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c>
                  <a:txBody>
                    <a:bodyPr/>
                    <a:lstStyle/>
                    <a:p>
                      <a:pPr algn="ctr" indent="0" marL="0">
                        <a:buNone/>
                      </a:pPr>
                      <a:r>
                        <a:rPr lang="en-US" sz="1150" b="1" dirty="0">
                          <a:solidFill>
                            <a:srgbClr val="2F7A4F"/>
                          </a:solidFill>
                          <a:latin typeface="Yu Gothic" pitchFamily="34" charset="0"/>
                          <a:ea typeface="Yu Gothic" pitchFamily="34" charset="-122"/>
                          <a:cs typeface="Yu Gothic" pitchFamily="34" charset="-120"/>
                        </a:rPr>
                        <a:t>確認済</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2 台あり</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r>
              <a:tr h="365760">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中継機の再構築</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F7A4F"/>
                          </a:solidFill>
                          <a:latin typeface="Yu Gothic" pitchFamily="34" charset="0"/>
                          <a:ea typeface="Yu Gothic" pitchFamily="34" charset="-122"/>
                          <a:cs typeface="Yu Gothic" pitchFamily="34" charset="-120"/>
                        </a:rPr>
                        <a:t>確認済</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当社ソフトのみの構成が可能</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r>
              <a:tr h="365760">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中継機の起動方式</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c>
                  <a:txBody>
                    <a:bodyPr/>
                    <a:lstStyle/>
                    <a:p>
                      <a:pPr algn="ctr" indent="0" marL="0">
                        <a:buNone/>
                      </a:pPr>
                      <a:r>
                        <a:rPr lang="en-US" sz="1150" b="1" dirty="0">
                          <a:solidFill>
                            <a:srgbClr val="B5761A"/>
                          </a:solidFill>
                          <a:latin typeface="Yu Gothic" pitchFamily="34" charset="0"/>
                          <a:ea typeface="Yu Gothic" pitchFamily="34" charset="-122"/>
                          <a:cs typeface="Yu Gothic" pitchFamily="34" charset="-120"/>
                        </a:rPr>
                        <a:t>要確認</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SD カードからの起動可否（メーカーへ照会中）</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r>
              <a:tr h="365760">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プロキシの認証方式</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B5761A"/>
                          </a:solidFill>
                          <a:latin typeface="Yu Gothic" pitchFamily="34" charset="0"/>
                          <a:ea typeface="Yu Gothic" pitchFamily="34" charset="-122"/>
                          <a:cs typeface="Yu Gothic" pitchFamily="34" charset="-120"/>
                        </a:rPr>
                        <a:t>要確認</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認証方式によっては、当社宛先の認証除外設定をお願いする場合があります</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r>
              <a:tr h="365760">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プロキシの通信制限</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c>
                  <a:txBody>
                    <a:bodyPr/>
                    <a:lstStyle/>
                    <a:p>
                      <a:pPr algn="ctr" indent="0" marL="0">
                        <a:buNone/>
                      </a:pPr>
                      <a:r>
                        <a:rPr lang="en-US" sz="1150" b="1" dirty="0">
                          <a:solidFill>
                            <a:srgbClr val="B5761A"/>
                          </a:solidFill>
                          <a:latin typeface="Yu Gothic" pitchFamily="34" charset="0"/>
                          <a:ea typeface="Yu Gothic" pitchFamily="34" charset="-122"/>
                          <a:cs typeface="Yu Gothic" pitchFamily="34" charset="-120"/>
                        </a:rPr>
                        <a:t>要確認</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SSL 復号の有無、送信データサイズの上限</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r>
              <a:tr h="365760">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レコーダーの HDD 状態</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B5761A"/>
                          </a:solidFill>
                          <a:latin typeface="Yu Gothic" pitchFamily="34" charset="0"/>
                          <a:ea typeface="Yu Gothic" pitchFamily="34" charset="-122"/>
                          <a:cs typeface="Yu Gothic" pitchFamily="34" charset="-120"/>
                        </a:rPr>
                        <a:t>要確認</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100 台の稼働時間と健全性</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r>
              <a:tr h="365760">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検査端末の流用可否</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c>
                  <a:txBody>
                    <a:bodyPr/>
                    <a:lstStyle/>
                    <a:p>
                      <a:pPr algn="ctr" indent="0" marL="0">
                        <a:buNone/>
                      </a:pPr>
                      <a:r>
                        <a:rPr lang="en-US" sz="1150" b="1" dirty="0">
                          <a:solidFill>
                            <a:srgbClr val="B5761A"/>
                          </a:solidFill>
                          <a:latin typeface="Yu Gothic" pitchFamily="34" charset="0"/>
                          <a:ea typeface="Yu Gothic" pitchFamily="34" charset="-122"/>
                          <a:cs typeface="Yu Gothic" pitchFamily="34" charset="-120"/>
                        </a:rPr>
                        <a:t>要確認</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現行端末のブラウザ動作可否</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CFBF9"/>
                    </a:solidFill>
                  </a:tcPr>
                </a:tc>
              </a:tr>
              <a:tr h="365760">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現行の顔データ形式</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B5761A"/>
                          </a:solidFill>
                          <a:latin typeface="Yu Gothic" pitchFamily="34" charset="0"/>
                          <a:ea typeface="Yu Gothic" pitchFamily="34" charset="-122"/>
                          <a:cs typeface="Yu Gothic" pitchFamily="34" charset="-120"/>
                        </a:rPr>
                        <a:t>要確認</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F0F10"/>
                          </a:solidFill>
                          <a:latin typeface="Yu Gothic" pitchFamily="34" charset="0"/>
                          <a:ea typeface="Yu Gothic" pitchFamily="34" charset="-122"/>
                          <a:cs typeface="Yu Gothic" pitchFamily="34" charset="-120"/>
                        </a:rPr>
                        <a:t>写真か特徴量か</a:t>
                      </a:r>
                      <a:endParaRPr lang="en-US" sz="1150" dirty="0">
                        <a:latin typeface="Yu Gothic" charset="0"/>
                        <a:ea typeface="Yu Gothic" charset="0"/>
                        <a:cs typeface="Yu Gothic" charset="0"/>
                      </a:endParaRPr>
                    </a:p>
                  </a:txBody>
                  <a:tcPr marL="114300" marR="114300" marT="50800" marB="50800" anchor="ctr">
                    <a:lnL w="9525" cap="flat" cmpd="sng" algn="ctr">
                      <a:solidFill>
                        <a:srgbClr val="D6CFC1"/>
                      </a:solidFill>
                      <a:prstDash val="solid"/>
                      <a:round/>
                      <a:headEnd type="none" w="med" len="med"/>
                      <a:tailEnd type="none" w="med" len="med"/>
                    </a:lnL>
                    <a:lnR w="9525" cap="flat" cmpd="sng" algn="ctr">
                      <a:solidFill>
                        <a:srgbClr val="D6CFC1"/>
                      </a:solidFill>
                      <a:prstDash val="solid"/>
                      <a:round/>
                      <a:headEnd type="none" w="med" len="med"/>
                      <a:tailEnd type="none" w="med" len="med"/>
                    </a:lnR>
                    <a:lnT w="9525" cap="flat" cmpd="sng" algn="ctr">
                      <a:solidFill>
                        <a:srgbClr val="D6CFC1"/>
                      </a:solidFill>
                      <a:prstDash val="solid"/>
                      <a:round/>
                      <a:headEnd type="none" w="med" len="med"/>
                      <a:tailEnd type="none" w="med" len="med"/>
                    </a:lnT>
                    <a:lnB w="9525" cap="flat" cmpd="sng" algn="ctr">
                      <a:solidFill>
                        <a:srgbClr val="D6CFC1"/>
                      </a:solidFill>
                      <a:prstDash val="solid"/>
                      <a:round/>
                      <a:headEnd type="none" w="med" len="med"/>
                      <a:tailEnd type="none" w="med" len="med"/>
                    </a:lnB>
                    <a:solidFill>
                      <a:srgbClr val="FFFFFF"/>
                    </a:solidFill>
                  </a:tcPr>
                </a:tc>
              </a:tr>
            </a:tbl>
          </a:graphicData>
        </a:graphic>
      </p:graphicFrame>
      <p:sp>
        <p:nvSpPr>
          <p:cNvPr id="5" name="Text 2"/>
          <p:cNvSpPr/>
          <p:nvPr/>
        </p:nvSpPr>
        <p:spPr>
          <a:xfrm>
            <a:off x="566928" y="6419088"/>
            <a:ext cx="5486400" cy="256032"/>
          </a:xfrm>
          <a:prstGeom prst="rect">
            <a:avLst/>
          </a:prstGeom>
          <a:noFill/>
          <a:ln/>
        </p:spPr>
        <p:txBody>
          <a:bodyPr wrap="square" lIns="0" tIns="0" rIns="0" bIns="0" rtlCol="0" anchor="ctr"/>
          <a:lstStyle/>
          <a:p>
            <a:pPr indent="0" marL="0">
              <a:buNone/>
            </a:pPr>
            <a:r>
              <a:rPr lang="en-US" sz="950" dirty="0">
                <a:solidFill>
                  <a:srgbClr val="5B5B5F"/>
                </a:solidFill>
                <a:latin typeface="Yu Gothic" pitchFamily="34" charset="0"/>
                <a:ea typeface="Yu Gothic" pitchFamily="34" charset="-122"/>
                <a:cs typeface="Yu Gothic" pitchFamily="34" charset="-120"/>
              </a:rPr>
              <a:t>Recorder Monitor ／ 株式会社ジェネシス・エッジ</a:t>
            </a:r>
            <a:endParaRPr lang="en-US" sz="950" dirty="0"/>
          </a:p>
        </p:txBody>
      </p:sp>
      <p:sp>
        <p:nvSpPr>
          <p:cNvPr id="6" name="Text 3"/>
          <p:cNvSpPr/>
          <p:nvPr/>
        </p:nvSpPr>
        <p:spPr>
          <a:xfrm>
            <a:off x="10710367" y="6419088"/>
            <a:ext cx="914400" cy="256032"/>
          </a:xfrm>
          <a:prstGeom prst="rect">
            <a:avLst/>
          </a:prstGeom>
          <a:noFill/>
          <a:ln/>
        </p:spPr>
        <p:txBody>
          <a:bodyPr wrap="square" lIns="0" tIns="0" rIns="0" bIns="0" rtlCol="0" anchor="ctr"/>
          <a:lstStyle/>
          <a:p>
            <a:pPr algn="r" indent="0" marL="0">
              <a:buNone/>
            </a:pPr>
            <a:r>
              <a:rPr lang="en-US" sz="950" dirty="0">
                <a:solidFill>
                  <a:srgbClr val="5B5B5F"/>
                </a:solidFill>
                <a:latin typeface="Yu Gothic" pitchFamily="34" charset="0"/>
                <a:ea typeface="Yu Gothic" pitchFamily="34" charset="-122"/>
                <a:cs typeface="Yu Gothic" pitchFamily="34" charset="-120"/>
              </a:rPr>
              <a:t>15</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0F10"/>
        </a:solidFill>
      </p:bgPr>
    </p:bg>
    <p:spTree>
      <p:nvGrpSpPr>
        <p:cNvPr id="1" name=""/>
        <p:cNvGrpSpPr/>
        <p:nvPr/>
      </p:nvGrpSpPr>
      <p:grpSpPr>
        <a:xfrm>
          <a:off x="0" y="0"/>
          <a:ext cx="0" cy="0"/>
          <a:chOff x="0" y="0"/>
          <a:chExt cx="0" cy="0"/>
        </a:xfrm>
      </p:grpSpPr>
      <p:sp>
        <p:nvSpPr>
          <p:cNvPr id="2" name="Text 0"/>
          <p:cNvSpPr/>
          <p:nvPr/>
        </p:nvSpPr>
        <p:spPr>
          <a:xfrm>
            <a:off x="566928" y="658368"/>
            <a:ext cx="11057839" cy="274320"/>
          </a:xfrm>
          <a:prstGeom prst="rect">
            <a:avLst/>
          </a:prstGeom>
          <a:noFill/>
          <a:ln/>
        </p:spPr>
        <p:txBody>
          <a:bodyPr wrap="square" lIns="0" tIns="0" rIns="0" bIns="0" rtlCol="0" anchor="ctr"/>
          <a:lstStyle/>
          <a:p>
            <a:pPr indent="0" marL="0">
              <a:buNone/>
            </a:pPr>
            <a:r>
              <a:rPr lang="en-US" sz="1200" spc="400" kern="0" dirty="0">
                <a:solidFill>
                  <a:srgbClr val="9AA7BF"/>
                </a:solidFill>
                <a:latin typeface="Yu Gothic" pitchFamily="34" charset="0"/>
                <a:ea typeface="Yu Gothic" pitchFamily="34" charset="-122"/>
                <a:cs typeface="Yu Gothic" pitchFamily="34" charset="-120"/>
              </a:rPr>
              <a:t>NEXT STEPS</a:t>
            </a:r>
            <a:endParaRPr lang="en-US" sz="1200" dirty="0"/>
          </a:p>
        </p:txBody>
      </p:sp>
      <p:sp>
        <p:nvSpPr>
          <p:cNvPr id="3" name="Text 1"/>
          <p:cNvSpPr/>
          <p:nvPr/>
        </p:nvSpPr>
        <p:spPr>
          <a:xfrm>
            <a:off x="566928" y="1005840"/>
            <a:ext cx="11057839" cy="548640"/>
          </a:xfrm>
          <a:prstGeom prst="rect">
            <a:avLst/>
          </a:prstGeom>
          <a:noFill/>
          <a:ln/>
        </p:spPr>
        <p:txBody>
          <a:bodyPr wrap="square" lIns="0" tIns="0" rIns="0" bIns="0" rtlCol="0" anchor="t"/>
          <a:lstStyle/>
          <a:p>
            <a:pPr indent="0" marL="0">
              <a:buNone/>
            </a:pPr>
            <a:r>
              <a:rPr lang="en-US" sz="3200" b="1" dirty="0">
                <a:solidFill>
                  <a:srgbClr val="F2F0EC"/>
                </a:solidFill>
                <a:latin typeface="Yu Gothic" pitchFamily="34" charset="0"/>
                <a:ea typeface="Yu Gothic" pitchFamily="34" charset="-122"/>
                <a:cs typeface="Yu Gothic" pitchFamily="34" charset="-120"/>
              </a:rPr>
              <a:t>次のお願い</a:t>
            </a:r>
            <a:endParaRPr lang="en-US" sz="3200" dirty="0"/>
          </a:p>
        </p:txBody>
      </p:sp>
      <p:sp>
        <p:nvSpPr>
          <p:cNvPr id="4" name="Shape 2"/>
          <p:cNvSpPr/>
          <p:nvPr/>
        </p:nvSpPr>
        <p:spPr>
          <a:xfrm>
            <a:off x="566928" y="2103120"/>
            <a:ext cx="310896" cy="310896"/>
          </a:xfrm>
          <a:prstGeom prst="roundRect">
            <a:avLst>
              <a:gd name="adj" fmla="val 14706"/>
            </a:avLst>
          </a:prstGeom>
          <a:solidFill>
            <a:srgbClr val="6A90C8"/>
          </a:solidFill>
          <a:ln w="12700">
            <a:solidFill>
              <a:srgbClr val="6A90C8"/>
            </a:solidFill>
            <a:prstDash val="solid"/>
          </a:ln>
        </p:spPr>
      </p:sp>
      <p:sp>
        <p:nvSpPr>
          <p:cNvPr id="5" name="Text 3"/>
          <p:cNvSpPr/>
          <p:nvPr/>
        </p:nvSpPr>
        <p:spPr>
          <a:xfrm>
            <a:off x="566928" y="2103120"/>
            <a:ext cx="310896" cy="310896"/>
          </a:xfrm>
          <a:prstGeom prst="rect">
            <a:avLst/>
          </a:prstGeom>
          <a:noFill/>
          <a:ln/>
        </p:spPr>
        <p:txBody>
          <a:bodyPr wrap="square" lIns="0" tIns="0" rIns="0" bIns="0" rtlCol="0" anchor="ctr"/>
          <a:lstStyle/>
          <a:p>
            <a:pPr algn="ctr" indent="0" marL="0">
              <a:buNone/>
            </a:pPr>
            <a:r>
              <a:rPr lang="en-US" sz="1300" b="1" dirty="0">
                <a:solidFill>
                  <a:srgbClr val="0F0F10"/>
                </a:solidFill>
                <a:latin typeface="Yu Gothic" pitchFamily="34" charset="0"/>
                <a:ea typeface="Yu Gothic" pitchFamily="34" charset="-122"/>
                <a:cs typeface="Yu Gothic" pitchFamily="34" charset="-120"/>
              </a:rPr>
              <a:t>1</a:t>
            </a:r>
            <a:endParaRPr lang="en-US" sz="1300" dirty="0"/>
          </a:p>
        </p:txBody>
      </p:sp>
      <p:sp>
        <p:nvSpPr>
          <p:cNvPr id="6" name="Text 4"/>
          <p:cNvSpPr/>
          <p:nvPr/>
        </p:nvSpPr>
        <p:spPr>
          <a:xfrm>
            <a:off x="1024128" y="2084832"/>
            <a:ext cx="10600639" cy="292608"/>
          </a:xfrm>
          <a:prstGeom prst="rect">
            <a:avLst/>
          </a:prstGeom>
          <a:noFill/>
          <a:ln/>
        </p:spPr>
        <p:txBody>
          <a:bodyPr wrap="square" lIns="0" tIns="0" rIns="0" bIns="0" rtlCol="0" anchor="t"/>
          <a:lstStyle/>
          <a:p>
            <a:pPr indent="0" marL="0">
              <a:buNone/>
            </a:pPr>
            <a:r>
              <a:rPr lang="en-US" sz="1500" b="1" dirty="0">
                <a:solidFill>
                  <a:srgbClr val="F2F0EC"/>
                </a:solidFill>
                <a:latin typeface="Yu Gothic" pitchFamily="34" charset="0"/>
                <a:ea typeface="Yu Gothic" pitchFamily="34" charset="-122"/>
                <a:cs typeface="Yu Gothic" pitchFamily="34" charset="-120"/>
              </a:rPr>
              <a:t>中継機 MA-E320 を 1 台お貸しください</a:t>
            </a:r>
            <a:endParaRPr lang="en-US" sz="1500" dirty="0"/>
          </a:p>
        </p:txBody>
      </p:sp>
      <p:sp>
        <p:nvSpPr>
          <p:cNvPr id="7" name="Text 5"/>
          <p:cNvSpPr/>
          <p:nvPr/>
        </p:nvSpPr>
        <p:spPr>
          <a:xfrm>
            <a:off x="1024128" y="2395728"/>
            <a:ext cx="10600639" cy="457200"/>
          </a:xfrm>
          <a:prstGeom prst="rect">
            <a:avLst/>
          </a:prstGeom>
          <a:noFill/>
          <a:ln/>
        </p:spPr>
        <p:txBody>
          <a:bodyPr wrap="square" lIns="0" tIns="0" rIns="0" bIns="0" rtlCol="0" anchor="t"/>
          <a:lstStyle/>
          <a:p>
            <a:pPr indent="0" marL="0">
              <a:lnSpc>
                <a:spcPct val="130000"/>
              </a:lnSpc>
              <a:buNone/>
            </a:pPr>
            <a:r>
              <a:rPr lang="en-US" sz="1200" dirty="0">
                <a:solidFill>
                  <a:srgbClr val="B9B0A0"/>
                </a:solidFill>
                <a:latin typeface="Yu Gothic" pitchFamily="34" charset="0"/>
                <a:ea typeface="Yu Gothic" pitchFamily="34" charset="-122"/>
                <a:cs typeface="Yu Gothic" pitchFamily="34" charset="-120"/>
              </a:rPr>
              <a:t>当社ソフトの動作を確認いたします。SD カードからの起動のため、本体は改変しません。</a:t>
            </a:r>
            <a:endParaRPr lang="en-US" sz="1200" dirty="0"/>
          </a:p>
        </p:txBody>
      </p:sp>
      <p:sp>
        <p:nvSpPr>
          <p:cNvPr id="8" name="Shape 6"/>
          <p:cNvSpPr/>
          <p:nvPr/>
        </p:nvSpPr>
        <p:spPr>
          <a:xfrm>
            <a:off x="566928" y="3108960"/>
            <a:ext cx="310896" cy="310896"/>
          </a:xfrm>
          <a:prstGeom prst="roundRect">
            <a:avLst>
              <a:gd name="adj" fmla="val 14706"/>
            </a:avLst>
          </a:prstGeom>
          <a:solidFill>
            <a:srgbClr val="6A90C8"/>
          </a:solidFill>
          <a:ln w="12700">
            <a:solidFill>
              <a:srgbClr val="6A90C8"/>
            </a:solidFill>
            <a:prstDash val="solid"/>
          </a:ln>
        </p:spPr>
      </p:sp>
      <p:sp>
        <p:nvSpPr>
          <p:cNvPr id="9" name="Text 7"/>
          <p:cNvSpPr/>
          <p:nvPr/>
        </p:nvSpPr>
        <p:spPr>
          <a:xfrm>
            <a:off x="566928" y="3108960"/>
            <a:ext cx="310896" cy="310896"/>
          </a:xfrm>
          <a:prstGeom prst="rect">
            <a:avLst/>
          </a:prstGeom>
          <a:noFill/>
          <a:ln/>
        </p:spPr>
        <p:txBody>
          <a:bodyPr wrap="square" lIns="0" tIns="0" rIns="0" bIns="0" rtlCol="0" anchor="ctr"/>
          <a:lstStyle/>
          <a:p>
            <a:pPr algn="ctr" indent="0" marL="0">
              <a:buNone/>
            </a:pPr>
            <a:r>
              <a:rPr lang="en-US" sz="1300" b="1" dirty="0">
                <a:solidFill>
                  <a:srgbClr val="0F0F10"/>
                </a:solidFill>
                <a:latin typeface="Yu Gothic" pitchFamily="34" charset="0"/>
                <a:ea typeface="Yu Gothic" pitchFamily="34" charset="-122"/>
                <a:cs typeface="Yu Gothic" pitchFamily="34" charset="-120"/>
              </a:rPr>
              <a:t>2</a:t>
            </a:r>
            <a:endParaRPr lang="en-US" sz="1300" dirty="0"/>
          </a:p>
        </p:txBody>
      </p:sp>
      <p:sp>
        <p:nvSpPr>
          <p:cNvPr id="10" name="Text 8"/>
          <p:cNvSpPr/>
          <p:nvPr/>
        </p:nvSpPr>
        <p:spPr>
          <a:xfrm>
            <a:off x="1024128" y="3090672"/>
            <a:ext cx="10600639" cy="292608"/>
          </a:xfrm>
          <a:prstGeom prst="rect">
            <a:avLst/>
          </a:prstGeom>
          <a:noFill/>
          <a:ln/>
        </p:spPr>
        <p:txBody>
          <a:bodyPr wrap="square" lIns="0" tIns="0" rIns="0" bIns="0" rtlCol="0" anchor="t"/>
          <a:lstStyle/>
          <a:p>
            <a:pPr indent="0" marL="0">
              <a:buNone/>
            </a:pPr>
            <a:r>
              <a:rPr lang="en-US" sz="1500" b="1" dirty="0">
                <a:solidFill>
                  <a:srgbClr val="F2F0EC"/>
                </a:solidFill>
                <a:latin typeface="Yu Gothic" pitchFamily="34" charset="0"/>
                <a:ea typeface="Yu Gothic" pitchFamily="34" charset="-122"/>
                <a:cs typeface="Yu Gothic" pitchFamily="34" charset="-120"/>
              </a:rPr>
              <a:t>技術検証にご協力いただける店舗を 1 店舗ご指定ください</a:t>
            </a:r>
            <a:endParaRPr lang="en-US" sz="1500" dirty="0"/>
          </a:p>
        </p:txBody>
      </p:sp>
      <p:sp>
        <p:nvSpPr>
          <p:cNvPr id="11" name="Text 9"/>
          <p:cNvSpPr/>
          <p:nvPr/>
        </p:nvSpPr>
        <p:spPr>
          <a:xfrm>
            <a:off x="1024128" y="3401568"/>
            <a:ext cx="10600639" cy="457200"/>
          </a:xfrm>
          <a:prstGeom prst="rect">
            <a:avLst/>
          </a:prstGeom>
          <a:noFill/>
          <a:ln/>
        </p:spPr>
        <p:txBody>
          <a:bodyPr wrap="square" lIns="0" tIns="0" rIns="0" bIns="0" rtlCol="0" anchor="t"/>
          <a:lstStyle/>
          <a:p>
            <a:pPr indent="0" marL="0">
              <a:lnSpc>
                <a:spcPct val="130000"/>
              </a:lnSpc>
              <a:buNone/>
            </a:pPr>
            <a:r>
              <a:rPr lang="en-US" sz="1200" dirty="0">
                <a:solidFill>
                  <a:srgbClr val="B9B0A0"/>
                </a:solidFill>
                <a:latin typeface="Yu Gothic" pitchFamily="34" charset="0"/>
                <a:ea typeface="Yu Gothic" pitchFamily="34" charset="-122"/>
                <a:cs typeface="Yu Gothic" pitchFamily="34" charset="-120"/>
              </a:rPr>
              <a:t>ネットワークの疎通確認のため、1 回の訪問をお願いいたします。</a:t>
            </a:r>
            <a:endParaRPr lang="en-US" sz="1200" dirty="0"/>
          </a:p>
        </p:txBody>
      </p:sp>
      <p:sp>
        <p:nvSpPr>
          <p:cNvPr id="12" name="Shape 10"/>
          <p:cNvSpPr/>
          <p:nvPr/>
        </p:nvSpPr>
        <p:spPr>
          <a:xfrm>
            <a:off x="566928" y="4114800"/>
            <a:ext cx="310896" cy="310896"/>
          </a:xfrm>
          <a:prstGeom prst="roundRect">
            <a:avLst>
              <a:gd name="adj" fmla="val 14706"/>
            </a:avLst>
          </a:prstGeom>
          <a:solidFill>
            <a:srgbClr val="6A90C8"/>
          </a:solidFill>
          <a:ln w="12700">
            <a:solidFill>
              <a:srgbClr val="6A90C8"/>
            </a:solidFill>
            <a:prstDash val="solid"/>
          </a:ln>
        </p:spPr>
      </p:sp>
      <p:sp>
        <p:nvSpPr>
          <p:cNvPr id="13" name="Text 11"/>
          <p:cNvSpPr/>
          <p:nvPr/>
        </p:nvSpPr>
        <p:spPr>
          <a:xfrm>
            <a:off x="566928" y="4114800"/>
            <a:ext cx="310896" cy="310896"/>
          </a:xfrm>
          <a:prstGeom prst="rect">
            <a:avLst/>
          </a:prstGeom>
          <a:noFill/>
          <a:ln/>
        </p:spPr>
        <p:txBody>
          <a:bodyPr wrap="square" lIns="0" tIns="0" rIns="0" bIns="0" rtlCol="0" anchor="ctr"/>
          <a:lstStyle/>
          <a:p>
            <a:pPr algn="ctr" indent="0" marL="0">
              <a:buNone/>
            </a:pPr>
            <a:r>
              <a:rPr lang="en-US" sz="1300" b="1" dirty="0">
                <a:solidFill>
                  <a:srgbClr val="0F0F10"/>
                </a:solidFill>
                <a:latin typeface="Yu Gothic" pitchFamily="34" charset="0"/>
                <a:ea typeface="Yu Gothic" pitchFamily="34" charset="-122"/>
                <a:cs typeface="Yu Gothic" pitchFamily="34" charset="-120"/>
              </a:rPr>
              <a:t>3</a:t>
            </a:r>
            <a:endParaRPr lang="en-US" sz="1300" dirty="0"/>
          </a:p>
        </p:txBody>
      </p:sp>
      <p:sp>
        <p:nvSpPr>
          <p:cNvPr id="14" name="Text 12"/>
          <p:cNvSpPr/>
          <p:nvPr/>
        </p:nvSpPr>
        <p:spPr>
          <a:xfrm>
            <a:off x="1024128" y="4096512"/>
            <a:ext cx="10600639" cy="292608"/>
          </a:xfrm>
          <a:prstGeom prst="rect">
            <a:avLst/>
          </a:prstGeom>
          <a:noFill/>
          <a:ln/>
        </p:spPr>
        <p:txBody>
          <a:bodyPr wrap="square" lIns="0" tIns="0" rIns="0" bIns="0" rtlCol="0" anchor="t"/>
          <a:lstStyle/>
          <a:p>
            <a:pPr indent="0" marL="0">
              <a:buNone/>
            </a:pPr>
            <a:r>
              <a:rPr lang="en-US" sz="1500" b="1" dirty="0">
                <a:solidFill>
                  <a:srgbClr val="F2F0EC"/>
                </a:solidFill>
                <a:latin typeface="Yu Gothic" pitchFamily="34" charset="0"/>
                <a:ea typeface="Yu Gothic" pitchFamily="34" charset="-122"/>
                <a:cs typeface="Yu Gothic" pitchFamily="34" charset="-120"/>
              </a:rPr>
              <a:t>プロキシの設定情報をご開示ください</a:t>
            </a:r>
            <a:endParaRPr lang="en-US" sz="1500" dirty="0"/>
          </a:p>
        </p:txBody>
      </p:sp>
      <p:sp>
        <p:nvSpPr>
          <p:cNvPr id="15" name="Text 13"/>
          <p:cNvSpPr/>
          <p:nvPr/>
        </p:nvSpPr>
        <p:spPr>
          <a:xfrm>
            <a:off x="1024128" y="4407408"/>
            <a:ext cx="10600639" cy="457200"/>
          </a:xfrm>
          <a:prstGeom prst="rect">
            <a:avLst/>
          </a:prstGeom>
          <a:noFill/>
          <a:ln/>
        </p:spPr>
        <p:txBody>
          <a:bodyPr wrap="square" lIns="0" tIns="0" rIns="0" bIns="0" rtlCol="0" anchor="t"/>
          <a:lstStyle/>
          <a:p>
            <a:pPr indent="0" marL="0">
              <a:lnSpc>
                <a:spcPct val="130000"/>
              </a:lnSpc>
              <a:buNone/>
            </a:pPr>
            <a:r>
              <a:rPr lang="en-US" sz="1200" dirty="0">
                <a:solidFill>
                  <a:srgbClr val="B9B0A0"/>
                </a:solidFill>
                <a:latin typeface="Yu Gothic" pitchFamily="34" charset="0"/>
                <a:ea typeface="Yu Gothic" pitchFamily="34" charset="-122"/>
                <a:cs typeface="Yu Gothic" pitchFamily="34" charset="-120"/>
              </a:rPr>
              <a:t>ホスト・ポート・認証方式・通信制限について、情報システムご担当者様へお取次ぎください。</a:t>
            </a:r>
            <a:endParaRPr lang="en-US" sz="1200" dirty="0"/>
          </a:p>
        </p:txBody>
      </p:sp>
      <p:sp>
        <p:nvSpPr>
          <p:cNvPr id="16" name="Text 14"/>
          <p:cNvSpPr/>
          <p:nvPr/>
        </p:nvSpPr>
        <p:spPr>
          <a:xfrm>
            <a:off x="566928" y="5687568"/>
            <a:ext cx="11057839" cy="292608"/>
          </a:xfrm>
          <a:prstGeom prst="rect">
            <a:avLst/>
          </a:prstGeom>
          <a:noFill/>
          <a:ln/>
        </p:spPr>
        <p:txBody>
          <a:bodyPr wrap="square" lIns="0" tIns="0" rIns="0" bIns="0" rtlCol="0" anchor="ctr"/>
          <a:lstStyle/>
          <a:p>
            <a:pPr indent="0" marL="0">
              <a:buNone/>
            </a:pPr>
            <a:r>
              <a:rPr lang="en-US" sz="1250" b="1" dirty="0">
                <a:solidFill>
                  <a:srgbClr val="6A90C8"/>
                </a:solidFill>
                <a:latin typeface="Yu Gothic" pitchFamily="34" charset="0"/>
                <a:ea typeface="Yu Gothic" pitchFamily="34" charset="-122"/>
                <a:cs typeface="Yu Gothic" pitchFamily="34" charset="-120"/>
              </a:rPr>
              <a:t>3 は書面のやり取りのみで完了いたします。1 と 2 は技術検証の開始に必要です。</a:t>
            </a:r>
            <a:endParaRPr lang="en-US" sz="1250" dirty="0"/>
          </a:p>
        </p:txBody>
      </p:sp>
      <p:sp>
        <p:nvSpPr>
          <p:cNvPr id="17" name="Text 15"/>
          <p:cNvSpPr/>
          <p:nvPr/>
        </p:nvSpPr>
        <p:spPr>
          <a:xfrm>
            <a:off x="566928" y="6071616"/>
            <a:ext cx="11057839" cy="457200"/>
          </a:xfrm>
          <a:prstGeom prst="rect">
            <a:avLst/>
          </a:prstGeom>
          <a:noFill/>
          <a:ln/>
        </p:spPr>
        <p:txBody>
          <a:bodyPr wrap="square" lIns="0" tIns="0" rIns="0" bIns="0" rtlCol="0" anchor="ctr"/>
          <a:lstStyle/>
          <a:p>
            <a:pPr indent="0" marL="0">
              <a:lnSpc>
                <a:spcPct val="130000"/>
              </a:lnSpc>
              <a:buNone/>
            </a:pPr>
            <a:r>
              <a:rPr lang="en-US" sz="1000" dirty="0">
                <a:solidFill>
                  <a:srgbClr val="8B8B90"/>
                </a:solidFill>
                <a:latin typeface="Yu Gothic" pitchFamily="34" charset="0"/>
                <a:ea typeface="Yu Gothic" pitchFamily="34" charset="-122"/>
                <a:cs typeface="Yu Gothic" pitchFamily="34" charset="-120"/>
              </a:rPr>
              <a:t>Recorder Monitor ／ 株式会社ジェネシス・エッジ ／ 2026-07-30</a:t>
            </a:r>
            <a:endParaRPr lang="en-US" sz="1000" dirty="0"/>
          </a:p>
          <a:p>
            <a:pPr indent="0" marL="0">
              <a:lnSpc>
                <a:spcPct val="130000"/>
              </a:lnSpc>
              <a:buNone/>
            </a:pPr>
            <a:r>
              <a:rPr lang="en-US" sz="1000" dirty="0">
                <a:solidFill>
                  <a:srgbClr val="8B8B90"/>
                </a:solidFill>
                <a:latin typeface="Yu Gothic" pitchFamily="34" charset="0"/>
                <a:ea typeface="Yu Gothic" pitchFamily="34" charset="-122"/>
                <a:cs typeface="Yu Gothic" pitchFamily="34" charset="-120"/>
              </a:rPr>
              <a:t>本提案書は 2026-07-30 時点の情報に基づく暫定版です。</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株式会社ジェネシス・エッジ</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手荷物検査システム リプレイスのご提案</dc:title>
  <dc:subject>PptxGenJS Presentation</dc:subject>
  <dc:creator>Genesis Edge</dc:creator>
  <cp:lastModifiedBy>Genesis Edge</cp:lastModifiedBy>
  <cp:revision>1</cp:revision>
  <dcterms:created xsi:type="dcterms:W3CDTF">2026-07-30T17:48:11Z</dcterms:created>
  <dcterms:modified xsi:type="dcterms:W3CDTF">2026-07-30T17:48:11Z</dcterms:modified>
</cp:coreProperties>
</file>